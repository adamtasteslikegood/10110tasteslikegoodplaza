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2.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6B7A7F"/>
                </a:solidFill>
                <a:latin typeface="Courier New"/>
              </a:defRPr>
            </a:pPr>
            <a:r>
              <a:rPr sz="1300" b="0" i="0" u="none" strike="noStrike">
                <a:solidFill>
                  <a:srgbClr val="6B7A7F"/>
                </a:solidFill>
                <a:latin typeface="Courier New"/>
              </a:rPr>
              <a:t>Points completed per sprint</a:t>
            </a:r>
          </a:p>
        </c:rich>
      </c:tx>
      <c:layout/>
      <c:overlay val="0"/>
    </c:title>
    <c:autoTitleDeleted val="0"/>
    <c:plotArea>
      <c:layout/>
      <c:barChart>
        <c:barDir val="col"/>
        <c:grouping val="clustered"/>
        <c:varyColors val="0"/>
        <c:ser>
          <c:idx val="0"/>
          <c:order val="0"/>
          <c:tx>
            <c:strRef>
              <c:f>Sheet1!$B$1</c:f>
              <c:strCache>
                <c:ptCount val="1"/>
                <c:pt idx="0">
                  <c:v>Points completed</c:v>
                </c:pt>
              </c:strCache>
            </c:strRef>
          </c:tx>
          <c:spPr>
            <a:solidFill>
              <a:srgbClr val="0F4C42"/>
            </a:solidFill>
            <a:effectLst/>
          </c:spPr>
          <c:invertIfNegative val="0"/>
          <c:dLbls>
            <c:numFmt formatCode="#,##0" sourceLinked="0"/>
            <c:txPr>
              <a:bodyPr/>
              <a:lstStyle/>
              <a:p>
                <a:pPr>
                  <a:defRPr b="0" i="0" strike="noStrike" sz="1000" u="none">
                    <a:solidFill>
                      <a:srgbClr val="6B7A7F"/>
                    </a:solidFill>
                    <a:latin typeface="Courier New"/>
                  </a:defRPr>
                </a:pPr>
              </a:p>
            </c:txPr>
            <c:showLegendKey val="0"/>
            <c:showVal val="1"/>
            <c:showCatName val="0"/>
            <c:showSerName val="0"/>
            <c:showPercent val="0"/>
            <c:showBubbleSize val="0"/>
            <c:showLeaderLines val="0"/>
          </c:dLbls>
          <c:cat>
            <c:multiLvlStrRef>
              <c:f>Sheet1!$A$2:$A$9</c:f>
              <c:multiLvlStrCache>
                <c:ptCount val="8"/>
                <c:lvl>
                  <c:pt idx="0">
                    <c:v>S1</c:v>
                  </c:pt>
                  <c:pt idx="1">
                    <c:v>S2</c:v>
                  </c:pt>
                  <c:pt idx="2">
                    <c:v>S3</c:v>
                  </c:pt>
                  <c:pt idx="3">
                    <c:v>S4</c:v>
                  </c:pt>
                  <c:pt idx="4">
                    <c:v>S5</c:v>
                  </c:pt>
                  <c:pt idx="5">
                    <c:v>S6</c:v>
                  </c:pt>
                  <c:pt idx="6">
                    <c:v>S7</c:v>
                  </c:pt>
                  <c:pt idx="7">
                    <c:v>S8</c:v>
                  </c:pt>
                </c:lvl>
              </c:multiLvlStrCache>
            </c:multiLvlStrRef>
          </c:cat>
          <c:val>
            <c:numRef>
              <c:f>Sheet1!$B$2:$B$9</c:f>
              <c:numCache>
                <c:formatCode>General</c:formatCode>
                <c:ptCount val="8"/>
                <c:pt idx="0">
                  <c:v>22</c:v>
                </c:pt>
                <c:pt idx="1">
                  <c:v>31</c:v>
                </c:pt>
                <c:pt idx="2">
                  <c:v>27</c:v>
                </c:pt>
                <c:pt idx="3">
                  <c:v>35</c:v>
                </c:pt>
                <c:pt idx="4">
                  <c:v>33</c:v>
                </c:pt>
                <c:pt idx="5">
                  <c:v>38</c:v>
                </c:pt>
                <c:pt idx="6">
                  <c:v>36</c:v>
                </c:pt>
                <c:pt idx="7">
                  <c:v>37</c:v>
                </c:pt>
              </c:numCache>
            </c:numRef>
          </c:val>
        </c:ser>
        <c:dLbls>
          <c:numFmt formatCode="#,##0" sourceLinked="0"/>
          <c:txPr>
            <a:bodyPr/>
            <a:lstStyle/>
            <a:p>
              <a:pPr>
                <a:defRPr b="0" i="0" strike="noStrike" sz="1000" u="none">
                  <a:solidFill>
                    <a:srgbClr val="6B7A7F"/>
                  </a:solidFill>
                  <a:latin typeface="Courier New"/>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A7F"/>
                </a:solidFill>
                <a:latin typeface="Courier New"/>
              </a:defRPr>
            </a:pPr>
            <a:endParaRPr lang="en-US"/>
          </a:p>
        </c:txPr>
        <c:crossAx val="2094734552"/>
        <c:crosses val="autoZero"/>
        <c:auto val="1"/>
        <c:lblAlgn val="ctr"/>
        <c:noMultiLvlLbl val="1"/>
      </c:catAx>
      <c:valAx>
        <c:axId val="2094734552"/>
        <c:scaling>
          <c:orientation val="minMax"/>
          <c:max val="45"/>
        </c:scaling>
        <c:delete val="0"/>
        <c:axPos val="l"/>
        <c:majorGridlines>
          <c:spPr>
            <a:ln w="12700" cap="flat">
              <a:solidFill>
                <a:srgbClr val="E4EA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A7F"/>
                </a:solidFill>
                <a:latin typeface="Courier New"/>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6B7A7F"/>
                </a:solidFill>
                <a:latin typeface="Courier New"/>
              </a:defRPr>
            </a:pPr>
            <a:r>
              <a:rPr sz="1300" b="0" i="0" u="none" strike="noStrike">
                <a:solidFill>
                  <a:srgbClr val="6B7A7F"/>
                </a:solidFill>
                <a:latin typeface="Courier New"/>
              </a:rPr>
              <a:t>Points remaining across a 10-day sprint</a:t>
            </a:r>
          </a:p>
        </c:rich>
      </c:tx>
      <c:layout/>
      <c:overlay val="0"/>
    </c:title>
    <c:autoTitleDeleted val="0"/>
    <c:plotArea>
      <c:layout/>
      <c:lineChart>
        <c:varyColors val="0"/>
        <c:ser>
          <c:idx val="0"/>
          <c:order val="0"/>
          <c:tx>
            <c:strRef>
              <c:f>Sheet1!$B$1</c:f>
              <c:strCache>
                <c:ptCount val="1"/>
                <c:pt idx="0">
                  <c:v>Ideal</c:v>
                </c:pt>
              </c:strCache>
            </c:strRef>
          </c:tx>
          <c:spPr>
            <a:solidFill>
              <a:srgbClr val="C8D4D1"/>
            </a:solidFill>
            <a:ln w="38100" cap="flat">
              <a:solidFill>
                <a:srgbClr val="C8D4D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8D4D1"/>
              </a:solidFill>
              <a:ln w="9525" cap="flat">
                <a:solidFill>
                  <a:srgbClr val="C8D4D1"/>
                </a:solidFill>
                <a:prstDash val="solid"/>
                <a:round/>
              </a:ln>
              <a:effectLst/>
            </c:spPr>
          </c:marker>
          <c:cat>
            <c:multiLvlStrRef>
              <c:f>Sheet1!$A$2:$A$11</c:f>
              <c:multiLvlStrCache>
                <c:ptCount val="10"/>
                <c:lvl>
                  <c:pt idx="0">
                    <c:v>D1</c:v>
                  </c:pt>
                  <c:pt idx="1">
                    <c:v>D2</c:v>
                  </c:pt>
                  <c:pt idx="2">
                    <c:v>D3</c:v>
                  </c:pt>
                  <c:pt idx="3">
                    <c:v>D4</c:v>
                  </c:pt>
                  <c:pt idx="4">
                    <c:v>D5</c:v>
                  </c:pt>
                  <c:pt idx="5">
                    <c:v>D6</c:v>
                  </c:pt>
                  <c:pt idx="6">
                    <c:v>D7</c:v>
                  </c:pt>
                  <c:pt idx="7">
                    <c:v>D8</c:v>
                  </c:pt>
                  <c:pt idx="8">
                    <c:v>D9</c:v>
                  </c:pt>
                  <c:pt idx="9">
                    <c:v>D10</c:v>
                  </c:pt>
                </c:lvl>
              </c:multiLvlStrCache>
            </c:multiLvlStrRef>
          </c:cat>
          <c:val>
            <c:numRef>
              <c:f>Sheet1!$B$2:$B$11</c:f>
              <c:numCache>
                <c:formatCode>General</c:formatCode>
                <c:ptCount val="10"/>
                <c:pt idx="0">
                  <c:v>36</c:v>
                </c:pt>
                <c:pt idx="1">
                  <c:v>32</c:v>
                </c:pt>
                <c:pt idx="2">
                  <c:v>28</c:v>
                </c:pt>
                <c:pt idx="3">
                  <c:v>25</c:v>
                </c:pt>
                <c:pt idx="4">
                  <c:v>21</c:v>
                </c:pt>
                <c:pt idx="5">
                  <c:v>18</c:v>
                </c:pt>
                <c:pt idx="6">
                  <c:v>14</c:v>
                </c:pt>
                <c:pt idx="7">
                  <c:v>10</c:v>
                </c:pt>
                <c:pt idx="8">
                  <c:v>5</c:v>
                </c:pt>
                <c:pt idx="9">
                  <c:v>0</c:v>
                </c:pt>
              </c:numCache>
            </c:numRef>
          </c:val>
          <c:smooth val="0"/>
        </c:ser>
        <c:ser>
          <c:idx val="1"/>
          <c:order val="1"/>
          <c:tx>
            <c:strRef>
              <c:f>Sheet1!$C$1</c:f>
              <c:strCache>
                <c:ptCount val="1"/>
                <c:pt idx="0">
                  <c:v>Healthy actual</c:v>
                </c:pt>
              </c:strCache>
            </c:strRef>
          </c:tx>
          <c:spPr>
            <a:solidFill>
              <a:srgbClr val="0F4C42"/>
            </a:solidFill>
            <a:ln w="38100" cap="flat">
              <a:solidFill>
                <a:srgbClr val="0F4C4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F4C42"/>
              </a:solidFill>
              <a:ln w="9525" cap="flat">
                <a:solidFill>
                  <a:srgbClr val="0F4C42"/>
                </a:solidFill>
                <a:prstDash val="solid"/>
                <a:round/>
              </a:ln>
              <a:effectLst/>
            </c:spPr>
          </c:marker>
          <c:cat>
            <c:multiLvlStrRef>
              <c:f>Sheet1!$A$2:$A$11</c:f>
              <c:multiLvlStrCache>
                <c:ptCount val="10"/>
                <c:lvl>
                  <c:pt idx="0">
                    <c:v>D1</c:v>
                  </c:pt>
                  <c:pt idx="1">
                    <c:v>D2</c:v>
                  </c:pt>
                  <c:pt idx="2">
                    <c:v>D3</c:v>
                  </c:pt>
                  <c:pt idx="3">
                    <c:v>D4</c:v>
                  </c:pt>
                  <c:pt idx="4">
                    <c:v>D5</c:v>
                  </c:pt>
                  <c:pt idx="5">
                    <c:v>D6</c:v>
                  </c:pt>
                  <c:pt idx="6">
                    <c:v>D7</c:v>
                  </c:pt>
                  <c:pt idx="7">
                    <c:v>D8</c:v>
                  </c:pt>
                  <c:pt idx="8">
                    <c:v>D9</c:v>
                  </c:pt>
                  <c:pt idx="9">
                    <c:v>D10</c:v>
                  </c:pt>
                </c:lvl>
              </c:multiLvlStrCache>
            </c:multiLvlStrRef>
          </c:cat>
          <c:val>
            <c:numRef>
              <c:f>Sheet1!$C$2:$C$11</c:f>
              <c:numCache>
                <c:formatCode>General</c:formatCode>
                <c:ptCount val="10"/>
                <c:pt idx="0">
                  <c:v>36</c:v>
                </c:pt>
                <c:pt idx="1">
                  <c:v>34</c:v>
                </c:pt>
                <c:pt idx="2">
                  <c:v>30</c:v>
                </c:pt>
                <c:pt idx="3">
                  <c:v>29</c:v>
                </c:pt>
                <c:pt idx="4">
                  <c:v>24</c:v>
                </c:pt>
                <c:pt idx="5">
                  <c:v>22</c:v>
                </c:pt>
                <c:pt idx="6">
                  <c:v>16</c:v>
                </c:pt>
                <c:pt idx="7">
                  <c:v>11</c:v>
                </c:pt>
                <c:pt idx="8">
                  <c:v>5</c:v>
                </c:pt>
                <c:pt idx="9">
                  <c:v>0</c:v>
                </c:pt>
              </c:numCache>
            </c:numRef>
          </c:val>
          <c:smooth val="0"/>
        </c:ser>
        <c:ser>
          <c:idx val="2"/>
          <c:order val="2"/>
          <c:tx>
            <c:strRef>
              <c:f>Sheet1!$D$1</c:f>
              <c:strCache>
                <c:ptCount val="1"/>
                <c:pt idx="0">
                  <c:v>Late-integration</c:v>
                </c:pt>
              </c:strCache>
            </c:strRef>
          </c:tx>
          <c:spPr>
            <a:solidFill>
              <a:srgbClr val="E0512B"/>
            </a:solidFill>
            <a:ln w="38100" cap="flat">
              <a:solidFill>
                <a:srgbClr val="E051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0512B"/>
              </a:solidFill>
              <a:ln w="9525" cap="flat">
                <a:solidFill>
                  <a:srgbClr val="E0512B"/>
                </a:solidFill>
                <a:prstDash val="solid"/>
                <a:round/>
              </a:ln>
              <a:effectLst/>
            </c:spPr>
          </c:marker>
          <c:cat>
            <c:multiLvlStrRef>
              <c:f>Sheet1!$A$2:$A$11</c:f>
              <c:multiLvlStrCache>
                <c:ptCount val="10"/>
                <c:lvl>
                  <c:pt idx="0">
                    <c:v>D1</c:v>
                  </c:pt>
                  <c:pt idx="1">
                    <c:v>D2</c:v>
                  </c:pt>
                  <c:pt idx="2">
                    <c:v>D3</c:v>
                  </c:pt>
                  <c:pt idx="3">
                    <c:v>D4</c:v>
                  </c:pt>
                  <c:pt idx="4">
                    <c:v>D5</c:v>
                  </c:pt>
                  <c:pt idx="5">
                    <c:v>D6</c:v>
                  </c:pt>
                  <c:pt idx="6">
                    <c:v>D7</c:v>
                  </c:pt>
                  <c:pt idx="7">
                    <c:v>D8</c:v>
                  </c:pt>
                  <c:pt idx="8">
                    <c:v>D9</c:v>
                  </c:pt>
                  <c:pt idx="9">
                    <c:v>D10</c:v>
                  </c:pt>
                </c:lvl>
              </c:multiLvlStrCache>
            </c:multiLvlStrRef>
          </c:cat>
          <c:val>
            <c:numRef>
              <c:f>Sheet1!$D$2:$D$11</c:f>
              <c:numCache>
                <c:formatCode>General</c:formatCode>
                <c:ptCount val="10"/>
                <c:pt idx="0">
                  <c:v>36</c:v>
                </c:pt>
                <c:pt idx="1">
                  <c:v>36</c:v>
                </c:pt>
                <c:pt idx="2">
                  <c:v>35</c:v>
                </c:pt>
                <c:pt idx="3">
                  <c:v>35</c:v>
                </c:pt>
                <c:pt idx="4">
                  <c:v>34</c:v>
                </c:pt>
                <c:pt idx="5">
                  <c:v>33</c:v>
                </c:pt>
                <c:pt idx="6">
                  <c:v>31</c:v>
                </c:pt>
                <c:pt idx="7">
                  <c:v>26</c:v>
                </c:pt>
                <c:pt idx="8">
                  <c:v>14</c:v>
                </c:pt>
                <c:pt idx="9">
                  <c:v>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A7F"/>
                </a:solidFill>
                <a:latin typeface="Courier New"/>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A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A7F"/>
                </a:solidFill>
                <a:latin typeface="Courier New"/>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6B7A7F"/>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Agile is a set of values about decision-making under uncertainty, not a process. The frameworks are implementations of those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1.png"/><Relationship Id="rId3" Type="http://schemas.openxmlformats.org/officeDocument/2006/relationships/image" Target="../media/image-20-1.png"/><Relationship Id="rId4" Type="http://schemas.openxmlformats.org/officeDocument/2006/relationships/image" Target="../media/image-20-1.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D24"/>
        </a:solidFill>
      </p:bgPr>
    </p:bg>
    <p:spTree>
      <p:nvGrpSpPr>
        <p:cNvPr id="1" name=""/>
        <p:cNvGrpSpPr/>
        <p:nvPr/>
      </p:nvGrpSpPr>
      <p:grpSpPr>
        <a:xfrm>
          <a:off x="0" y="0"/>
          <a:ext cx="0" cy="0"/>
          <a:chOff x="0" y="0"/>
          <a:chExt cx="0" cy="0"/>
        </a:xfrm>
      </p:grpSpPr>
      <p:sp>
        <p:nvSpPr>
          <p:cNvPr id="2" name="Shape 0"/>
          <p:cNvSpPr/>
          <p:nvPr/>
        </p:nvSpPr>
        <p:spPr>
          <a:xfrm>
            <a:off x="8686800" y="-1737360"/>
            <a:ext cx="6035040" cy="6035040"/>
          </a:xfrm>
          <a:prstGeom prst="ellipse">
            <a:avLst/>
          </a:prstGeom>
          <a:solidFill>
            <a:srgbClr val="1C2E38"/>
          </a:solidFill>
          <a:ln/>
        </p:spPr>
      </p:sp>
      <p:sp>
        <p:nvSpPr>
          <p:cNvPr id="3" name="Text 1"/>
          <p:cNvSpPr/>
          <p:nvPr/>
        </p:nvSpPr>
        <p:spPr>
          <a:xfrm>
            <a:off x="566928" y="1170432"/>
            <a:ext cx="8229600" cy="274320"/>
          </a:xfrm>
          <a:prstGeom prst="rect">
            <a:avLst/>
          </a:prstGeom>
          <a:noFill/>
          <a:ln/>
        </p:spPr>
        <p:txBody>
          <a:bodyPr wrap="square" lIns="0" tIns="0" rIns="0" bIns="0" rtlCol="0" anchor="ctr"/>
          <a:lstStyle/>
          <a:p>
            <a:pPr indent="0" marL="0">
              <a:buNone/>
            </a:pPr>
            <a:r>
              <a:rPr lang="en-US" sz="1200" b="1" spc="240" kern="0" dirty="0">
                <a:solidFill>
                  <a:srgbClr val="F0B429"/>
                </a:solidFill>
                <a:latin typeface="Courier New" pitchFamily="34" charset="0"/>
                <a:ea typeface="Courier New" pitchFamily="34" charset="-122"/>
                <a:cs typeface="Courier New" pitchFamily="34" charset="-120"/>
              </a:rPr>
              <a:t>PROJECT MANAGEMENT FOR SOFTWARE DEVELOPMENT</a:t>
            </a:r>
            <a:endParaRPr lang="en-US" sz="1200" dirty="0"/>
          </a:p>
        </p:txBody>
      </p:sp>
      <p:sp>
        <p:nvSpPr>
          <p:cNvPr id="4" name="Text 2"/>
          <p:cNvSpPr/>
          <p:nvPr/>
        </p:nvSpPr>
        <p:spPr>
          <a:xfrm>
            <a:off x="512064" y="1481328"/>
            <a:ext cx="7315200" cy="1737360"/>
          </a:xfrm>
          <a:prstGeom prst="rect">
            <a:avLst/>
          </a:prstGeom>
          <a:noFill/>
          <a:ln/>
        </p:spPr>
        <p:txBody>
          <a:bodyPr wrap="square" lIns="0" tIns="0" rIns="0" bIns="0" rtlCol="0" anchor="ctr"/>
          <a:lstStyle/>
          <a:p>
            <a:pPr indent="0" marL="0">
              <a:buNone/>
            </a:pPr>
            <a:r>
              <a:rPr lang="en-US" sz="12800" b="1" dirty="0">
                <a:solidFill>
                  <a:srgbClr val="FFFFFF"/>
                </a:solidFill>
                <a:latin typeface="Calibri" pitchFamily="34" charset="0"/>
                <a:ea typeface="Calibri" pitchFamily="34" charset="-122"/>
                <a:cs typeface="Calibri" pitchFamily="34" charset="-120"/>
              </a:rPr>
              <a:t>Agile</a:t>
            </a:r>
            <a:endParaRPr lang="en-US" sz="12800" dirty="0"/>
          </a:p>
        </p:txBody>
      </p:sp>
      <p:sp>
        <p:nvSpPr>
          <p:cNvPr id="5" name="Text 3"/>
          <p:cNvSpPr/>
          <p:nvPr/>
        </p:nvSpPr>
        <p:spPr>
          <a:xfrm>
            <a:off x="566928" y="3310128"/>
            <a:ext cx="6858000" cy="1005840"/>
          </a:xfrm>
          <a:prstGeom prst="rect">
            <a:avLst/>
          </a:prstGeom>
          <a:noFill/>
          <a:ln/>
        </p:spPr>
        <p:txBody>
          <a:bodyPr wrap="square" lIns="0" tIns="0" rIns="0" bIns="0" rtlCol="0" anchor="ctr"/>
          <a:lstStyle/>
          <a:p>
            <a:pPr indent="0" marL="0">
              <a:lnSpc>
                <a:spcPts val="2500"/>
              </a:lnSpc>
              <a:buNone/>
            </a:pPr>
            <a:r>
              <a:rPr lang="en-US" sz="1700" dirty="0">
                <a:solidFill>
                  <a:srgbClr val="B9C7CB"/>
                </a:solidFill>
                <a:latin typeface="Calibri" pitchFamily="34" charset="0"/>
                <a:ea typeface="Calibri" pitchFamily="34" charset="-122"/>
                <a:cs typeface="Calibri" pitchFamily="34" charset="-120"/>
              </a:rPr>
              <a:t>Ship small slices of working software frequently, show them to real users, and let what you learn reorder what you build next.</a:t>
            </a:r>
            <a:endParaRPr lang="en-US" sz="1700" dirty="0"/>
          </a:p>
        </p:txBody>
      </p:sp>
      <p:sp>
        <p:nvSpPr>
          <p:cNvPr id="6" name="Shape 4"/>
          <p:cNvSpPr/>
          <p:nvPr/>
        </p:nvSpPr>
        <p:spPr>
          <a:xfrm>
            <a:off x="566928" y="4864608"/>
            <a:ext cx="1572768" cy="658368"/>
          </a:xfrm>
          <a:prstGeom prst="roundRect">
            <a:avLst>
              <a:gd name="adj" fmla="val 11111"/>
            </a:avLst>
          </a:prstGeom>
          <a:solidFill>
            <a:srgbClr val="0F4C42"/>
          </a:solidFill>
          <a:ln/>
        </p:spPr>
      </p:sp>
      <p:sp>
        <p:nvSpPr>
          <p:cNvPr id="7" name="Text 5"/>
          <p:cNvSpPr/>
          <p:nvPr/>
        </p:nvSpPr>
        <p:spPr>
          <a:xfrm>
            <a:off x="566928" y="4864608"/>
            <a:ext cx="1572768" cy="658368"/>
          </a:xfrm>
          <a:prstGeom prst="rect">
            <a:avLst/>
          </a:prstGeom>
          <a:noFill/>
          <a:ln/>
        </p:spPr>
        <p:txBody>
          <a:bodyPr wrap="square" lIns="0" tIns="0" rIns="0" bIns="0" rtlCol="0" anchor="ctr"/>
          <a:lstStyle/>
          <a:p>
            <a:pPr algn="ctr" indent="0" marL="0">
              <a:buNone/>
            </a:pPr>
            <a:r>
              <a:rPr lang="en-US" sz="1250" b="1" spc="140" kern="0" dirty="0">
                <a:solidFill>
                  <a:srgbClr val="FFFFFF"/>
                </a:solidFill>
                <a:latin typeface="Courier New" pitchFamily="34" charset="0"/>
                <a:ea typeface="Courier New" pitchFamily="34" charset="-122"/>
                <a:cs typeface="Courier New" pitchFamily="34" charset="-120"/>
              </a:rPr>
              <a:t>PLAN</a:t>
            </a:r>
            <a:endParaRPr lang="en-US" sz="1250" dirty="0"/>
          </a:p>
        </p:txBody>
      </p:sp>
      <p:sp>
        <p:nvSpPr>
          <p:cNvPr id="8" name="Shape 6"/>
          <p:cNvSpPr/>
          <p:nvPr/>
        </p:nvSpPr>
        <p:spPr>
          <a:xfrm>
            <a:off x="2258568" y="5084064"/>
            <a:ext cx="329184" cy="219456"/>
          </a:xfrm>
          <a:prstGeom prst="rightArrow">
            <a:avLst/>
          </a:prstGeom>
          <a:solidFill>
            <a:srgbClr val="3E5560"/>
          </a:solidFill>
          <a:ln/>
        </p:spPr>
      </p:sp>
      <p:sp>
        <p:nvSpPr>
          <p:cNvPr id="9" name="Shape 7"/>
          <p:cNvSpPr/>
          <p:nvPr/>
        </p:nvSpPr>
        <p:spPr>
          <a:xfrm>
            <a:off x="2706624" y="4864608"/>
            <a:ext cx="1572768" cy="658368"/>
          </a:xfrm>
          <a:prstGeom prst="roundRect">
            <a:avLst>
              <a:gd name="adj" fmla="val 11111"/>
            </a:avLst>
          </a:prstGeom>
          <a:solidFill>
            <a:srgbClr val="0F4C42"/>
          </a:solidFill>
          <a:ln/>
        </p:spPr>
      </p:sp>
      <p:sp>
        <p:nvSpPr>
          <p:cNvPr id="10" name="Text 8"/>
          <p:cNvSpPr/>
          <p:nvPr/>
        </p:nvSpPr>
        <p:spPr>
          <a:xfrm>
            <a:off x="2706624" y="4864608"/>
            <a:ext cx="1572768" cy="658368"/>
          </a:xfrm>
          <a:prstGeom prst="rect">
            <a:avLst/>
          </a:prstGeom>
          <a:noFill/>
          <a:ln/>
        </p:spPr>
        <p:txBody>
          <a:bodyPr wrap="square" lIns="0" tIns="0" rIns="0" bIns="0" rtlCol="0" anchor="ctr"/>
          <a:lstStyle/>
          <a:p>
            <a:pPr algn="ctr" indent="0" marL="0">
              <a:buNone/>
            </a:pPr>
            <a:r>
              <a:rPr lang="en-US" sz="1250" b="1" spc="140" kern="0" dirty="0">
                <a:solidFill>
                  <a:srgbClr val="FFFFFF"/>
                </a:solidFill>
                <a:latin typeface="Courier New" pitchFamily="34" charset="0"/>
                <a:ea typeface="Courier New" pitchFamily="34" charset="-122"/>
                <a:cs typeface="Courier New" pitchFamily="34" charset="-120"/>
              </a:rPr>
              <a:t>BUILD</a:t>
            </a:r>
            <a:endParaRPr lang="en-US" sz="1250" dirty="0"/>
          </a:p>
        </p:txBody>
      </p:sp>
      <p:sp>
        <p:nvSpPr>
          <p:cNvPr id="11" name="Shape 9"/>
          <p:cNvSpPr/>
          <p:nvPr/>
        </p:nvSpPr>
        <p:spPr>
          <a:xfrm>
            <a:off x="4398264" y="5084064"/>
            <a:ext cx="329184" cy="219456"/>
          </a:xfrm>
          <a:prstGeom prst="rightArrow">
            <a:avLst/>
          </a:prstGeom>
          <a:solidFill>
            <a:srgbClr val="3E5560"/>
          </a:solidFill>
          <a:ln/>
        </p:spPr>
      </p:sp>
      <p:sp>
        <p:nvSpPr>
          <p:cNvPr id="12" name="Shape 10"/>
          <p:cNvSpPr/>
          <p:nvPr/>
        </p:nvSpPr>
        <p:spPr>
          <a:xfrm>
            <a:off x="4846320" y="4864608"/>
            <a:ext cx="1572768" cy="658368"/>
          </a:xfrm>
          <a:prstGeom prst="roundRect">
            <a:avLst>
              <a:gd name="adj" fmla="val 11111"/>
            </a:avLst>
          </a:prstGeom>
          <a:solidFill>
            <a:srgbClr val="0F4C42"/>
          </a:solidFill>
          <a:ln/>
        </p:spPr>
      </p:sp>
      <p:sp>
        <p:nvSpPr>
          <p:cNvPr id="13" name="Text 11"/>
          <p:cNvSpPr/>
          <p:nvPr/>
        </p:nvSpPr>
        <p:spPr>
          <a:xfrm>
            <a:off x="4846320" y="4864608"/>
            <a:ext cx="1572768" cy="658368"/>
          </a:xfrm>
          <a:prstGeom prst="rect">
            <a:avLst/>
          </a:prstGeom>
          <a:noFill/>
          <a:ln/>
        </p:spPr>
        <p:txBody>
          <a:bodyPr wrap="square" lIns="0" tIns="0" rIns="0" bIns="0" rtlCol="0" anchor="ctr"/>
          <a:lstStyle/>
          <a:p>
            <a:pPr algn="ctr" indent="0" marL="0">
              <a:buNone/>
            </a:pPr>
            <a:r>
              <a:rPr lang="en-US" sz="1250" b="1" spc="140" kern="0" dirty="0">
                <a:solidFill>
                  <a:srgbClr val="FFFFFF"/>
                </a:solidFill>
                <a:latin typeface="Courier New" pitchFamily="34" charset="0"/>
                <a:ea typeface="Courier New" pitchFamily="34" charset="-122"/>
                <a:cs typeface="Courier New" pitchFamily="34" charset="-120"/>
              </a:rPr>
              <a:t>SHIP</a:t>
            </a:r>
            <a:endParaRPr lang="en-US" sz="1250" dirty="0"/>
          </a:p>
        </p:txBody>
      </p:sp>
      <p:sp>
        <p:nvSpPr>
          <p:cNvPr id="14" name="Shape 12"/>
          <p:cNvSpPr/>
          <p:nvPr/>
        </p:nvSpPr>
        <p:spPr>
          <a:xfrm>
            <a:off x="6537960" y="5084064"/>
            <a:ext cx="329184" cy="219456"/>
          </a:xfrm>
          <a:prstGeom prst="rightArrow">
            <a:avLst/>
          </a:prstGeom>
          <a:solidFill>
            <a:srgbClr val="3E5560"/>
          </a:solidFill>
          <a:ln/>
        </p:spPr>
      </p:sp>
      <p:sp>
        <p:nvSpPr>
          <p:cNvPr id="15" name="Shape 13"/>
          <p:cNvSpPr/>
          <p:nvPr/>
        </p:nvSpPr>
        <p:spPr>
          <a:xfrm>
            <a:off x="6986016" y="4864608"/>
            <a:ext cx="1572768" cy="658368"/>
          </a:xfrm>
          <a:prstGeom prst="roundRect">
            <a:avLst>
              <a:gd name="adj" fmla="val 11111"/>
            </a:avLst>
          </a:prstGeom>
          <a:solidFill>
            <a:srgbClr val="E0512B"/>
          </a:solidFill>
          <a:ln/>
        </p:spPr>
      </p:sp>
      <p:sp>
        <p:nvSpPr>
          <p:cNvPr id="16" name="Text 14"/>
          <p:cNvSpPr/>
          <p:nvPr/>
        </p:nvSpPr>
        <p:spPr>
          <a:xfrm>
            <a:off x="6986016" y="4864608"/>
            <a:ext cx="1572768" cy="658368"/>
          </a:xfrm>
          <a:prstGeom prst="rect">
            <a:avLst/>
          </a:prstGeom>
          <a:noFill/>
          <a:ln/>
        </p:spPr>
        <p:txBody>
          <a:bodyPr wrap="square" lIns="0" tIns="0" rIns="0" bIns="0" rtlCol="0" anchor="ctr"/>
          <a:lstStyle/>
          <a:p>
            <a:pPr algn="ctr" indent="0" marL="0">
              <a:buNone/>
            </a:pPr>
            <a:r>
              <a:rPr lang="en-US" sz="1250" b="1" spc="140" kern="0" dirty="0">
                <a:solidFill>
                  <a:srgbClr val="FFFFFF"/>
                </a:solidFill>
                <a:latin typeface="Courier New" pitchFamily="34" charset="0"/>
                <a:ea typeface="Courier New" pitchFamily="34" charset="-122"/>
                <a:cs typeface="Courier New" pitchFamily="34" charset="-120"/>
              </a:rPr>
              <a:t>LEARN</a:t>
            </a:r>
            <a:endParaRPr lang="en-US" sz="1250" dirty="0"/>
          </a:p>
        </p:txBody>
      </p:sp>
      <p:sp>
        <p:nvSpPr>
          <p:cNvPr id="17" name="Shape 15"/>
          <p:cNvSpPr/>
          <p:nvPr/>
        </p:nvSpPr>
        <p:spPr>
          <a:xfrm>
            <a:off x="1389888" y="5742432"/>
            <a:ext cx="5120640" cy="182880"/>
          </a:xfrm>
          <a:prstGeom prst="leftArrow">
            <a:avLst/>
          </a:prstGeom>
          <a:solidFill>
            <a:srgbClr val="3E5560"/>
          </a:solidFill>
          <a:ln/>
        </p:spPr>
      </p:sp>
      <p:sp>
        <p:nvSpPr>
          <p:cNvPr id="18" name="Text 16"/>
          <p:cNvSpPr/>
          <p:nvPr/>
        </p:nvSpPr>
        <p:spPr>
          <a:xfrm>
            <a:off x="566928" y="5998464"/>
            <a:ext cx="7315200" cy="274320"/>
          </a:xfrm>
          <a:prstGeom prst="rect">
            <a:avLst/>
          </a:prstGeom>
          <a:noFill/>
          <a:ln/>
        </p:spPr>
        <p:txBody>
          <a:bodyPr wrap="square" lIns="0" tIns="0" rIns="0" bIns="0" rtlCol="0" anchor="ctr"/>
          <a:lstStyle/>
          <a:p>
            <a:pPr indent="0" marL="0">
              <a:buNone/>
            </a:pPr>
            <a:r>
              <a:rPr lang="en-US" sz="1050" dirty="0">
                <a:solidFill>
                  <a:srgbClr val="8FA3A9"/>
                </a:solidFill>
                <a:latin typeface="Courier New" pitchFamily="34" charset="0"/>
                <a:ea typeface="Courier New" pitchFamily="34" charset="-122"/>
                <a:cs typeface="Courier New" pitchFamily="34" charset="-120"/>
              </a:rPr>
              <a:t>every 1–2 weeks, the loop closes and the plan changes</a:t>
            </a:r>
            <a:endParaRPr lang="en-US" sz="1050" dirty="0"/>
          </a:p>
        </p:txBody>
      </p:sp>
      <p:sp>
        <p:nvSpPr>
          <p:cNvPr id="19" name="Text 17"/>
          <p:cNvSpPr/>
          <p:nvPr/>
        </p:nvSpPr>
        <p:spPr>
          <a:xfrm>
            <a:off x="9966960" y="4937760"/>
            <a:ext cx="1737360" cy="1188720"/>
          </a:xfrm>
          <a:prstGeom prst="rect">
            <a:avLst/>
          </a:prstGeom>
          <a:noFill/>
          <a:ln/>
        </p:spPr>
        <p:txBody>
          <a:bodyPr wrap="square" lIns="0" tIns="0" rIns="0" bIns="0" rtlCol="0" anchor="ctr"/>
          <a:lstStyle/>
          <a:p>
            <a:pPr algn="ctr" indent="0" marL="0">
              <a:buNone/>
            </a:pPr>
            <a:r>
              <a:rPr lang="en-US" sz="4600" b="1" dirty="0">
                <a:solidFill>
                  <a:srgbClr val="F0B429"/>
                </a:solidFill>
                <a:latin typeface="Calibri" pitchFamily="34" charset="0"/>
                <a:ea typeface="Calibri" pitchFamily="34" charset="-122"/>
                <a:cs typeface="Calibri" pitchFamily="34" charset="-120"/>
              </a:rPr>
              <a:t>20</a:t>
            </a:r>
            <a:pPr algn="ctr" indent="0" marL="0">
              <a:buNone/>
            </a:pPr>
            <a:endParaRPr lang="en-US" sz="4600" dirty="0"/>
          </a:p>
          <a:p>
            <a:pPr algn="ctr" indent="0" marL="0">
              <a:buNone/>
            </a:pPr>
            <a:r>
              <a:rPr lang="en-US" sz="1300" dirty="0">
                <a:solidFill>
                  <a:srgbClr val="8FA3A9"/>
                </a:solidFill>
                <a:latin typeface="Courier New" pitchFamily="34" charset="0"/>
                <a:ea typeface="Courier New" pitchFamily="34" charset="-122"/>
                <a:cs typeface="Courier New" pitchFamily="34" charset="-120"/>
              </a:rPr>
              <a:t>slides</a:t>
            </a:r>
            <a:endParaRPr lang="en-US" sz="4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20" kern="0" dirty="0">
                <a:solidFill>
                  <a:srgbClr val="E0512B"/>
                </a:solidFill>
                <a:latin typeface="Courier New" pitchFamily="34" charset="0"/>
                <a:ea typeface="Courier New" pitchFamily="34" charset="-122"/>
                <a:cs typeface="Courier New" pitchFamily="34" charset="-120"/>
              </a:rPr>
              <a:t>01 / FOUNDATIONS</a:t>
            </a:r>
            <a:endParaRPr lang="en-US" sz="1100" dirty="0"/>
          </a:p>
        </p:txBody>
      </p:sp>
      <p:sp>
        <p:nvSpPr>
          <p:cNvPr id="3" name="Text 1"/>
          <p:cNvSpPr/>
          <p:nvPr/>
        </p:nvSpPr>
        <p:spPr>
          <a:xfrm>
            <a:off x="566928" y="676656"/>
            <a:ext cx="11057839" cy="658368"/>
          </a:xfrm>
          <a:prstGeom prst="rect">
            <a:avLst/>
          </a:prstGeom>
          <a:noFill/>
          <a:ln/>
        </p:spPr>
        <p:txBody>
          <a:bodyPr wrap="square" lIns="0" tIns="0" rIns="0" bIns="0" rtlCol="0" anchor="ctr"/>
          <a:lstStyle/>
          <a:p>
            <a:pPr algn="l" indent="0" marL="0">
              <a:buNone/>
            </a:pPr>
            <a:r>
              <a:rPr lang="en-US" sz="3400" b="1" dirty="0">
                <a:solidFill>
                  <a:srgbClr val="121D24"/>
                </a:solidFill>
                <a:latin typeface="Calibri" pitchFamily="34" charset="0"/>
                <a:ea typeface="Calibri" pitchFamily="34" charset="-122"/>
                <a:cs typeface="Calibri" pitchFamily="34" charset="-120"/>
              </a:rPr>
              <a:t>Agile is not a process. It is a way of betting.</a:t>
            </a:r>
            <a:endParaRPr lang="en-US" sz="3400" dirty="0"/>
          </a:p>
        </p:txBody>
      </p:sp>
      <p:sp>
        <p:nvSpPr>
          <p:cNvPr id="4" name="Text 2"/>
          <p:cNvSpPr/>
          <p:nvPr/>
        </p:nvSpPr>
        <p:spPr>
          <a:xfrm>
            <a:off x="566928" y="1335024"/>
            <a:ext cx="6400800" cy="822960"/>
          </a:xfrm>
          <a:prstGeom prst="rect">
            <a:avLst/>
          </a:prstGeom>
          <a:noFill/>
          <a:ln/>
        </p:spPr>
        <p:txBody>
          <a:bodyPr wrap="square" lIns="0" tIns="0" rIns="0" bIns="0" rtlCol="0" anchor="t"/>
          <a:lstStyle/>
          <a:p>
            <a:pPr indent="0" marL="0">
              <a:lnSpc>
                <a:spcPts val="1900"/>
              </a:lnSpc>
              <a:buNone/>
            </a:pPr>
            <a:r>
              <a:rPr lang="en-US" sz="1450" dirty="0">
                <a:solidFill>
                  <a:srgbClr val="6B7A7F"/>
                </a:solidFill>
                <a:latin typeface="Calibri" pitchFamily="34" charset="0"/>
                <a:ea typeface="Calibri" pitchFamily="34" charset="-122"/>
                <a:cs typeface="Calibri" pitchFamily="34" charset="-120"/>
              </a:rPr>
              <a:t>The concrete methods — Scrum, Kanban, XP — are implementations. The values underneath them are about how you make decisions when you cannot know the answer up front.</a:t>
            </a:r>
            <a:endParaRPr lang="en-US" sz="1450" dirty="0"/>
          </a:p>
        </p:txBody>
      </p:sp>
      <p:sp>
        <p:nvSpPr>
          <p:cNvPr id="5" name="Shape 3"/>
          <p:cNvSpPr/>
          <p:nvPr/>
        </p:nvSpPr>
        <p:spPr>
          <a:xfrm>
            <a:off x="566928" y="2395728"/>
            <a:ext cx="6400800" cy="1298448"/>
          </a:xfrm>
          <a:prstGeom prst="roundRect">
            <a:avLst>
              <a:gd name="adj" fmla="val 7042"/>
            </a:avLst>
          </a:prstGeom>
          <a:solidFill>
            <a:srgbClr val="EDF1F0"/>
          </a:solidFill>
          <a:ln/>
          <a:effectLst>
            <a:outerShdw sx="100000" sy="100000" kx="0" ky="0" algn="bl" rotWithShape="0" blurRad="127000" dist="38100" dir="5400000">
              <a:srgbClr val="0B1418">
                <a:alpha val="13000"/>
              </a:srgbClr>
            </a:outerShdw>
          </a:effectLst>
        </p:spPr>
      </p:sp>
      <p:sp>
        <p:nvSpPr>
          <p:cNvPr id="6" name="Text 4"/>
          <p:cNvSpPr/>
          <p:nvPr/>
        </p:nvSpPr>
        <p:spPr>
          <a:xfrm>
            <a:off x="877824" y="2578608"/>
            <a:ext cx="5852160" cy="274320"/>
          </a:xfrm>
          <a:prstGeom prst="rect">
            <a:avLst/>
          </a:prstGeom>
          <a:noFill/>
          <a:ln/>
        </p:spPr>
        <p:txBody>
          <a:bodyPr wrap="square" lIns="0" tIns="0" rIns="0" bIns="0" rtlCol="0" anchor="ctr"/>
          <a:lstStyle/>
          <a:p>
            <a:pPr indent="0" marL="0">
              <a:buNone/>
            </a:pPr>
            <a:r>
              <a:rPr lang="en-US" sz="1100" b="1" spc="160" kern="0" dirty="0">
                <a:solidFill>
                  <a:srgbClr val="0F4C42"/>
                </a:solidFill>
                <a:latin typeface="Courier New" pitchFamily="34" charset="0"/>
                <a:ea typeface="Courier New" pitchFamily="34" charset="-122"/>
                <a:cs typeface="Courier New" pitchFamily="34" charset="-120"/>
              </a:rPr>
              <a:t>The core premise</a:t>
            </a:r>
            <a:endParaRPr lang="en-US" sz="1100" dirty="0"/>
          </a:p>
        </p:txBody>
      </p:sp>
      <p:sp>
        <p:nvSpPr>
          <p:cNvPr id="7" name="Text 5"/>
          <p:cNvSpPr/>
          <p:nvPr/>
        </p:nvSpPr>
        <p:spPr>
          <a:xfrm>
            <a:off x="877824" y="2889504"/>
            <a:ext cx="5852160" cy="658368"/>
          </a:xfrm>
          <a:prstGeom prst="rect">
            <a:avLst/>
          </a:prstGeom>
          <a:noFill/>
          <a:ln/>
        </p:spPr>
        <p:txBody>
          <a:bodyPr wrap="square" lIns="0" tIns="0" rIns="0" bIns="0" rtlCol="0" anchor="ctr"/>
          <a:lstStyle/>
          <a:p>
            <a:pPr indent="0" marL="0">
              <a:lnSpc>
                <a:spcPts val="1900"/>
              </a:lnSpc>
              <a:buNone/>
            </a:pPr>
            <a:r>
              <a:rPr lang="en-US" sz="1400" dirty="0">
                <a:solidFill>
                  <a:srgbClr val="121D24"/>
                </a:solidFill>
                <a:latin typeface="Calibri" pitchFamily="34" charset="0"/>
                <a:ea typeface="Calibri" pitchFamily="34" charset="-122"/>
                <a:cs typeface="Calibri" pitchFamily="34" charset="-120"/>
              </a:rPr>
              <a:t>You cannot fully specify software before building it. Requirements change, users discover what they want by using things, and estimates degrade the further out you look.</a:t>
            </a:r>
            <a:endParaRPr lang="en-US" sz="1400" dirty="0"/>
          </a:p>
        </p:txBody>
      </p:sp>
      <p:sp>
        <p:nvSpPr>
          <p:cNvPr id="8" name="Shape 6"/>
          <p:cNvSpPr/>
          <p:nvPr/>
        </p:nvSpPr>
        <p:spPr>
          <a:xfrm>
            <a:off x="566928" y="3877056"/>
            <a:ext cx="6400800" cy="1298448"/>
          </a:xfrm>
          <a:prstGeom prst="roundRect">
            <a:avLst>
              <a:gd name="adj" fmla="val 7042"/>
            </a:avLst>
          </a:prstGeom>
          <a:solidFill>
            <a:srgbClr val="D7E8E2"/>
          </a:solidFill>
          <a:ln/>
          <a:effectLst>
            <a:outerShdw sx="100000" sy="100000" kx="0" ky="0" algn="bl" rotWithShape="0" blurRad="127000" dist="38100" dir="5400000">
              <a:srgbClr val="0B1418">
                <a:alpha val="13000"/>
              </a:srgbClr>
            </a:outerShdw>
          </a:effectLst>
        </p:spPr>
      </p:sp>
      <p:sp>
        <p:nvSpPr>
          <p:cNvPr id="9" name="Text 7"/>
          <p:cNvSpPr/>
          <p:nvPr/>
        </p:nvSpPr>
        <p:spPr>
          <a:xfrm>
            <a:off x="877824" y="4059936"/>
            <a:ext cx="5852160" cy="274320"/>
          </a:xfrm>
          <a:prstGeom prst="rect">
            <a:avLst/>
          </a:prstGeom>
          <a:noFill/>
          <a:ln/>
        </p:spPr>
        <p:txBody>
          <a:bodyPr wrap="square" lIns="0" tIns="0" rIns="0" bIns="0" rtlCol="0" anchor="ctr"/>
          <a:lstStyle/>
          <a:p>
            <a:pPr indent="0" marL="0">
              <a:buNone/>
            </a:pPr>
            <a:r>
              <a:rPr lang="en-US" sz="1100" b="1" spc="160" kern="0" dirty="0">
                <a:solidFill>
                  <a:srgbClr val="0F4C42"/>
                </a:solidFill>
                <a:latin typeface="Courier New" pitchFamily="34" charset="0"/>
                <a:ea typeface="Courier New" pitchFamily="34" charset="-122"/>
                <a:cs typeface="Courier New" pitchFamily="34" charset="-120"/>
              </a:rPr>
              <a:t>The consequence</a:t>
            </a:r>
            <a:endParaRPr lang="en-US" sz="1100" dirty="0"/>
          </a:p>
        </p:txBody>
      </p:sp>
      <p:sp>
        <p:nvSpPr>
          <p:cNvPr id="10" name="Text 8"/>
          <p:cNvSpPr/>
          <p:nvPr/>
        </p:nvSpPr>
        <p:spPr>
          <a:xfrm>
            <a:off x="877824" y="4370832"/>
            <a:ext cx="5852160" cy="658368"/>
          </a:xfrm>
          <a:prstGeom prst="rect">
            <a:avLst/>
          </a:prstGeom>
          <a:noFill/>
          <a:ln/>
        </p:spPr>
        <p:txBody>
          <a:bodyPr wrap="square" lIns="0" tIns="0" rIns="0" bIns="0" rtlCol="0" anchor="ctr"/>
          <a:lstStyle/>
          <a:p>
            <a:pPr indent="0" marL="0">
              <a:lnSpc>
                <a:spcPts val="1900"/>
              </a:lnSpc>
              <a:buNone/>
            </a:pPr>
            <a:r>
              <a:rPr lang="en-US" sz="1400" dirty="0">
                <a:solidFill>
                  <a:srgbClr val="121D24"/>
                </a:solidFill>
                <a:latin typeface="Calibri" pitchFamily="34" charset="0"/>
                <a:ea typeface="Calibri" pitchFamily="34" charset="-122"/>
                <a:cs typeface="Calibri" pitchFamily="34" charset="-120"/>
              </a:rPr>
              <a:t>So instead of one long bet, you make many short bets and correct course after each one. Everything else in Agile follows from that single move.</a:t>
            </a:r>
            <a:endParaRPr lang="en-US" sz="1400" dirty="0"/>
          </a:p>
        </p:txBody>
      </p:sp>
      <p:sp>
        <p:nvSpPr>
          <p:cNvPr id="11" name="Shape 9"/>
          <p:cNvSpPr/>
          <p:nvPr/>
        </p:nvSpPr>
        <p:spPr>
          <a:xfrm>
            <a:off x="7370064" y="2395728"/>
            <a:ext cx="4251960" cy="2779776"/>
          </a:xfrm>
          <a:prstGeom prst="roundRect">
            <a:avLst>
              <a:gd name="adj" fmla="val 3947"/>
            </a:avLst>
          </a:prstGeom>
          <a:solidFill>
            <a:srgbClr val="121D24"/>
          </a:solidFill>
          <a:ln/>
          <a:effectLst>
            <a:outerShdw sx="100000" sy="100000" kx="0" ky="0" algn="bl" rotWithShape="0" blurRad="127000" dist="38100" dir="5400000">
              <a:srgbClr val="0B1418">
                <a:alpha val="13000"/>
              </a:srgbClr>
            </a:outerShdw>
          </a:effectLst>
        </p:spPr>
      </p:sp>
      <p:sp>
        <p:nvSpPr>
          <p:cNvPr id="12" name="Text 10"/>
          <p:cNvSpPr/>
          <p:nvPr/>
        </p:nvSpPr>
        <p:spPr>
          <a:xfrm>
            <a:off x="7680960" y="2651760"/>
            <a:ext cx="3657600" cy="274320"/>
          </a:xfrm>
          <a:prstGeom prst="rect">
            <a:avLst/>
          </a:prstGeom>
          <a:noFill/>
          <a:ln/>
        </p:spPr>
        <p:txBody>
          <a:bodyPr wrap="square" lIns="0" tIns="0" rIns="0" bIns="0" rtlCol="0" anchor="ctr"/>
          <a:lstStyle/>
          <a:p>
            <a:pPr indent="0" marL="0">
              <a:buNone/>
            </a:pPr>
            <a:r>
              <a:rPr lang="en-US" sz="1050" b="1" spc="160" kern="0" dirty="0">
                <a:solidFill>
                  <a:srgbClr val="F0B429"/>
                </a:solidFill>
                <a:latin typeface="Courier New" pitchFamily="34" charset="0"/>
                <a:ea typeface="Courier New" pitchFamily="34" charset="-122"/>
                <a:cs typeface="Courier New" pitchFamily="34" charset="-120"/>
              </a:rPr>
              <a:t>COST OF BEING WRONG</a:t>
            </a:r>
            <a:endParaRPr lang="en-US" sz="1050" dirty="0"/>
          </a:p>
        </p:txBody>
      </p:sp>
      <p:sp>
        <p:nvSpPr>
          <p:cNvPr id="13" name="Text 11"/>
          <p:cNvSpPr/>
          <p:nvPr/>
        </p:nvSpPr>
        <p:spPr>
          <a:xfrm>
            <a:off x="7680960" y="3108960"/>
            <a:ext cx="2743200" cy="237744"/>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Discover in 2 weeks</a:t>
            </a:r>
            <a:endParaRPr lang="en-US" sz="1250" dirty="0"/>
          </a:p>
        </p:txBody>
      </p:sp>
      <p:sp>
        <p:nvSpPr>
          <p:cNvPr id="14" name="Shape 12"/>
          <p:cNvSpPr/>
          <p:nvPr/>
        </p:nvSpPr>
        <p:spPr>
          <a:xfrm>
            <a:off x="7680960" y="3383280"/>
            <a:ext cx="1141171" cy="182880"/>
          </a:xfrm>
          <a:prstGeom prst="roundRect">
            <a:avLst>
              <a:gd name="adj" fmla="val 30000"/>
            </a:avLst>
          </a:prstGeom>
          <a:solidFill>
            <a:srgbClr val="2A8C7A"/>
          </a:solidFill>
          <a:ln/>
        </p:spPr>
      </p:sp>
      <p:sp>
        <p:nvSpPr>
          <p:cNvPr id="15" name="Text 13"/>
          <p:cNvSpPr/>
          <p:nvPr/>
        </p:nvSpPr>
        <p:spPr>
          <a:xfrm>
            <a:off x="7680960" y="3383280"/>
            <a:ext cx="3566160" cy="182880"/>
          </a:xfrm>
          <a:prstGeom prst="rect">
            <a:avLst/>
          </a:prstGeom>
          <a:noFill/>
          <a:ln/>
        </p:spPr>
        <p:txBody>
          <a:bodyPr wrap="square" lIns="0" tIns="0" rIns="0" bIns="0" rtlCol="0" anchor="ctr"/>
          <a:lstStyle/>
          <a:p>
            <a:pPr algn="r" indent="0" marL="0">
              <a:buNone/>
            </a:pPr>
            <a:r>
              <a:rPr lang="en-US" sz="950" dirty="0">
                <a:solidFill>
                  <a:srgbClr val="8FA3A9"/>
                </a:solidFill>
                <a:latin typeface="Courier New" pitchFamily="34" charset="0"/>
                <a:ea typeface="Courier New" pitchFamily="34" charset="-122"/>
                <a:cs typeface="Courier New" pitchFamily="34" charset="-120"/>
              </a:rPr>
              <a:t>cheap</a:t>
            </a:r>
            <a:endParaRPr lang="en-US" sz="950" dirty="0"/>
          </a:p>
        </p:txBody>
      </p:sp>
      <p:sp>
        <p:nvSpPr>
          <p:cNvPr id="16" name="Text 14"/>
          <p:cNvSpPr/>
          <p:nvPr/>
        </p:nvSpPr>
        <p:spPr>
          <a:xfrm>
            <a:off x="7680960" y="3767328"/>
            <a:ext cx="2743200" cy="237744"/>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Discover in 3 months</a:t>
            </a:r>
            <a:endParaRPr lang="en-US" sz="1250" dirty="0"/>
          </a:p>
        </p:txBody>
      </p:sp>
      <p:sp>
        <p:nvSpPr>
          <p:cNvPr id="17" name="Shape 15"/>
          <p:cNvSpPr/>
          <p:nvPr/>
        </p:nvSpPr>
        <p:spPr>
          <a:xfrm>
            <a:off x="7680960" y="4041648"/>
            <a:ext cx="2353666" cy="182880"/>
          </a:xfrm>
          <a:prstGeom prst="roundRect">
            <a:avLst>
              <a:gd name="adj" fmla="val 30000"/>
            </a:avLst>
          </a:prstGeom>
          <a:solidFill>
            <a:srgbClr val="F0B429"/>
          </a:solidFill>
          <a:ln/>
        </p:spPr>
      </p:sp>
      <p:sp>
        <p:nvSpPr>
          <p:cNvPr id="18" name="Text 16"/>
          <p:cNvSpPr/>
          <p:nvPr/>
        </p:nvSpPr>
        <p:spPr>
          <a:xfrm>
            <a:off x="7680960" y="4041648"/>
            <a:ext cx="3566160" cy="182880"/>
          </a:xfrm>
          <a:prstGeom prst="rect">
            <a:avLst/>
          </a:prstGeom>
          <a:noFill/>
          <a:ln/>
        </p:spPr>
        <p:txBody>
          <a:bodyPr wrap="square" lIns="0" tIns="0" rIns="0" bIns="0" rtlCol="0" anchor="ctr"/>
          <a:lstStyle/>
          <a:p>
            <a:pPr algn="r" indent="0" marL="0">
              <a:buNone/>
            </a:pPr>
            <a:r>
              <a:rPr lang="en-US" sz="950" dirty="0">
                <a:solidFill>
                  <a:srgbClr val="8FA3A9"/>
                </a:solidFill>
                <a:latin typeface="Courier New" pitchFamily="34" charset="0"/>
                <a:ea typeface="Courier New" pitchFamily="34" charset="-122"/>
                <a:cs typeface="Courier New" pitchFamily="34" charset="-120"/>
              </a:rPr>
              <a:t>painful</a:t>
            </a:r>
            <a:endParaRPr lang="en-US" sz="950" dirty="0"/>
          </a:p>
        </p:txBody>
      </p:sp>
      <p:sp>
        <p:nvSpPr>
          <p:cNvPr id="19" name="Text 17"/>
          <p:cNvSpPr/>
          <p:nvPr/>
        </p:nvSpPr>
        <p:spPr>
          <a:xfrm>
            <a:off x="7680960" y="4425696"/>
            <a:ext cx="2743200" cy="237744"/>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Discover after launch</a:t>
            </a:r>
            <a:endParaRPr lang="en-US" sz="1250" dirty="0"/>
          </a:p>
        </p:txBody>
      </p:sp>
      <p:sp>
        <p:nvSpPr>
          <p:cNvPr id="20" name="Shape 18"/>
          <p:cNvSpPr/>
          <p:nvPr/>
        </p:nvSpPr>
        <p:spPr>
          <a:xfrm>
            <a:off x="7680960" y="4700016"/>
            <a:ext cx="3566160" cy="182880"/>
          </a:xfrm>
          <a:prstGeom prst="roundRect">
            <a:avLst>
              <a:gd name="adj" fmla="val 30000"/>
            </a:avLst>
          </a:prstGeom>
          <a:solidFill>
            <a:srgbClr val="E0512B"/>
          </a:solidFill>
          <a:ln/>
        </p:spPr>
      </p:sp>
      <p:sp>
        <p:nvSpPr>
          <p:cNvPr id="21" name="Text 19"/>
          <p:cNvSpPr/>
          <p:nvPr/>
        </p:nvSpPr>
        <p:spPr>
          <a:xfrm>
            <a:off x="7680960" y="4700016"/>
            <a:ext cx="3566160" cy="182880"/>
          </a:xfrm>
          <a:prstGeom prst="rect">
            <a:avLst/>
          </a:prstGeom>
          <a:noFill/>
          <a:ln/>
        </p:spPr>
        <p:txBody>
          <a:bodyPr wrap="square" lIns="0" tIns="0" rIns="0" bIns="0" rtlCol="0" anchor="ctr"/>
          <a:lstStyle/>
          <a:p>
            <a:pPr algn="r" indent="0" marL="0">
              <a:buNone/>
            </a:pPr>
            <a:r>
              <a:rPr lang="en-US" sz="950" dirty="0">
                <a:solidFill>
                  <a:srgbClr val="8FA3A9"/>
                </a:solidFill>
                <a:latin typeface="Courier New" pitchFamily="34" charset="0"/>
                <a:ea typeface="Courier New" pitchFamily="34" charset="-122"/>
                <a:cs typeface="Courier New" pitchFamily="34" charset="-120"/>
              </a:rPr>
              <a:t>expensive</a:t>
            </a:r>
            <a:endParaRPr lang="en-US" sz="950" dirty="0"/>
          </a:p>
        </p:txBody>
      </p:sp>
      <p:sp>
        <p:nvSpPr>
          <p:cNvPr id="22" name="Text 20"/>
          <p:cNvSpPr/>
          <p:nvPr/>
        </p:nvSpPr>
        <p:spPr>
          <a:xfrm>
            <a:off x="566928" y="6108192"/>
            <a:ext cx="11057839" cy="438912"/>
          </a:xfrm>
          <a:prstGeom prst="rect">
            <a:avLst/>
          </a:prstGeom>
          <a:noFill/>
          <a:ln/>
        </p:spPr>
        <p:txBody>
          <a:bodyPr wrap="square" lIns="0" tIns="0" rIns="0" bIns="0" rtlCol="0" anchor="ctr"/>
          <a:lstStyle/>
          <a:p>
            <a:pPr indent="0" marL="0">
              <a:lnSpc>
                <a:spcPts val="1500"/>
              </a:lnSpc>
              <a:buNone/>
            </a:pPr>
            <a:r>
              <a:rPr lang="en-US" sz="1050" dirty="0">
                <a:solidFill>
                  <a:srgbClr val="6B7A7F"/>
                </a:solidFill>
                <a:latin typeface="Courier New" pitchFamily="34" charset="0"/>
                <a:ea typeface="Courier New" pitchFamily="34" charset="-122"/>
                <a:cs typeface="Courier New" pitchFamily="34" charset="-120"/>
              </a:rPr>
              <a:t>Agile shortens the distance between a decision and the evidence that it was wrong.</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20" kern="0" dirty="0">
                <a:solidFill>
                  <a:srgbClr val="E0512B"/>
                </a:solidFill>
                <a:latin typeface="Courier New" pitchFamily="34" charset="0"/>
                <a:ea typeface="Courier New" pitchFamily="34" charset="-122"/>
                <a:cs typeface="Courier New" pitchFamily="34" charset="-120"/>
              </a:rPr>
              <a:t>01 / FOUNDATIONS</a:t>
            </a:r>
            <a:endParaRPr lang="en-US" sz="1100" dirty="0"/>
          </a:p>
        </p:txBody>
      </p:sp>
      <p:sp>
        <p:nvSpPr>
          <p:cNvPr id="3" name="Text 1"/>
          <p:cNvSpPr/>
          <p:nvPr/>
        </p:nvSpPr>
        <p:spPr>
          <a:xfrm>
            <a:off x="566928" y="676656"/>
            <a:ext cx="11057839" cy="658368"/>
          </a:xfrm>
          <a:prstGeom prst="rect">
            <a:avLst/>
          </a:prstGeom>
          <a:noFill/>
          <a:ln/>
        </p:spPr>
        <p:txBody>
          <a:bodyPr wrap="square" lIns="0" tIns="0" rIns="0" bIns="0" rtlCol="0" anchor="ctr"/>
          <a:lstStyle/>
          <a:p>
            <a:pPr algn="l" indent="0" marL="0">
              <a:buNone/>
            </a:pPr>
            <a:r>
              <a:rPr lang="en-US" sz="3400" b="1" dirty="0">
                <a:solidFill>
                  <a:srgbClr val="121D24"/>
                </a:solidFill>
                <a:latin typeface="Calibri" pitchFamily="34" charset="0"/>
                <a:ea typeface="Calibri" pitchFamily="34" charset="-122"/>
                <a:cs typeface="Calibri" pitchFamily="34" charset="-120"/>
              </a:rPr>
              <a:t>The Agile Manifesto — four values, 2001</a:t>
            </a:r>
            <a:endParaRPr lang="en-US" sz="3400" dirty="0"/>
          </a:p>
        </p:txBody>
      </p:sp>
      <p:sp>
        <p:nvSpPr>
          <p:cNvPr id="4" name="Text 2"/>
          <p:cNvSpPr/>
          <p:nvPr/>
        </p:nvSpPr>
        <p:spPr>
          <a:xfrm>
            <a:off x="566928" y="1335024"/>
            <a:ext cx="10058400" cy="457200"/>
          </a:xfrm>
          <a:prstGeom prst="rect">
            <a:avLst/>
          </a:prstGeom>
          <a:noFill/>
          <a:ln/>
        </p:spPr>
        <p:txBody>
          <a:bodyPr wrap="square" lIns="0" tIns="0" rIns="0" bIns="0" rtlCol="0" anchor="t"/>
          <a:lstStyle/>
          <a:p>
            <a:pPr indent="0" marL="0">
              <a:lnSpc>
                <a:spcPts val="1900"/>
              </a:lnSpc>
              <a:buNone/>
            </a:pPr>
            <a:r>
              <a:rPr lang="en-US" sz="1450" dirty="0">
                <a:solidFill>
                  <a:srgbClr val="6B7A7F"/>
                </a:solidFill>
                <a:latin typeface="Calibri" pitchFamily="34" charset="0"/>
                <a:ea typeface="Calibri" pitchFamily="34" charset="-122"/>
                <a:cs typeface="Calibri" pitchFamily="34" charset="-120"/>
              </a:rPr>
              <a:t>Seventeen practitioners, one ski lodge, four sentences. Each has the same shape: we value the left more than the right.</a:t>
            </a:r>
            <a:endParaRPr lang="en-US" sz="1450" dirty="0"/>
          </a:p>
        </p:txBody>
      </p:sp>
      <p:sp>
        <p:nvSpPr>
          <p:cNvPr id="5" name="Shape 3"/>
          <p:cNvSpPr/>
          <p:nvPr/>
        </p:nvSpPr>
        <p:spPr>
          <a:xfrm>
            <a:off x="566928" y="2066544"/>
            <a:ext cx="4846320" cy="640080"/>
          </a:xfrm>
          <a:prstGeom prst="roundRect">
            <a:avLst>
              <a:gd name="adj" fmla="val 12857"/>
            </a:avLst>
          </a:prstGeom>
          <a:solidFill>
            <a:srgbClr val="0F4C42"/>
          </a:solidFill>
          <a:ln/>
          <a:effectLst>
            <a:outerShdw sx="100000" sy="100000" kx="0" ky="0" algn="bl" rotWithShape="0" blurRad="127000" dist="38100" dir="5400000">
              <a:srgbClr val="0B1418">
                <a:alpha val="13000"/>
              </a:srgbClr>
            </a:outerShdw>
          </a:effectLst>
        </p:spPr>
      </p:sp>
      <p:sp>
        <p:nvSpPr>
          <p:cNvPr id="6" name="Text 4"/>
          <p:cNvSpPr/>
          <p:nvPr/>
        </p:nvSpPr>
        <p:spPr>
          <a:xfrm>
            <a:off x="822960" y="2066544"/>
            <a:ext cx="4389120" cy="6400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Individuals and interactions</a:t>
            </a:r>
            <a:endParaRPr lang="en-US" sz="1500" dirty="0"/>
          </a:p>
        </p:txBody>
      </p:sp>
      <p:sp>
        <p:nvSpPr>
          <p:cNvPr id="7" name="Text 5"/>
          <p:cNvSpPr/>
          <p:nvPr/>
        </p:nvSpPr>
        <p:spPr>
          <a:xfrm>
            <a:off x="5541264" y="2066544"/>
            <a:ext cx="914400" cy="640080"/>
          </a:xfrm>
          <a:prstGeom prst="rect">
            <a:avLst/>
          </a:prstGeom>
          <a:noFill/>
          <a:ln/>
        </p:spPr>
        <p:txBody>
          <a:bodyPr wrap="square" lIns="0" tIns="0" rIns="0" bIns="0" rtlCol="0" anchor="ctr"/>
          <a:lstStyle/>
          <a:p>
            <a:pPr algn="ctr" indent="0" marL="0">
              <a:buNone/>
            </a:pPr>
            <a:r>
              <a:rPr lang="en-US" sz="1200" dirty="0">
                <a:solidFill>
                  <a:srgbClr val="E0512B"/>
                </a:solidFill>
                <a:latin typeface="Courier New" pitchFamily="34" charset="0"/>
                <a:ea typeface="Courier New" pitchFamily="34" charset="-122"/>
                <a:cs typeface="Courier New" pitchFamily="34" charset="-120"/>
              </a:rPr>
              <a:t>over</a:t>
            </a:r>
            <a:endParaRPr lang="en-US" sz="1200" dirty="0"/>
          </a:p>
        </p:txBody>
      </p:sp>
      <p:sp>
        <p:nvSpPr>
          <p:cNvPr id="8" name="Shape 6"/>
          <p:cNvSpPr/>
          <p:nvPr/>
        </p:nvSpPr>
        <p:spPr>
          <a:xfrm>
            <a:off x="6492240" y="2066544"/>
            <a:ext cx="5120640" cy="640080"/>
          </a:xfrm>
          <a:prstGeom prst="roundRect">
            <a:avLst>
              <a:gd name="adj" fmla="val 12857"/>
            </a:avLst>
          </a:prstGeom>
          <a:solidFill>
            <a:srgbClr val="EDF1F0"/>
          </a:solidFill>
          <a:ln/>
        </p:spPr>
      </p:sp>
      <p:sp>
        <p:nvSpPr>
          <p:cNvPr id="9" name="Text 7"/>
          <p:cNvSpPr/>
          <p:nvPr/>
        </p:nvSpPr>
        <p:spPr>
          <a:xfrm>
            <a:off x="6748272" y="2066544"/>
            <a:ext cx="4663440" cy="640080"/>
          </a:xfrm>
          <a:prstGeom prst="rect">
            <a:avLst/>
          </a:prstGeom>
          <a:noFill/>
          <a:ln/>
        </p:spPr>
        <p:txBody>
          <a:bodyPr wrap="square" lIns="0" tIns="0" rIns="0" bIns="0" rtlCol="0" anchor="ctr"/>
          <a:lstStyle/>
          <a:p>
            <a:pPr indent="0" marL="0">
              <a:buNone/>
            </a:pPr>
            <a:r>
              <a:rPr lang="en-US" sz="1500" dirty="0">
                <a:solidFill>
                  <a:srgbClr val="56666B"/>
                </a:solidFill>
                <a:latin typeface="Calibri" pitchFamily="34" charset="0"/>
                <a:ea typeface="Calibri" pitchFamily="34" charset="-122"/>
                <a:cs typeface="Calibri" pitchFamily="34" charset="-120"/>
              </a:rPr>
              <a:t>Processes and tools</a:t>
            </a:r>
            <a:endParaRPr lang="en-US" sz="1500" dirty="0"/>
          </a:p>
        </p:txBody>
      </p:sp>
      <p:sp>
        <p:nvSpPr>
          <p:cNvPr id="10" name="Shape 8"/>
          <p:cNvSpPr/>
          <p:nvPr/>
        </p:nvSpPr>
        <p:spPr>
          <a:xfrm>
            <a:off x="566928" y="2907792"/>
            <a:ext cx="4846320" cy="640080"/>
          </a:xfrm>
          <a:prstGeom prst="roundRect">
            <a:avLst>
              <a:gd name="adj" fmla="val 12857"/>
            </a:avLst>
          </a:prstGeom>
          <a:solidFill>
            <a:srgbClr val="0F4C42"/>
          </a:solidFill>
          <a:ln/>
          <a:effectLst>
            <a:outerShdw sx="100000" sy="100000" kx="0" ky="0" algn="bl" rotWithShape="0" blurRad="127000" dist="38100" dir="5400000">
              <a:srgbClr val="0B1418">
                <a:alpha val="13000"/>
              </a:srgbClr>
            </a:outerShdw>
          </a:effectLst>
        </p:spPr>
      </p:sp>
      <p:sp>
        <p:nvSpPr>
          <p:cNvPr id="11" name="Text 9"/>
          <p:cNvSpPr/>
          <p:nvPr/>
        </p:nvSpPr>
        <p:spPr>
          <a:xfrm>
            <a:off x="822960" y="2907792"/>
            <a:ext cx="4389120" cy="6400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Working software</a:t>
            </a:r>
            <a:endParaRPr lang="en-US" sz="1500" dirty="0"/>
          </a:p>
        </p:txBody>
      </p:sp>
      <p:sp>
        <p:nvSpPr>
          <p:cNvPr id="12" name="Text 10"/>
          <p:cNvSpPr/>
          <p:nvPr/>
        </p:nvSpPr>
        <p:spPr>
          <a:xfrm>
            <a:off x="5541264" y="2907792"/>
            <a:ext cx="914400" cy="640080"/>
          </a:xfrm>
          <a:prstGeom prst="rect">
            <a:avLst/>
          </a:prstGeom>
          <a:noFill/>
          <a:ln/>
        </p:spPr>
        <p:txBody>
          <a:bodyPr wrap="square" lIns="0" tIns="0" rIns="0" bIns="0" rtlCol="0" anchor="ctr"/>
          <a:lstStyle/>
          <a:p>
            <a:pPr algn="ctr" indent="0" marL="0">
              <a:buNone/>
            </a:pPr>
            <a:r>
              <a:rPr lang="en-US" sz="1200" dirty="0">
                <a:solidFill>
                  <a:srgbClr val="E0512B"/>
                </a:solidFill>
                <a:latin typeface="Courier New" pitchFamily="34" charset="0"/>
                <a:ea typeface="Courier New" pitchFamily="34" charset="-122"/>
                <a:cs typeface="Courier New" pitchFamily="34" charset="-120"/>
              </a:rPr>
              <a:t>over</a:t>
            </a:r>
            <a:endParaRPr lang="en-US" sz="1200" dirty="0"/>
          </a:p>
        </p:txBody>
      </p:sp>
      <p:sp>
        <p:nvSpPr>
          <p:cNvPr id="13" name="Shape 11"/>
          <p:cNvSpPr/>
          <p:nvPr/>
        </p:nvSpPr>
        <p:spPr>
          <a:xfrm>
            <a:off x="6492240" y="2907792"/>
            <a:ext cx="5120640" cy="640080"/>
          </a:xfrm>
          <a:prstGeom prst="roundRect">
            <a:avLst>
              <a:gd name="adj" fmla="val 12857"/>
            </a:avLst>
          </a:prstGeom>
          <a:solidFill>
            <a:srgbClr val="EDF1F0"/>
          </a:solidFill>
          <a:ln/>
        </p:spPr>
      </p:sp>
      <p:sp>
        <p:nvSpPr>
          <p:cNvPr id="14" name="Text 12"/>
          <p:cNvSpPr/>
          <p:nvPr/>
        </p:nvSpPr>
        <p:spPr>
          <a:xfrm>
            <a:off x="6748272" y="2907792"/>
            <a:ext cx="4663440" cy="640080"/>
          </a:xfrm>
          <a:prstGeom prst="rect">
            <a:avLst/>
          </a:prstGeom>
          <a:noFill/>
          <a:ln/>
        </p:spPr>
        <p:txBody>
          <a:bodyPr wrap="square" lIns="0" tIns="0" rIns="0" bIns="0" rtlCol="0" anchor="ctr"/>
          <a:lstStyle/>
          <a:p>
            <a:pPr indent="0" marL="0">
              <a:buNone/>
            </a:pPr>
            <a:r>
              <a:rPr lang="en-US" sz="1500" dirty="0">
                <a:solidFill>
                  <a:srgbClr val="56666B"/>
                </a:solidFill>
                <a:latin typeface="Calibri" pitchFamily="34" charset="0"/>
                <a:ea typeface="Calibri" pitchFamily="34" charset="-122"/>
                <a:cs typeface="Calibri" pitchFamily="34" charset="-120"/>
              </a:rPr>
              <a:t>Comprehensive documentation</a:t>
            </a:r>
            <a:endParaRPr lang="en-US" sz="1500" dirty="0"/>
          </a:p>
        </p:txBody>
      </p:sp>
      <p:sp>
        <p:nvSpPr>
          <p:cNvPr id="15" name="Shape 13"/>
          <p:cNvSpPr/>
          <p:nvPr/>
        </p:nvSpPr>
        <p:spPr>
          <a:xfrm>
            <a:off x="566928" y="3749040"/>
            <a:ext cx="4846320" cy="640080"/>
          </a:xfrm>
          <a:prstGeom prst="roundRect">
            <a:avLst>
              <a:gd name="adj" fmla="val 12857"/>
            </a:avLst>
          </a:prstGeom>
          <a:solidFill>
            <a:srgbClr val="0F4C42"/>
          </a:solidFill>
          <a:ln/>
          <a:effectLst>
            <a:outerShdw sx="100000" sy="100000" kx="0" ky="0" algn="bl" rotWithShape="0" blurRad="127000" dist="38100" dir="5400000">
              <a:srgbClr val="0B1418">
                <a:alpha val="13000"/>
              </a:srgbClr>
            </a:outerShdw>
          </a:effectLst>
        </p:spPr>
      </p:sp>
      <p:sp>
        <p:nvSpPr>
          <p:cNvPr id="16" name="Text 14"/>
          <p:cNvSpPr/>
          <p:nvPr/>
        </p:nvSpPr>
        <p:spPr>
          <a:xfrm>
            <a:off x="822960" y="3749040"/>
            <a:ext cx="4389120" cy="6400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Customer collaboration</a:t>
            </a:r>
            <a:endParaRPr lang="en-US" sz="1500" dirty="0"/>
          </a:p>
        </p:txBody>
      </p:sp>
      <p:sp>
        <p:nvSpPr>
          <p:cNvPr id="17" name="Text 15"/>
          <p:cNvSpPr/>
          <p:nvPr/>
        </p:nvSpPr>
        <p:spPr>
          <a:xfrm>
            <a:off x="5541264" y="3749040"/>
            <a:ext cx="914400" cy="640080"/>
          </a:xfrm>
          <a:prstGeom prst="rect">
            <a:avLst/>
          </a:prstGeom>
          <a:noFill/>
          <a:ln/>
        </p:spPr>
        <p:txBody>
          <a:bodyPr wrap="square" lIns="0" tIns="0" rIns="0" bIns="0" rtlCol="0" anchor="ctr"/>
          <a:lstStyle/>
          <a:p>
            <a:pPr algn="ctr" indent="0" marL="0">
              <a:buNone/>
            </a:pPr>
            <a:r>
              <a:rPr lang="en-US" sz="1200" dirty="0">
                <a:solidFill>
                  <a:srgbClr val="E0512B"/>
                </a:solidFill>
                <a:latin typeface="Courier New" pitchFamily="34" charset="0"/>
                <a:ea typeface="Courier New" pitchFamily="34" charset="-122"/>
                <a:cs typeface="Courier New" pitchFamily="34" charset="-120"/>
              </a:rPr>
              <a:t>over</a:t>
            </a:r>
            <a:endParaRPr lang="en-US" sz="1200" dirty="0"/>
          </a:p>
        </p:txBody>
      </p:sp>
      <p:sp>
        <p:nvSpPr>
          <p:cNvPr id="18" name="Shape 16"/>
          <p:cNvSpPr/>
          <p:nvPr/>
        </p:nvSpPr>
        <p:spPr>
          <a:xfrm>
            <a:off x="6492240" y="3749040"/>
            <a:ext cx="5120640" cy="640080"/>
          </a:xfrm>
          <a:prstGeom prst="roundRect">
            <a:avLst>
              <a:gd name="adj" fmla="val 12857"/>
            </a:avLst>
          </a:prstGeom>
          <a:solidFill>
            <a:srgbClr val="EDF1F0"/>
          </a:solidFill>
          <a:ln/>
        </p:spPr>
      </p:sp>
      <p:sp>
        <p:nvSpPr>
          <p:cNvPr id="19" name="Text 17"/>
          <p:cNvSpPr/>
          <p:nvPr/>
        </p:nvSpPr>
        <p:spPr>
          <a:xfrm>
            <a:off x="6748272" y="3749040"/>
            <a:ext cx="4663440" cy="640080"/>
          </a:xfrm>
          <a:prstGeom prst="rect">
            <a:avLst/>
          </a:prstGeom>
          <a:noFill/>
          <a:ln/>
        </p:spPr>
        <p:txBody>
          <a:bodyPr wrap="square" lIns="0" tIns="0" rIns="0" bIns="0" rtlCol="0" anchor="ctr"/>
          <a:lstStyle/>
          <a:p>
            <a:pPr indent="0" marL="0">
              <a:buNone/>
            </a:pPr>
            <a:r>
              <a:rPr lang="en-US" sz="1500" dirty="0">
                <a:solidFill>
                  <a:srgbClr val="56666B"/>
                </a:solidFill>
                <a:latin typeface="Calibri" pitchFamily="34" charset="0"/>
                <a:ea typeface="Calibri" pitchFamily="34" charset="-122"/>
                <a:cs typeface="Calibri" pitchFamily="34" charset="-120"/>
              </a:rPr>
              <a:t>Contract negotiation</a:t>
            </a:r>
            <a:endParaRPr lang="en-US" sz="1500" dirty="0"/>
          </a:p>
        </p:txBody>
      </p:sp>
      <p:sp>
        <p:nvSpPr>
          <p:cNvPr id="20" name="Shape 18"/>
          <p:cNvSpPr/>
          <p:nvPr/>
        </p:nvSpPr>
        <p:spPr>
          <a:xfrm>
            <a:off x="566928" y="4590288"/>
            <a:ext cx="4846320" cy="640080"/>
          </a:xfrm>
          <a:prstGeom prst="roundRect">
            <a:avLst>
              <a:gd name="adj" fmla="val 12857"/>
            </a:avLst>
          </a:prstGeom>
          <a:solidFill>
            <a:srgbClr val="0F4C42"/>
          </a:solidFill>
          <a:ln/>
          <a:effectLst>
            <a:outerShdw sx="100000" sy="100000" kx="0" ky="0" algn="bl" rotWithShape="0" blurRad="127000" dist="38100" dir="5400000">
              <a:srgbClr val="0B1418">
                <a:alpha val="13000"/>
              </a:srgbClr>
            </a:outerShdw>
          </a:effectLst>
        </p:spPr>
      </p:sp>
      <p:sp>
        <p:nvSpPr>
          <p:cNvPr id="21" name="Text 19"/>
          <p:cNvSpPr/>
          <p:nvPr/>
        </p:nvSpPr>
        <p:spPr>
          <a:xfrm>
            <a:off x="822960" y="4590288"/>
            <a:ext cx="4389120" cy="6400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Responding to change</a:t>
            </a:r>
            <a:endParaRPr lang="en-US" sz="1500" dirty="0"/>
          </a:p>
        </p:txBody>
      </p:sp>
      <p:sp>
        <p:nvSpPr>
          <p:cNvPr id="22" name="Text 20"/>
          <p:cNvSpPr/>
          <p:nvPr/>
        </p:nvSpPr>
        <p:spPr>
          <a:xfrm>
            <a:off x="5541264" y="4590288"/>
            <a:ext cx="914400" cy="640080"/>
          </a:xfrm>
          <a:prstGeom prst="rect">
            <a:avLst/>
          </a:prstGeom>
          <a:noFill/>
          <a:ln/>
        </p:spPr>
        <p:txBody>
          <a:bodyPr wrap="square" lIns="0" tIns="0" rIns="0" bIns="0" rtlCol="0" anchor="ctr"/>
          <a:lstStyle/>
          <a:p>
            <a:pPr algn="ctr" indent="0" marL="0">
              <a:buNone/>
            </a:pPr>
            <a:r>
              <a:rPr lang="en-US" sz="1200" dirty="0">
                <a:solidFill>
                  <a:srgbClr val="E0512B"/>
                </a:solidFill>
                <a:latin typeface="Courier New" pitchFamily="34" charset="0"/>
                <a:ea typeface="Courier New" pitchFamily="34" charset="-122"/>
                <a:cs typeface="Courier New" pitchFamily="34" charset="-120"/>
              </a:rPr>
              <a:t>over</a:t>
            </a:r>
            <a:endParaRPr lang="en-US" sz="1200" dirty="0"/>
          </a:p>
        </p:txBody>
      </p:sp>
      <p:sp>
        <p:nvSpPr>
          <p:cNvPr id="23" name="Shape 21"/>
          <p:cNvSpPr/>
          <p:nvPr/>
        </p:nvSpPr>
        <p:spPr>
          <a:xfrm>
            <a:off x="6492240" y="4590288"/>
            <a:ext cx="5120640" cy="640080"/>
          </a:xfrm>
          <a:prstGeom prst="roundRect">
            <a:avLst>
              <a:gd name="adj" fmla="val 12857"/>
            </a:avLst>
          </a:prstGeom>
          <a:solidFill>
            <a:srgbClr val="EDF1F0"/>
          </a:solidFill>
          <a:ln/>
        </p:spPr>
      </p:sp>
      <p:sp>
        <p:nvSpPr>
          <p:cNvPr id="24" name="Text 22"/>
          <p:cNvSpPr/>
          <p:nvPr/>
        </p:nvSpPr>
        <p:spPr>
          <a:xfrm>
            <a:off x="6748272" y="4590288"/>
            <a:ext cx="4663440" cy="640080"/>
          </a:xfrm>
          <a:prstGeom prst="rect">
            <a:avLst/>
          </a:prstGeom>
          <a:noFill/>
          <a:ln/>
        </p:spPr>
        <p:txBody>
          <a:bodyPr wrap="square" lIns="0" tIns="0" rIns="0" bIns="0" rtlCol="0" anchor="ctr"/>
          <a:lstStyle/>
          <a:p>
            <a:pPr indent="0" marL="0">
              <a:buNone/>
            </a:pPr>
            <a:r>
              <a:rPr lang="en-US" sz="1500" dirty="0">
                <a:solidFill>
                  <a:srgbClr val="56666B"/>
                </a:solidFill>
                <a:latin typeface="Calibri" pitchFamily="34" charset="0"/>
                <a:ea typeface="Calibri" pitchFamily="34" charset="-122"/>
                <a:cs typeface="Calibri" pitchFamily="34" charset="-120"/>
              </a:rPr>
              <a:t>Following a plan</a:t>
            </a:r>
            <a:endParaRPr lang="en-US" sz="1500" dirty="0"/>
          </a:p>
        </p:txBody>
      </p:sp>
      <p:sp>
        <p:nvSpPr>
          <p:cNvPr id="25" name="Text 23"/>
          <p:cNvSpPr/>
          <p:nvPr/>
        </p:nvSpPr>
        <p:spPr>
          <a:xfrm>
            <a:off x="566928" y="6108192"/>
            <a:ext cx="11057839" cy="438912"/>
          </a:xfrm>
          <a:prstGeom prst="rect">
            <a:avLst/>
          </a:prstGeom>
          <a:noFill/>
          <a:ln/>
        </p:spPr>
        <p:txBody>
          <a:bodyPr wrap="square" lIns="0" tIns="0" rIns="0" bIns="0" rtlCol="0" anchor="ctr"/>
          <a:lstStyle/>
          <a:p>
            <a:pPr indent="0" marL="0">
              <a:lnSpc>
                <a:spcPts val="1500"/>
              </a:lnSpc>
              <a:buNone/>
            </a:pPr>
            <a:r>
              <a:rPr lang="en-US" sz="1050" dirty="0">
                <a:solidFill>
                  <a:srgbClr val="E0512B"/>
                </a:solidFill>
                <a:latin typeface="Courier New" pitchFamily="34" charset="0"/>
                <a:ea typeface="Courier New" pitchFamily="34" charset="-122"/>
                <a:cs typeface="Courier New" pitchFamily="34" charset="-120"/>
              </a:rPr>
              <a:t>The right column still has value. The left column has MORE value — that nuance gets lost constantly.</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20" kern="0" dirty="0">
                <a:solidFill>
                  <a:srgbClr val="E0512B"/>
                </a:solidFill>
                <a:latin typeface="Courier New" pitchFamily="34" charset="0"/>
                <a:ea typeface="Courier New" pitchFamily="34" charset="-122"/>
                <a:cs typeface="Courier New" pitchFamily="34" charset="-120"/>
              </a:rPr>
              <a:t>02 / THE STRUCTURAL DIFFERENCE</a:t>
            </a:r>
            <a:endParaRPr lang="en-US" sz="1100" dirty="0"/>
          </a:p>
        </p:txBody>
      </p:sp>
      <p:sp>
        <p:nvSpPr>
          <p:cNvPr id="3" name="Text 1"/>
          <p:cNvSpPr/>
          <p:nvPr/>
        </p:nvSpPr>
        <p:spPr>
          <a:xfrm>
            <a:off x="566928" y="676656"/>
            <a:ext cx="11057839" cy="658368"/>
          </a:xfrm>
          <a:prstGeom prst="rect">
            <a:avLst/>
          </a:prstGeom>
          <a:noFill/>
          <a:ln/>
        </p:spPr>
        <p:txBody>
          <a:bodyPr wrap="square" lIns="0" tIns="0" rIns="0" bIns="0" rtlCol="0" anchor="ctr"/>
          <a:lstStyle/>
          <a:p>
            <a:pPr algn="l" indent="0" marL="0">
              <a:buNone/>
            </a:pPr>
            <a:r>
              <a:rPr lang="en-US" sz="3400" b="1" dirty="0">
                <a:solidFill>
                  <a:srgbClr val="121D24"/>
                </a:solidFill>
                <a:latin typeface="Calibri" pitchFamily="34" charset="0"/>
                <a:ea typeface="Calibri" pitchFamily="34" charset="-122"/>
                <a:cs typeface="Calibri" pitchFamily="34" charset="-120"/>
              </a:rPr>
              <a:t>One long bet versus many short bets</a:t>
            </a:r>
            <a:endParaRPr lang="en-US" sz="3400" dirty="0"/>
          </a:p>
        </p:txBody>
      </p:sp>
      <p:sp>
        <p:nvSpPr>
          <p:cNvPr id="4" name="Text 2"/>
          <p:cNvSpPr/>
          <p:nvPr/>
        </p:nvSpPr>
        <p:spPr>
          <a:xfrm>
            <a:off x="566928" y="1536192"/>
            <a:ext cx="2743200" cy="256032"/>
          </a:xfrm>
          <a:prstGeom prst="rect">
            <a:avLst/>
          </a:prstGeom>
          <a:noFill/>
          <a:ln/>
        </p:spPr>
        <p:txBody>
          <a:bodyPr wrap="square" lIns="0" tIns="0" rIns="0" bIns="0" rtlCol="0" anchor="ctr"/>
          <a:lstStyle/>
          <a:p>
            <a:pPr indent="0" marL="0">
              <a:buNone/>
            </a:pPr>
            <a:r>
              <a:rPr lang="en-US" sz="1150" b="1" spc="180" kern="0" dirty="0">
                <a:solidFill>
                  <a:srgbClr val="6B7A7F"/>
                </a:solidFill>
                <a:latin typeface="Courier New" pitchFamily="34" charset="0"/>
                <a:ea typeface="Courier New" pitchFamily="34" charset="-122"/>
                <a:cs typeface="Courier New" pitchFamily="34" charset="-120"/>
              </a:rPr>
              <a:t>WATERFALL</a:t>
            </a:r>
            <a:endParaRPr lang="en-US" sz="1150" dirty="0"/>
          </a:p>
        </p:txBody>
      </p:sp>
      <p:sp>
        <p:nvSpPr>
          <p:cNvPr id="5" name="Shape 3"/>
          <p:cNvSpPr/>
          <p:nvPr/>
        </p:nvSpPr>
        <p:spPr>
          <a:xfrm>
            <a:off x="566928" y="1883664"/>
            <a:ext cx="1975104" cy="713232"/>
          </a:xfrm>
          <a:prstGeom prst="roundRect">
            <a:avLst>
              <a:gd name="adj" fmla="val 10256"/>
            </a:avLst>
          </a:prstGeom>
          <a:solidFill>
            <a:srgbClr val="EDF1F0"/>
          </a:solidFill>
          <a:ln w="12700">
            <a:solidFill>
              <a:srgbClr val="C8D4D1"/>
            </a:solidFill>
            <a:prstDash val="solid"/>
          </a:ln>
        </p:spPr>
      </p:sp>
      <p:sp>
        <p:nvSpPr>
          <p:cNvPr id="6" name="Text 4"/>
          <p:cNvSpPr/>
          <p:nvPr/>
        </p:nvSpPr>
        <p:spPr>
          <a:xfrm>
            <a:off x="566928" y="1883664"/>
            <a:ext cx="1975104" cy="713232"/>
          </a:xfrm>
          <a:prstGeom prst="rect">
            <a:avLst/>
          </a:prstGeom>
          <a:noFill/>
          <a:ln/>
        </p:spPr>
        <p:txBody>
          <a:bodyPr wrap="square" lIns="0" tIns="0" rIns="0" bIns="0" rtlCol="0" anchor="ctr"/>
          <a:lstStyle/>
          <a:p>
            <a:pPr algn="ctr" indent="0" marL="0">
              <a:buNone/>
            </a:pPr>
            <a:r>
              <a:rPr lang="en-US" sz="1300" dirty="0">
                <a:solidFill>
                  <a:srgbClr val="121D24"/>
                </a:solidFill>
                <a:latin typeface="Calibri" pitchFamily="34" charset="0"/>
                <a:ea typeface="Calibri" pitchFamily="34" charset="-122"/>
                <a:cs typeface="Calibri" pitchFamily="34" charset="-120"/>
              </a:rPr>
              <a:t>Requirements</a:t>
            </a:r>
            <a:endParaRPr lang="en-US" sz="1300" dirty="0"/>
          </a:p>
        </p:txBody>
      </p:sp>
      <p:sp>
        <p:nvSpPr>
          <p:cNvPr id="7" name="Shape 5"/>
          <p:cNvSpPr/>
          <p:nvPr/>
        </p:nvSpPr>
        <p:spPr>
          <a:xfrm>
            <a:off x="2596896" y="2139696"/>
            <a:ext cx="210312" cy="201168"/>
          </a:xfrm>
          <a:prstGeom prst="rightArrow">
            <a:avLst/>
          </a:prstGeom>
          <a:solidFill>
            <a:srgbClr val="C8D4D1"/>
          </a:solidFill>
          <a:ln/>
        </p:spPr>
      </p:sp>
      <p:sp>
        <p:nvSpPr>
          <p:cNvPr id="8" name="Shape 6"/>
          <p:cNvSpPr/>
          <p:nvPr/>
        </p:nvSpPr>
        <p:spPr>
          <a:xfrm>
            <a:off x="2862072" y="1883664"/>
            <a:ext cx="1975104" cy="713232"/>
          </a:xfrm>
          <a:prstGeom prst="roundRect">
            <a:avLst>
              <a:gd name="adj" fmla="val 10256"/>
            </a:avLst>
          </a:prstGeom>
          <a:solidFill>
            <a:srgbClr val="EDF1F0"/>
          </a:solidFill>
          <a:ln w="12700">
            <a:solidFill>
              <a:srgbClr val="C8D4D1"/>
            </a:solidFill>
            <a:prstDash val="solid"/>
          </a:ln>
        </p:spPr>
      </p:sp>
      <p:sp>
        <p:nvSpPr>
          <p:cNvPr id="9" name="Text 7"/>
          <p:cNvSpPr/>
          <p:nvPr/>
        </p:nvSpPr>
        <p:spPr>
          <a:xfrm>
            <a:off x="2862072" y="1883664"/>
            <a:ext cx="1975104" cy="713232"/>
          </a:xfrm>
          <a:prstGeom prst="rect">
            <a:avLst/>
          </a:prstGeom>
          <a:noFill/>
          <a:ln/>
        </p:spPr>
        <p:txBody>
          <a:bodyPr wrap="square" lIns="0" tIns="0" rIns="0" bIns="0" rtlCol="0" anchor="ctr"/>
          <a:lstStyle/>
          <a:p>
            <a:pPr algn="ctr" indent="0" marL="0">
              <a:buNone/>
            </a:pPr>
            <a:r>
              <a:rPr lang="en-US" sz="1300" dirty="0">
                <a:solidFill>
                  <a:srgbClr val="121D24"/>
                </a:solidFill>
                <a:latin typeface="Calibri" pitchFamily="34" charset="0"/>
                <a:ea typeface="Calibri" pitchFamily="34" charset="-122"/>
                <a:cs typeface="Calibri" pitchFamily="34" charset="-120"/>
              </a:rPr>
              <a:t>Design</a:t>
            </a:r>
            <a:endParaRPr lang="en-US" sz="1300" dirty="0"/>
          </a:p>
        </p:txBody>
      </p:sp>
      <p:sp>
        <p:nvSpPr>
          <p:cNvPr id="10" name="Shape 8"/>
          <p:cNvSpPr/>
          <p:nvPr/>
        </p:nvSpPr>
        <p:spPr>
          <a:xfrm>
            <a:off x="4892040" y="2139696"/>
            <a:ext cx="210312" cy="201168"/>
          </a:xfrm>
          <a:prstGeom prst="rightArrow">
            <a:avLst/>
          </a:prstGeom>
          <a:solidFill>
            <a:srgbClr val="C8D4D1"/>
          </a:solidFill>
          <a:ln/>
        </p:spPr>
      </p:sp>
      <p:sp>
        <p:nvSpPr>
          <p:cNvPr id="11" name="Shape 9"/>
          <p:cNvSpPr/>
          <p:nvPr/>
        </p:nvSpPr>
        <p:spPr>
          <a:xfrm>
            <a:off x="5157216" y="1883664"/>
            <a:ext cx="1975104" cy="713232"/>
          </a:xfrm>
          <a:prstGeom prst="roundRect">
            <a:avLst>
              <a:gd name="adj" fmla="val 10256"/>
            </a:avLst>
          </a:prstGeom>
          <a:solidFill>
            <a:srgbClr val="EDF1F0"/>
          </a:solidFill>
          <a:ln w="12700">
            <a:solidFill>
              <a:srgbClr val="C8D4D1"/>
            </a:solidFill>
            <a:prstDash val="solid"/>
          </a:ln>
        </p:spPr>
      </p:sp>
      <p:sp>
        <p:nvSpPr>
          <p:cNvPr id="12" name="Text 10"/>
          <p:cNvSpPr/>
          <p:nvPr/>
        </p:nvSpPr>
        <p:spPr>
          <a:xfrm>
            <a:off x="5157216" y="1883664"/>
            <a:ext cx="1975104" cy="713232"/>
          </a:xfrm>
          <a:prstGeom prst="rect">
            <a:avLst/>
          </a:prstGeom>
          <a:noFill/>
          <a:ln/>
        </p:spPr>
        <p:txBody>
          <a:bodyPr wrap="square" lIns="0" tIns="0" rIns="0" bIns="0" rtlCol="0" anchor="ctr"/>
          <a:lstStyle/>
          <a:p>
            <a:pPr algn="ctr" indent="0" marL="0">
              <a:buNone/>
            </a:pPr>
            <a:r>
              <a:rPr lang="en-US" sz="1300" dirty="0">
                <a:solidFill>
                  <a:srgbClr val="121D24"/>
                </a:solidFill>
                <a:latin typeface="Calibri" pitchFamily="34" charset="0"/>
                <a:ea typeface="Calibri" pitchFamily="34" charset="-122"/>
                <a:cs typeface="Calibri" pitchFamily="34" charset="-120"/>
              </a:rPr>
              <a:t>Build</a:t>
            </a:r>
            <a:endParaRPr lang="en-US" sz="1300" dirty="0"/>
          </a:p>
        </p:txBody>
      </p:sp>
      <p:sp>
        <p:nvSpPr>
          <p:cNvPr id="13" name="Shape 11"/>
          <p:cNvSpPr/>
          <p:nvPr/>
        </p:nvSpPr>
        <p:spPr>
          <a:xfrm>
            <a:off x="7187184" y="2139696"/>
            <a:ext cx="210312" cy="201168"/>
          </a:xfrm>
          <a:prstGeom prst="rightArrow">
            <a:avLst/>
          </a:prstGeom>
          <a:solidFill>
            <a:srgbClr val="C8D4D1"/>
          </a:solidFill>
          <a:ln/>
        </p:spPr>
      </p:sp>
      <p:sp>
        <p:nvSpPr>
          <p:cNvPr id="14" name="Shape 12"/>
          <p:cNvSpPr/>
          <p:nvPr/>
        </p:nvSpPr>
        <p:spPr>
          <a:xfrm>
            <a:off x="7452360" y="1883664"/>
            <a:ext cx="1975104" cy="713232"/>
          </a:xfrm>
          <a:prstGeom prst="roundRect">
            <a:avLst>
              <a:gd name="adj" fmla="val 10256"/>
            </a:avLst>
          </a:prstGeom>
          <a:solidFill>
            <a:srgbClr val="EDF1F0"/>
          </a:solidFill>
          <a:ln w="12700">
            <a:solidFill>
              <a:srgbClr val="C8D4D1"/>
            </a:solidFill>
            <a:prstDash val="solid"/>
          </a:ln>
        </p:spPr>
      </p:sp>
      <p:sp>
        <p:nvSpPr>
          <p:cNvPr id="15" name="Text 13"/>
          <p:cNvSpPr/>
          <p:nvPr/>
        </p:nvSpPr>
        <p:spPr>
          <a:xfrm>
            <a:off x="7452360" y="1883664"/>
            <a:ext cx="1975104" cy="713232"/>
          </a:xfrm>
          <a:prstGeom prst="rect">
            <a:avLst/>
          </a:prstGeom>
          <a:noFill/>
          <a:ln/>
        </p:spPr>
        <p:txBody>
          <a:bodyPr wrap="square" lIns="0" tIns="0" rIns="0" bIns="0" rtlCol="0" anchor="ctr"/>
          <a:lstStyle/>
          <a:p>
            <a:pPr algn="ctr" indent="0" marL="0">
              <a:buNone/>
            </a:pPr>
            <a:r>
              <a:rPr lang="en-US" sz="1300" dirty="0">
                <a:solidFill>
                  <a:srgbClr val="121D24"/>
                </a:solidFill>
                <a:latin typeface="Calibri" pitchFamily="34" charset="0"/>
                <a:ea typeface="Calibri" pitchFamily="34" charset="-122"/>
                <a:cs typeface="Calibri" pitchFamily="34" charset="-120"/>
              </a:rPr>
              <a:t>Test</a:t>
            </a:r>
            <a:endParaRPr lang="en-US" sz="1300" dirty="0"/>
          </a:p>
        </p:txBody>
      </p:sp>
      <p:sp>
        <p:nvSpPr>
          <p:cNvPr id="16" name="Shape 14"/>
          <p:cNvSpPr/>
          <p:nvPr/>
        </p:nvSpPr>
        <p:spPr>
          <a:xfrm>
            <a:off x="9482328" y="2139696"/>
            <a:ext cx="210312" cy="201168"/>
          </a:xfrm>
          <a:prstGeom prst="rightArrow">
            <a:avLst/>
          </a:prstGeom>
          <a:solidFill>
            <a:srgbClr val="C8D4D1"/>
          </a:solidFill>
          <a:ln/>
        </p:spPr>
      </p:sp>
      <p:sp>
        <p:nvSpPr>
          <p:cNvPr id="17" name="Shape 15"/>
          <p:cNvSpPr/>
          <p:nvPr/>
        </p:nvSpPr>
        <p:spPr>
          <a:xfrm>
            <a:off x="9747504" y="1883664"/>
            <a:ext cx="1975104" cy="713232"/>
          </a:xfrm>
          <a:prstGeom prst="roundRect">
            <a:avLst>
              <a:gd name="adj" fmla="val 10256"/>
            </a:avLst>
          </a:prstGeom>
          <a:solidFill>
            <a:srgbClr val="EDF1F0"/>
          </a:solidFill>
          <a:ln w="12700">
            <a:solidFill>
              <a:srgbClr val="C8D4D1"/>
            </a:solidFill>
            <a:prstDash val="solid"/>
          </a:ln>
        </p:spPr>
      </p:sp>
      <p:sp>
        <p:nvSpPr>
          <p:cNvPr id="18" name="Text 16"/>
          <p:cNvSpPr/>
          <p:nvPr/>
        </p:nvSpPr>
        <p:spPr>
          <a:xfrm>
            <a:off x="9747504" y="1883664"/>
            <a:ext cx="1975104" cy="713232"/>
          </a:xfrm>
          <a:prstGeom prst="rect">
            <a:avLst/>
          </a:prstGeom>
          <a:noFill/>
          <a:ln/>
        </p:spPr>
        <p:txBody>
          <a:bodyPr wrap="square" lIns="0" tIns="0" rIns="0" bIns="0" rtlCol="0" anchor="ctr"/>
          <a:lstStyle/>
          <a:p>
            <a:pPr algn="ctr" indent="0" marL="0">
              <a:buNone/>
            </a:pPr>
            <a:r>
              <a:rPr lang="en-US" sz="1300" dirty="0">
                <a:solidFill>
                  <a:srgbClr val="121D24"/>
                </a:solidFill>
                <a:latin typeface="Calibri" pitchFamily="34" charset="0"/>
                <a:ea typeface="Calibri" pitchFamily="34" charset="-122"/>
                <a:cs typeface="Calibri" pitchFamily="34" charset="-120"/>
              </a:rPr>
              <a:t>Release</a:t>
            </a:r>
            <a:endParaRPr lang="en-US" sz="1300" dirty="0"/>
          </a:p>
        </p:txBody>
      </p:sp>
      <p:sp>
        <p:nvSpPr>
          <p:cNvPr id="19" name="Shape 17"/>
          <p:cNvSpPr/>
          <p:nvPr/>
        </p:nvSpPr>
        <p:spPr>
          <a:xfrm>
            <a:off x="932688" y="2761488"/>
            <a:ext cx="10149840" cy="146304"/>
          </a:xfrm>
          <a:prstGeom prst="leftArrow">
            <a:avLst/>
          </a:prstGeom>
          <a:solidFill>
            <a:srgbClr val="E0512B"/>
          </a:solidFill>
          <a:ln/>
        </p:spPr>
      </p:sp>
      <p:sp>
        <p:nvSpPr>
          <p:cNvPr id="20" name="Text 18"/>
          <p:cNvSpPr/>
          <p:nvPr/>
        </p:nvSpPr>
        <p:spPr>
          <a:xfrm>
            <a:off x="566928" y="2962656"/>
            <a:ext cx="7315200" cy="256032"/>
          </a:xfrm>
          <a:prstGeom prst="rect">
            <a:avLst/>
          </a:prstGeom>
          <a:noFill/>
          <a:ln/>
        </p:spPr>
        <p:txBody>
          <a:bodyPr wrap="square" lIns="0" tIns="0" rIns="0" bIns="0" rtlCol="0" anchor="ctr"/>
          <a:lstStyle/>
          <a:p>
            <a:pPr indent="0" marL="0">
              <a:buNone/>
            </a:pPr>
            <a:r>
              <a:rPr lang="en-US" sz="1050" dirty="0">
                <a:solidFill>
                  <a:srgbClr val="E0512B"/>
                </a:solidFill>
                <a:latin typeface="Courier New" pitchFamily="34" charset="0"/>
                <a:ea typeface="Courier New" pitchFamily="34" charset="-122"/>
                <a:cs typeface="Courier New" pitchFamily="34" charset="-120"/>
              </a:rPr>
              <a:t>feedback arrives after months — correction is expensive</a:t>
            </a:r>
            <a:endParaRPr lang="en-US" sz="1050" dirty="0"/>
          </a:p>
        </p:txBody>
      </p:sp>
      <p:sp>
        <p:nvSpPr>
          <p:cNvPr id="21" name="Text 19"/>
          <p:cNvSpPr/>
          <p:nvPr/>
        </p:nvSpPr>
        <p:spPr>
          <a:xfrm>
            <a:off x="566928" y="3675888"/>
            <a:ext cx="2743200" cy="256032"/>
          </a:xfrm>
          <a:prstGeom prst="rect">
            <a:avLst/>
          </a:prstGeom>
          <a:noFill/>
          <a:ln/>
        </p:spPr>
        <p:txBody>
          <a:bodyPr wrap="square" lIns="0" tIns="0" rIns="0" bIns="0" rtlCol="0" anchor="ctr"/>
          <a:lstStyle/>
          <a:p>
            <a:pPr indent="0" marL="0">
              <a:buNone/>
            </a:pPr>
            <a:r>
              <a:rPr lang="en-US" sz="1150" b="1" spc="180" kern="0" dirty="0">
                <a:solidFill>
                  <a:srgbClr val="6B7A7F"/>
                </a:solidFill>
                <a:latin typeface="Courier New" pitchFamily="34" charset="0"/>
                <a:ea typeface="Courier New" pitchFamily="34" charset="-122"/>
                <a:cs typeface="Courier New" pitchFamily="34" charset="-120"/>
              </a:rPr>
              <a:t>AGILE</a:t>
            </a:r>
            <a:endParaRPr lang="en-US" sz="1150" dirty="0"/>
          </a:p>
        </p:txBody>
      </p:sp>
      <p:sp>
        <p:nvSpPr>
          <p:cNvPr id="22" name="Shape 20"/>
          <p:cNvSpPr/>
          <p:nvPr/>
        </p:nvSpPr>
        <p:spPr>
          <a:xfrm>
            <a:off x="566928" y="4023360"/>
            <a:ext cx="2514600" cy="969264"/>
          </a:xfrm>
          <a:prstGeom prst="roundRect">
            <a:avLst>
              <a:gd name="adj" fmla="val 8491"/>
            </a:avLst>
          </a:prstGeom>
          <a:solidFill>
            <a:srgbClr val="0F4C42"/>
          </a:solidFill>
          <a:ln/>
          <a:effectLst>
            <a:outerShdw sx="100000" sy="100000" kx="0" ky="0" algn="bl" rotWithShape="0" blurRad="127000" dist="38100" dir="5400000">
              <a:srgbClr val="0B1418">
                <a:alpha val="13000"/>
              </a:srgbClr>
            </a:outerShdw>
          </a:effectLst>
        </p:spPr>
      </p:sp>
      <p:sp>
        <p:nvSpPr>
          <p:cNvPr id="23" name="Text 21"/>
          <p:cNvSpPr/>
          <p:nvPr/>
        </p:nvSpPr>
        <p:spPr>
          <a:xfrm>
            <a:off x="566928" y="4133088"/>
            <a:ext cx="2514600" cy="27432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Iteration 1</a:t>
            </a:r>
            <a:endParaRPr lang="en-US" sz="1350" dirty="0"/>
          </a:p>
        </p:txBody>
      </p:sp>
      <p:sp>
        <p:nvSpPr>
          <p:cNvPr id="24" name="Text 22"/>
          <p:cNvSpPr/>
          <p:nvPr/>
        </p:nvSpPr>
        <p:spPr>
          <a:xfrm>
            <a:off x="566928" y="4443984"/>
            <a:ext cx="2514600" cy="256032"/>
          </a:xfrm>
          <a:prstGeom prst="rect">
            <a:avLst/>
          </a:prstGeom>
          <a:noFill/>
          <a:ln/>
        </p:spPr>
        <p:txBody>
          <a:bodyPr wrap="square" lIns="0" tIns="0" rIns="0" bIns="0" rtlCol="0" anchor="ctr"/>
          <a:lstStyle/>
          <a:p>
            <a:pPr algn="ctr" indent="0" marL="0">
              <a:buNone/>
            </a:pPr>
            <a:r>
              <a:rPr lang="en-US" sz="950" dirty="0">
                <a:solidFill>
                  <a:srgbClr val="A6C7BF"/>
                </a:solidFill>
                <a:latin typeface="Courier New" pitchFamily="34" charset="0"/>
                <a:ea typeface="Courier New" pitchFamily="34" charset="-122"/>
                <a:cs typeface="Courier New" pitchFamily="34" charset="-120"/>
              </a:rPr>
              <a:t>plan · build · test · ship</a:t>
            </a:r>
            <a:endParaRPr lang="en-US" sz="950" dirty="0"/>
          </a:p>
        </p:txBody>
      </p:sp>
      <p:sp>
        <p:nvSpPr>
          <p:cNvPr id="25" name="Shape 23"/>
          <p:cNvSpPr/>
          <p:nvPr/>
        </p:nvSpPr>
        <p:spPr>
          <a:xfrm>
            <a:off x="1024128" y="5120640"/>
            <a:ext cx="1600200" cy="118872"/>
          </a:xfrm>
          <a:prstGeom prst="leftArrow">
            <a:avLst/>
          </a:prstGeom>
          <a:solidFill>
            <a:srgbClr val="2A8C7A"/>
          </a:solidFill>
          <a:ln/>
        </p:spPr>
      </p:sp>
      <p:sp>
        <p:nvSpPr>
          <p:cNvPr id="26" name="Shape 24"/>
          <p:cNvSpPr/>
          <p:nvPr/>
        </p:nvSpPr>
        <p:spPr>
          <a:xfrm>
            <a:off x="3163824" y="4407408"/>
            <a:ext cx="237744" cy="201168"/>
          </a:xfrm>
          <a:prstGeom prst="rightArrow">
            <a:avLst/>
          </a:prstGeom>
          <a:solidFill>
            <a:srgbClr val="C8D4D1"/>
          </a:solidFill>
          <a:ln/>
        </p:spPr>
      </p:sp>
      <p:sp>
        <p:nvSpPr>
          <p:cNvPr id="27" name="Shape 25"/>
          <p:cNvSpPr/>
          <p:nvPr/>
        </p:nvSpPr>
        <p:spPr>
          <a:xfrm>
            <a:off x="3465576" y="4023360"/>
            <a:ext cx="2514600" cy="969264"/>
          </a:xfrm>
          <a:prstGeom prst="roundRect">
            <a:avLst>
              <a:gd name="adj" fmla="val 8491"/>
            </a:avLst>
          </a:prstGeom>
          <a:solidFill>
            <a:srgbClr val="0F4C42"/>
          </a:solidFill>
          <a:ln/>
          <a:effectLst>
            <a:outerShdw sx="100000" sy="100000" kx="0" ky="0" algn="bl" rotWithShape="0" blurRad="127000" dist="38100" dir="5400000">
              <a:srgbClr val="0B1418">
                <a:alpha val="13000"/>
              </a:srgbClr>
            </a:outerShdw>
          </a:effectLst>
        </p:spPr>
      </p:sp>
      <p:sp>
        <p:nvSpPr>
          <p:cNvPr id="28" name="Text 26"/>
          <p:cNvSpPr/>
          <p:nvPr/>
        </p:nvSpPr>
        <p:spPr>
          <a:xfrm>
            <a:off x="3465576" y="4133088"/>
            <a:ext cx="2514600" cy="27432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Iteration 2</a:t>
            </a:r>
            <a:endParaRPr lang="en-US" sz="1350" dirty="0"/>
          </a:p>
        </p:txBody>
      </p:sp>
      <p:sp>
        <p:nvSpPr>
          <p:cNvPr id="29" name="Text 27"/>
          <p:cNvSpPr/>
          <p:nvPr/>
        </p:nvSpPr>
        <p:spPr>
          <a:xfrm>
            <a:off x="3465576" y="4443984"/>
            <a:ext cx="2514600" cy="256032"/>
          </a:xfrm>
          <a:prstGeom prst="rect">
            <a:avLst/>
          </a:prstGeom>
          <a:noFill/>
          <a:ln/>
        </p:spPr>
        <p:txBody>
          <a:bodyPr wrap="square" lIns="0" tIns="0" rIns="0" bIns="0" rtlCol="0" anchor="ctr"/>
          <a:lstStyle/>
          <a:p>
            <a:pPr algn="ctr" indent="0" marL="0">
              <a:buNone/>
            </a:pPr>
            <a:r>
              <a:rPr lang="en-US" sz="950" dirty="0">
                <a:solidFill>
                  <a:srgbClr val="A6C7BF"/>
                </a:solidFill>
                <a:latin typeface="Courier New" pitchFamily="34" charset="0"/>
                <a:ea typeface="Courier New" pitchFamily="34" charset="-122"/>
                <a:cs typeface="Courier New" pitchFamily="34" charset="-120"/>
              </a:rPr>
              <a:t>plan · build · test · ship</a:t>
            </a:r>
            <a:endParaRPr lang="en-US" sz="950" dirty="0"/>
          </a:p>
        </p:txBody>
      </p:sp>
      <p:sp>
        <p:nvSpPr>
          <p:cNvPr id="30" name="Shape 28"/>
          <p:cNvSpPr/>
          <p:nvPr/>
        </p:nvSpPr>
        <p:spPr>
          <a:xfrm>
            <a:off x="3922776" y="5120640"/>
            <a:ext cx="1600200" cy="118872"/>
          </a:xfrm>
          <a:prstGeom prst="leftArrow">
            <a:avLst/>
          </a:prstGeom>
          <a:solidFill>
            <a:srgbClr val="2A8C7A"/>
          </a:solidFill>
          <a:ln/>
        </p:spPr>
      </p:sp>
      <p:sp>
        <p:nvSpPr>
          <p:cNvPr id="31" name="Shape 29"/>
          <p:cNvSpPr/>
          <p:nvPr/>
        </p:nvSpPr>
        <p:spPr>
          <a:xfrm>
            <a:off x="6062472" y="4407408"/>
            <a:ext cx="237744" cy="201168"/>
          </a:xfrm>
          <a:prstGeom prst="rightArrow">
            <a:avLst/>
          </a:prstGeom>
          <a:solidFill>
            <a:srgbClr val="C8D4D1"/>
          </a:solidFill>
          <a:ln/>
        </p:spPr>
      </p:sp>
      <p:sp>
        <p:nvSpPr>
          <p:cNvPr id="32" name="Shape 30"/>
          <p:cNvSpPr/>
          <p:nvPr/>
        </p:nvSpPr>
        <p:spPr>
          <a:xfrm>
            <a:off x="6364224" y="4023360"/>
            <a:ext cx="2514600" cy="969264"/>
          </a:xfrm>
          <a:prstGeom prst="roundRect">
            <a:avLst>
              <a:gd name="adj" fmla="val 8491"/>
            </a:avLst>
          </a:prstGeom>
          <a:solidFill>
            <a:srgbClr val="0F4C42"/>
          </a:solidFill>
          <a:ln/>
          <a:effectLst>
            <a:outerShdw sx="100000" sy="100000" kx="0" ky="0" algn="bl" rotWithShape="0" blurRad="127000" dist="38100" dir="5400000">
              <a:srgbClr val="0B1418">
                <a:alpha val="13000"/>
              </a:srgbClr>
            </a:outerShdw>
          </a:effectLst>
        </p:spPr>
      </p:sp>
      <p:sp>
        <p:nvSpPr>
          <p:cNvPr id="33" name="Text 31"/>
          <p:cNvSpPr/>
          <p:nvPr/>
        </p:nvSpPr>
        <p:spPr>
          <a:xfrm>
            <a:off x="6364224" y="4133088"/>
            <a:ext cx="2514600" cy="27432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Iteration 3</a:t>
            </a:r>
            <a:endParaRPr lang="en-US" sz="1350" dirty="0"/>
          </a:p>
        </p:txBody>
      </p:sp>
      <p:sp>
        <p:nvSpPr>
          <p:cNvPr id="34" name="Text 32"/>
          <p:cNvSpPr/>
          <p:nvPr/>
        </p:nvSpPr>
        <p:spPr>
          <a:xfrm>
            <a:off x="6364224" y="4443984"/>
            <a:ext cx="2514600" cy="256032"/>
          </a:xfrm>
          <a:prstGeom prst="rect">
            <a:avLst/>
          </a:prstGeom>
          <a:noFill/>
          <a:ln/>
        </p:spPr>
        <p:txBody>
          <a:bodyPr wrap="square" lIns="0" tIns="0" rIns="0" bIns="0" rtlCol="0" anchor="ctr"/>
          <a:lstStyle/>
          <a:p>
            <a:pPr algn="ctr" indent="0" marL="0">
              <a:buNone/>
            </a:pPr>
            <a:r>
              <a:rPr lang="en-US" sz="950" dirty="0">
                <a:solidFill>
                  <a:srgbClr val="A6C7BF"/>
                </a:solidFill>
                <a:latin typeface="Courier New" pitchFamily="34" charset="0"/>
                <a:ea typeface="Courier New" pitchFamily="34" charset="-122"/>
                <a:cs typeface="Courier New" pitchFamily="34" charset="-120"/>
              </a:rPr>
              <a:t>plan · build · test · ship</a:t>
            </a:r>
            <a:endParaRPr lang="en-US" sz="950" dirty="0"/>
          </a:p>
        </p:txBody>
      </p:sp>
      <p:sp>
        <p:nvSpPr>
          <p:cNvPr id="35" name="Shape 33"/>
          <p:cNvSpPr/>
          <p:nvPr/>
        </p:nvSpPr>
        <p:spPr>
          <a:xfrm>
            <a:off x="6821424" y="5120640"/>
            <a:ext cx="1600200" cy="118872"/>
          </a:xfrm>
          <a:prstGeom prst="leftArrow">
            <a:avLst/>
          </a:prstGeom>
          <a:solidFill>
            <a:srgbClr val="2A8C7A"/>
          </a:solidFill>
          <a:ln/>
        </p:spPr>
      </p:sp>
      <p:sp>
        <p:nvSpPr>
          <p:cNvPr id="36" name="Shape 34"/>
          <p:cNvSpPr/>
          <p:nvPr/>
        </p:nvSpPr>
        <p:spPr>
          <a:xfrm>
            <a:off x="8961120" y="4407408"/>
            <a:ext cx="237744" cy="201168"/>
          </a:xfrm>
          <a:prstGeom prst="rightArrow">
            <a:avLst/>
          </a:prstGeom>
          <a:solidFill>
            <a:srgbClr val="C8D4D1"/>
          </a:solidFill>
          <a:ln/>
        </p:spPr>
      </p:sp>
      <p:sp>
        <p:nvSpPr>
          <p:cNvPr id="37" name="Shape 35"/>
          <p:cNvSpPr/>
          <p:nvPr/>
        </p:nvSpPr>
        <p:spPr>
          <a:xfrm>
            <a:off x="9262872" y="4023360"/>
            <a:ext cx="2514600" cy="969264"/>
          </a:xfrm>
          <a:prstGeom prst="roundRect">
            <a:avLst>
              <a:gd name="adj" fmla="val 8491"/>
            </a:avLst>
          </a:prstGeom>
          <a:solidFill>
            <a:srgbClr val="D7E8E2"/>
          </a:solidFill>
          <a:ln/>
          <a:effectLst>
            <a:outerShdw sx="100000" sy="100000" kx="0" ky="0" algn="bl" rotWithShape="0" blurRad="127000" dist="38100" dir="5400000">
              <a:srgbClr val="0B1418">
                <a:alpha val="13000"/>
              </a:srgbClr>
            </a:outerShdw>
          </a:effectLst>
        </p:spPr>
      </p:sp>
      <p:sp>
        <p:nvSpPr>
          <p:cNvPr id="38" name="Text 36"/>
          <p:cNvSpPr/>
          <p:nvPr/>
        </p:nvSpPr>
        <p:spPr>
          <a:xfrm>
            <a:off x="9262872" y="4133088"/>
            <a:ext cx="2514600" cy="274320"/>
          </a:xfrm>
          <a:prstGeom prst="rect">
            <a:avLst/>
          </a:prstGeom>
          <a:noFill/>
          <a:ln/>
        </p:spPr>
        <p:txBody>
          <a:bodyPr wrap="square" lIns="0" tIns="0" rIns="0" bIns="0" rtlCol="0" anchor="ctr"/>
          <a:lstStyle/>
          <a:p>
            <a:pPr algn="ctr" indent="0" marL="0">
              <a:buNone/>
            </a:pPr>
            <a:r>
              <a:rPr lang="en-US" sz="1350" b="1" dirty="0">
                <a:solidFill>
                  <a:srgbClr val="0F4C42"/>
                </a:solidFill>
                <a:latin typeface="Calibri" pitchFamily="34" charset="0"/>
                <a:ea typeface="Calibri" pitchFamily="34" charset="-122"/>
                <a:cs typeface="Calibri" pitchFamily="34" charset="-120"/>
              </a:rPr>
              <a:t>Iteration N</a:t>
            </a:r>
            <a:endParaRPr lang="en-US" sz="1350" dirty="0"/>
          </a:p>
        </p:txBody>
      </p:sp>
      <p:sp>
        <p:nvSpPr>
          <p:cNvPr id="39" name="Text 37"/>
          <p:cNvSpPr/>
          <p:nvPr/>
        </p:nvSpPr>
        <p:spPr>
          <a:xfrm>
            <a:off x="9262872" y="4443984"/>
            <a:ext cx="2514600" cy="256032"/>
          </a:xfrm>
          <a:prstGeom prst="rect">
            <a:avLst/>
          </a:prstGeom>
          <a:noFill/>
          <a:ln/>
        </p:spPr>
        <p:txBody>
          <a:bodyPr wrap="square" lIns="0" tIns="0" rIns="0" bIns="0" rtlCol="0" anchor="ctr"/>
          <a:lstStyle/>
          <a:p>
            <a:pPr algn="ctr" indent="0" marL="0">
              <a:buNone/>
            </a:pPr>
            <a:r>
              <a:rPr lang="en-US" sz="950" dirty="0">
                <a:solidFill>
                  <a:srgbClr val="2A8C7A"/>
                </a:solidFill>
                <a:latin typeface="Courier New" pitchFamily="34" charset="0"/>
                <a:ea typeface="Courier New" pitchFamily="34" charset="-122"/>
                <a:cs typeface="Courier New" pitchFamily="34" charset="-120"/>
              </a:rPr>
              <a:t>plan · build · test · ship</a:t>
            </a:r>
            <a:endParaRPr lang="en-US" sz="950" dirty="0"/>
          </a:p>
        </p:txBody>
      </p:sp>
      <p:sp>
        <p:nvSpPr>
          <p:cNvPr id="40" name="Shape 38"/>
          <p:cNvSpPr/>
          <p:nvPr/>
        </p:nvSpPr>
        <p:spPr>
          <a:xfrm>
            <a:off x="9720072" y="5120640"/>
            <a:ext cx="1600200" cy="118872"/>
          </a:xfrm>
          <a:prstGeom prst="leftArrow">
            <a:avLst/>
          </a:prstGeom>
          <a:solidFill>
            <a:srgbClr val="2A8C7A"/>
          </a:solidFill>
          <a:ln/>
        </p:spPr>
      </p:sp>
      <p:sp>
        <p:nvSpPr>
          <p:cNvPr id="41" name="Text 39"/>
          <p:cNvSpPr/>
          <p:nvPr/>
        </p:nvSpPr>
        <p:spPr>
          <a:xfrm>
            <a:off x="566928" y="5321808"/>
            <a:ext cx="7315200" cy="256032"/>
          </a:xfrm>
          <a:prstGeom prst="rect">
            <a:avLst/>
          </a:prstGeom>
          <a:noFill/>
          <a:ln/>
        </p:spPr>
        <p:txBody>
          <a:bodyPr wrap="square" lIns="0" tIns="0" rIns="0" bIns="0" rtlCol="0" anchor="ctr"/>
          <a:lstStyle/>
          <a:p>
            <a:pPr indent="0" marL="0">
              <a:buNone/>
            </a:pPr>
            <a:r>
              <a:rPr lang="en-US" sz="1050" dirty="0">
                <a:solidFill>
                  <a:srgbClr val="2A8C7A"/>
                </a:solidFill>
                <a:latin typeface="Courier New" pitchFamily="34" charset="0"/>
                <a:ea typeface="Courier New" pitchFamily="34" charset="-122"/>
                <a:cs typeface="Courier New" pitchFamily="34" charset="-120"/>
              </a:rPr>
              <a:t>feedback arrives every 1–2 weeks — correction is cheap</a:t>
            </a:r>
            <a:endParaRPr lang="en-US" sz="1050" dirty="0"/>
          </a:p>
        </p:txBody>
      </p:sp>
      <p:sp>
        <p:nvSpPr>
          <p:cNvPr id="42" name="Shape 40"/>
          <p:cNvSpPr/>
          <p:nvPr/>
        </p:nvSpPr>
        <p:spPr>
          <a:xfrm>
            <a:off x="566928" y="5779008"/>
            <a:ext cx="11057839" cy="566928"/>
          </a:xfrm>
          <a:prstGeom prst="roundRect">
            <a:avLst>
              <a:gd name="adj" fmla="val 14516"/>
            </a:avLst>
          </a:prstGeom>
          <a:solidFill>
            <a:srgbClr val="121D24"/>
          </a:solidFill>
          <a:ln/>
          <a:effectLst>
            <a:outerShdw sx="100000" sy="100000" kx="0" ky="0" algn="bl" rotWithShape="0" blurRad="127000" dist="38100" dir="5400000">
              <a:srgbClr val="0B1418">
                <a:alpha val="13000"/>
              </a:srgbClr>
            </a:outerShdw>
          </a:effectLst>
        </p:spPr>
      </p:sp>
      <p:sp>
        <p:nvSpPr>
          <p:cNvPr id="43" name="Text 41"/>
          <p:cNvSpPr/>
          <p:nvPr/>
        </p:nvSpPr>
        <p:spPr>
          <a:xfrm>
            <a:off x="841248" y="5779008"/>
            <a:ext cx="10509199" cy="56692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The key difference is feedback latency. Waterfall discovers it was wrong at the end. Agile discovers it was wrong every two weeks, when correction is cheap.</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20" kern="0" dirty="0">
                <a:solidFill>
                  <a:srgbClr val="E0512B"/>
                </a:solidFill>
                <a:latin typeface="Courier New" pitchFamily="34" charset="0"/>
                <a:ea typeface="Courier New" pitchFamily="34" charset="-122"/>
                <a:cs typeface="Courier New" pitchFamily="34" charset="-120"/>
              </a:rPr>
              <a:t>03 / SCRUM</a:t>
            </a:r>
            <a:endParaRPr lang="en-US" sz="1100" dirty="0"/>
          </a:p>
        </p:txBody>
      </p:sp>
      <p:sp>
        <p:nvSpPr>
          <p:cNvPr id="3" name="Text 1"/>
          <p:cNvSpPr/>
          <p:nvPr/>
        </p:nvSpPr>
        <p:spPr>
          <a:xfrm>
            <a:off x="566928" y="676656"/>
            <a:ext cx="11057839" cy="658368"/>
          </a:xfrm>
          <a:prstGeom prst="rect">
            <a:avLst/>
          </a:prstGeom>
          <a:noFill/>
          <a:ln/>
        </p:spPr>
        <p:txBody>
          <a:bodyPr wrap="square" lIns="0" tIns="0" rIns="0" bIns="0" rtlCol="0" anchor="ctr"/>
          <a:lstStyle/>
          <a:p>
            <a:pPr algn="l" indent="0" marL="0">
              <a:buNone/>
            </a:pPr>
            <a:r>
              <a:rPr lang="en-US" sz="3400" b="1" dirty="0">
                <a:solidFill>
                  <a:srgbClr val="121D24"/>
                </a:solidFill>
                <a:latin typeface="Calibri" pitchFamily="34" charset="0"/>
                <a:ea typeface="Calibri" pitchFamily="34" charset="-122"/>
                <a:cs typeface="Calibri" pitchFamily="34" charset="-120"/>
              </a:rPr>
              <a:t>Three roles, three different questions</a:t>
            </a:r>
            <a:endParaRPr lang="en-US" sz="3400" dirty="0"/>
          </a:p>
        </p:txBody>
      </p:sp>
      <p:sp>
        <p:nvSpPr>
          <p:cNvPr id="4" name="Text 2"/>
          <p:cNvSpPr/>
          <p:nvPr/>
        </p:nvSpPr>
        <p:spPr>
          <a:xfrm>
            <a:off x="566928" y="1335024"/>
            <a:ext cx="10058400" cy="457200"/>
          </a:xfrm>
          <a:prstGeom prst="rect">
            <a:avLst/>
          </a:prstGeom>
          <a:noFill/>
          <a:ln/>
        </p:spPr>
        <p:txBody>
          <a:bodyPr wrap="square" lIns="0" tIns="0" rIns="0" bIns="0" rtlCol="0" anchor="t"/>
          <a:lstStyle/>
          <a:p>
            <a:pPr indent="0" marL="0">
              <a:lnSpc>
                <a:spcPts val="1900"/>
              </a:lnSpc>
              <a:buNone/>
            </a:pPr>
            <a:r>
              <a:rPr lang="en-US" sz="1450" dirty="0">
                <a:solidFill>
                  <a:srgbClr val="6B7A7F"/>
                </a:solidFill>
                <a:latin typeface="Calibri" pitchFamily="34" charset="0"/>
                <a:ea typeface="Calibri" pitchFamily="34" charset="-122"/>
                <a:cs typeface="Calibri" pitchFamily="34" charset="-120"/>
              </a:rPr>
              <a:t>Scrum is a time-boxed framework. Work happens in fixed-length Sprints, and exactly three roles own exactly three concerns.</a:t>
            </a:r>
            <a:endParaRPr lang="en-US" sz="1450" dirty="0"/>
          </a:p>
        </p:txBody>
      </p:sp>
      <p:sp>
        <p:nvSpPr>
          <p:cNvPr id="5" name="Shape 3"/>
          <p:cNvSpPr/>
          <p:nvPr/>
        </p:nvSpPr>
        <p:spPr>
          <a:xfrm>
            <a:off x="566928" y="2231136"/>
            <a:ext cx="3529584" cy="3310128"/>
          </a:xfrm>
          <a:prstGeom prst="roundRect">
            <a:avLst>
              <a:gd name="adj" fmla="val 3315"/>
            </a:avLst>
          </a:prstGeom>
          <a:solidFill>
            <a:srgbClr val="EDF1F0"/>
          </a:solidFill>
          <a:ln/>
          <a:effectLst>
            <a:outerShdw sx="100000" sy="100000" kx="0" ky="0" algn="bl" rotWithShape="0" blurRad="127000" dist="38100" dir="5400000">
              <a:srgbClr val="0B1418">
                <a:alpha val="13000"/>
              </a:srgbClr>
            </a:outerShdw>
          </a:effectLst>
        </p:spPr>
      </p:sp>
      <p:sp>
        <p:nvSpPr>
          <p:cNvPr id="6" name="Shape 4"/>
          <p:cNvSpPr/>
          <p:nvPr/>
        </p:nvSpPr>
        <p:spPr>
          <a:xfrm>
            <a:off x="877824" y="2542032"/>
            <a:ext cx="841248" cy="841248"/>
          </a:xfrm>
          <a:prstGeom prst="ellipse">
            <a:avLst/>
          </a:prstGeom>
          <a:solidFill>
            <a:srgbClr val="0F4C42"/>
          </a:solidFill>
          <a:ln/>
        </p:spPr>
      </p:sp>
      <p:pic>
        <p:nvPicPr>
          <p:cNvPr id="7" name="Image 0" descr="/home/claude/agile/icons/po.png">    </p:cNvPr>
          <p:cNvPicPr>
            <a:picLocks noChangeAspect="1"/>
          </p:cNvPicPr>
          <p:nvPr/>
        </p:nvPicPr>
        <p:blipFill>
          <a:blip r:embed="rId1"/>
          <a:stretch>
            <a:fillRect/>
          </a:stretch>
        </p:blipFill>
        <p:spPr>
          <a:xfrm>
            <a:off x="1113373" y="2777581"/>
            <a:ext cx="370149" cy="370149"/>
          </a:xfrm>
          <a:prstGeom prst="rect">
            <a:avLst/>
          </a:prstGeom>
        </p:spPr>
      </p:pic>
      <p:sp>
        <p:nvSpPr>
          <p:cNvPr id="8" name="Text 5"/>
          <p:cNvSpPr/>
          <p:nvPr/>
        </p:nvSpPr>
        <p:spPr>
          <a:xfrm>
            <a:off x="877824" y="3566160"/>
            <a:ext cx="2907792" cy="347472"/>
          </a:xfrm>
          <a:prstGeom prst="rect">
            <a:avLst/>
          </a:prstGeom>
          <a:noFill/>
          <a:ln/>
        </p:spPr>
        <p:txBody>
          <a:bodyPr wrap="square" lIns="0" tIns="0" rIns="0" bIns="0" rtlCol="0" anchor="ctr"/>
          <a:lstStyle/>
          <a:p>
            <a:pPr indent="0" marL="0">
              <a:buNone/>
            </a:pPr>
            <a:r>
              <a:rPr lang="en-US" sz="1900" b="1" dirty="0">
                <a:solidFill>
                  <a:srgbClr val="121D24"/>
                </a:solidFill>
                <a:latin typeface="Calibri" pitchFamily="34" charset="0"/>
                <a:ea typeface="Calibri" pitchFamily="34" charset="-122"/>
                <a:cs typeface="Calibri" pitchFamily="34" charset="-120"/>
              </a:rPr>
              <a:t>Product Owner</a:t>
            </a:r>
            <a:endParaRPr lang="en-US" sz="1900" dirty="0"/>
          </a:p>
        </p:txBody>
      </p:sp>
      <p:sp>
        <p:nvSpPr>
          <p:cNvPr id="9" name="Text 6"/>
          <p:cNvSpPr/>
          <p:nvPr/>
        </p:nvSpPr>
        <p:spPr>
          <a:xfrm>
            <a:off x="877824" y="3913632"/>
            <a:ext cx="2907792" cy="256032"/>
          </a:xfrm>
          <a:prstGeom prst="rect">
            <a:avLst/>
          </a:prstGeom>
          <a:noFill/>
          <a:ln/>
        </p:spPr>
        <p:txBody>
          <a:bodyPr wrap="square" lIns="0" tIns="0" rIns="0" bIns="0" rtlCol="0" anchor="ctr"/>
          <a:lstStyle/>
          <a:p>
            <a:pPr indent="0" marL="0">
              <a:buNone/>
            </a:pPr>
            <a:r>
              <a:rPr lang="en-US" sz="1050" b="1" spc="120" kern="0" dirty="0">
                <a:solidFill>
                  <a:srgbClr val="0F4C42"/>
                </a:solidFill>
                <a:latin typeface="Courier New" pitchFamily="34" charset="0"/>
                <a:ea typeface="Courier New" pitchFamily="34" charset="-122"/>
                <a:cs typeface="Courier New" pitchFamily="34" charset="-120"/>
              </a:rPr>
              <a:t>the WHAT and WHY</a:t>
            </a:r>
            <a:endParaRPr lang="en-US" sz="1050" dirty="0"/>
          </a:p>
        </p:txBody>
      </p:sp>
      <p:sp>
        <p:nvSpPr>
          <p:cNvPr id="10" name="Text 7"/>
          <p:cNvSpPr/>
          <p:nvPr/>
        </p:nvSpPr>
        <p:spPr>
          <a:xfrm>
            <a:off x="877824" y="4261104"/>
            <a:ext cx="2907792" cy="1133856"/>
          </a:xfrm>
          <a:prstGeom prst="rect">
            <a:avLst/>
          </a:prstGeom>
          <a:noFill/>
          <a:ln/>
        </p:spPr>
        <p:txBody>
          <a:bodyPr wrap="square" lIns="0" tIns="0" rIns="0" bIns="0" rtlCol="0" anchor="ctr"/>
          <a:lstStyle/>
          <a:p>
            <a:pPr indent="0" marL="0">
              <a:lnSpc>
                <a:spcPts val="1700"/>
              </a:lnSpc>
              <a:buNone/>
            </a:pPr>
            <a:r>
              <a:rPr lang="en-US" sz="1250" dirty="0">
                <a:solidFill>
                  <a:srgbClr val="4E5D62"/>
                </a:solidFill>
                <a:latin typeface="Calibri" pitchFamily="34" charset="0"/>
                <a:ea typeface="Calibri" pitchFamily="34" charset="-122"/>
                <a:cs typeface="Calibri" pitchFamily="34" charset="-120"/>
              </a:rPr>
              <a:t>Owns and orders the backlog. Single wringable neck for value delivered. Needs real authority — a PO without decision power is the most common way Scrum quietly fails.</a:t>
            </a:r>
            <a:endParaRPr lang="en-US" sz="1250" dirty="0"/>
          </a:p>
        </p:txBody>
      </p:sp>
      <p:sp>
        <p:nvSpPr>
          <p:cNvPr id="11" name="Shape 8"/>
          <p:cNvSpPr/>
          <p:nvPr/>
        </p:nvSpPr>
        <p:spPr>
          <a:xfrm>
            <a:off x="4425696" y="2231136"/>
            <a:ext cx="3529584" cy="3310128"/>
          </a:xfrm>
          <a:prstGeom prst="roundRect">
            <a:avLst>
              <a:gd name="adj" fmla="val 3315"/>
            </a:avLst>
          </a:prstGeom>
          <a:solidFill>
            <a:srgbClr val="EDF1F0"/>
          </a:solidFill>
          <a:ln/>
          <a:effectLst>
            <a:outerShdw sx="100000" sy="100000" kx="0" ky="0" algn="bl" rotWithShape="0" blurRad="127000" dist="38100" dir="5400000">
              <a:srgbClr val="0B1418">
                <a:alpha val="13000"/>
              </a:srgbClr>
            </a:outerShdw>
          </a:effectLst>
        </p:spPr>
      </p:sp>
      <p:sp>
        <p:nvSpPr>
          <p:cNvPr id="12" name="Shape 9"/>
          <p:cNvSpPr/>
          <p:nvPr/>
        </p:nvSpPr>
        <p:spPr>
          <a:xfrm>
            <a:off x="4736592" y="2542032"/>
            <a:ext cx="841248" cy="841248"/>
          </a:xfrm>
          <a:prstGeom prst="ellipse">
            <a:avLst/>
          </a:prstGeom>
          <a:solidFill>
            <a:srgbClr val="2A8C7A"/>
          </a:solidFill>
          <a:ln/>
        </p:spPr>
      </p:sp>
      <p:pic>
        <p:nvPicPr>
          <p:cNvPr id="13" name="Image 1" descr="/home/claude/agile/icons/sm.png">    </p:cNvPr>
          <p:cNvPicPr>
            <a:picLocks noChangeAspect="1"/>
          </p:cNvPicPr>
          <p:nvPr/>
        </p:nvPicPr>
        <p:blipFill>
          <a:blip r:embed="rId2"/>
          <a:stretch>
            <a:fillRect/>
          </a:stretch>
        </p:blipFill>
        <p:spPr>
          <a:xfrm>
            <a:off x="4972141" y="2777581"/>
            <a:ext cx="370149" cy="370149"/>
          </a:xfrm>
          <a:prstGeom prst="rect">
            <a:avLst/>
          </a:prstGeom>
        </p:spPr>
      </p:pic>
      <p:sp>
        <p:nvSpPr>
          <p:cNvPr id="14" name="Text 10"/>
          <p:cNvSpPr/>
          <p:nvPr/>
        </p:nvSpPr>
        <p:spPr>
          <a:xfrm>
            <a:off x="4736592" y="3566160"/>
            <a:ext cx="2907792" cy="347472"/>
          </a:xfrm>
          <a:prstGeom prst="rect">
            <a:avLst/>
          </a:prstGeom>
          <a:noFill/>
          <a:ln/>
        </p:spPr>
        <p:txBody>
          <a:bodyPr wrap="square" lIns="0" tIns="0" rIns="0" bIns="0" rtlCol="0" anchor="ctr"/>
          <a:lstStyle/>
          <a:p>
            <a:pPr indent="0" marL="0">
              <a:buNone/>
            </a:pPr>
            <a:r>
              <a:rPr lang="en-US" sz="1900" b="1" dirty="0">
                <a:solidFill>
                  <a:srgbClr val="121D24"/>
                </a:solidFill>
                <a:latin typeface="Calibri" pitchFamily="34" charset="0"/>
                <a:ea typeface="Calibri" pitchFamily="34" charset="-122"/>
                <a:cs typeface="Calibri" pitchFamily="34" charset="-120"/>
              </a:rPr>
              <a:t>Scrum Master</a:t>
            </a:r>
            <a:endParaRPr lang="en-US" sz="1900" dirty="0"/>
          </a:p>
        </p:txBody>
      </p:sp>
      <p:sp>
        <p:nvSpPr>
          <p:cNvPr id="15" name="Text 11"/>
          <p:cNvSpPr/>
          <p:nvPr/>
        </p:nvSpPr>
        <p:spPr>
          <a:xfrm>
            <a:off x="4736592" y="3913632"/>
            <a:ext cx="2907792" cy="256032"/>
          </a:xfrm>
          <a:prstGeom prst="rect">
            <a:avLst/>
          </a:prstGeom>
          <a:noFill/>
          <a:ln/>
        </p:spPr>
        <p:txBody>
          <a:bodyPr wrap="square" lIns="0" tIns="0" rIns="0" bIns="0" rtlCol="0" anchor="ctr"/>
          <a:lstStyle/>
          <a:p>
            <a:pPr indent="0" marL="0">
              <a:buNone/>
            </a:pPr>
            <a:r>
              <a:rPr lang="en-US" sz="1050" b="1" spc="120" kern="0" dirty="0">
                <a:solidFill>
                  <a:srgbClr val="2A8C7A"/>
                </a:solidFill>
                <a:latin typeface="Courier New" pitchFamily="34" charset="0"/>
                <a:ea typeface="Courier New" pitchFamily="34" charset="-122"/>
                <a:cs typeface="Courier New" pitchFamily="34" charset="-120"/>
              </a:rPr>
              <a:t>the PROCESS</a:t>
            </a:r>
            <a:endParaRPr lang="en-US" sz="1050" dirty="0"/>
          </a:p>
        </p:txBody>
      </p:sp>
      <p:sp>
        <p:nvSpPr>
          <p:cNvPr id="16" name="Text 12"/>
          <p:cNvSpPr/>
          <p:nvPr/>
        </p:nvSpPr>
        <p:spPr>
          <a:xfrm>
            <a:off x="4736592" y="4261104"/>
            <a:ext cx="2907792" cy="1133856"/>
          </a:xfrm>
          <a:prstGeom prst="rect">
            <a:avLst/>
          </a:prstGeom>
          <a:noFill/>
          <a:ln/>
        </p:spPr>
        <p:txBody>
          <a:bodyPr wrap="square" lIns="0" tIns="0" rIns="0" bIns="0" rtlCol="0" anchor="ctr"/>
          <a:lstStyle/>
          <a:p>
            <a:pPr indent="0" marL="0">
              <a:lnSpc>
                <a:spcPts val="1700"/>
              </a:lnSpc>
              <a:buNone/>
            </a:pPr>
            <a:r>
              <a:rPr lang="en-US" sz="1250" dirty="0">
                <a:solidFill>
                  <a:srgbClr val="4E5D62"/>
                </a:solidFill>
                <a:latin typeface="Calibri" pitchFamily="34" charset="0"/>
                <a:ea typeface="Calibri" pitchFamily="34" charset="-122"/>
                <a:cs typeface="Calibri" pitchFamily="34" charset="-120"/>
              </a:rPr>
              <a:t>Removes blockers and protects the sprint from mid-flight scope injection. Not a manager, not a secretary, not a status collector.</a:t>
            </a:r>
            <a:endParaRPr lang="en-US" sz="1250" dirty="0"/>
          </a:p>
        </p:txBody>
      </p:sp>
      <p:sp>
        <p:nvSpPr>
          <p:cNvPr id="17" name="Shape 13"/>
          <p:cNvSpPr/>
          <p:nvPr/>
        </p:nvSpPr>
        <p:spPr>
          <a:xfrm>
            <a:off x="8284464" y="2231136"/>
            <a:ext cx="3529584" cy="3310128"/>
          </a:xfrm>
          <a:prstGeom prst="roundRect">
            <a:avLst>
              <a:gd name="adj" fmla="val 3315"/>
            </a:avLst>
          </a:prstGeom>
          <a:solidFill>
            <a:srgbClr val="EDF1F0"/>
          </a:solidFill>
          <a:ln/>
          <a:effectLst>
            <a:outerShdw sx="100000" sy="100000" kx="0" ky="0" algn="bl" rotWithShape="0" blurRad="127000" dist="38100" dir="5400000">
              <a:srgbClr val="0B1418">
                <a:alpha val="13000"/>
              </a:srgbClr>
            </a:outerShdw>
          </a:effectLst>
        </p:spPr>
      </p:sp>
      <p:sp>
        <p:nvSpPr>
          <p:cNvPr id="18" name="Shape 14"/>
          <p:cNvSpPr/>
          <p:nvPr/>
        </p:nvSpPr>
        <p:spPr>
          <a:xfrm>
            <a:off x="8595360" y="2542032"/>
            <a:ext cx="841248" cy="841248"/>
          </a:xfrm>
          <a:prstGeom prst="ellipse">
            <a:avLst/>
          </a:prstGeom>
          <a:solidFill>
            <a:srgbClr val="E0512B"/>
          </a:solidFill>
          <a:ln/>
        </p:spPr>
      </p:sp>
      <p:pic>
        <p:nvPicPr>
          <p:cNvPr id="19" name="Image 2" descr="/home/claude/agile/icons/team.png">    </p:cNvPr>
          <p:cNvPicPr>
            <a:picLocks noChangeAspect="1"/>
          </p:cNvPicPr>
          <p:nvPr/>
        </p:nvPicPr>
        <p:blipFill>
          <a:blip r:embed="rId3"/>
          <a:stretch>
            <a:fillRect/>
          </a:stretch>
        </p:blipFill>
        <p:spPr>
          <a:xfrm>
            <a:off x="8830909" y="2777581"/>
            <a:ext cx="370149" cy="370149"/>
          </a:xfrm>
          <a:prstGeom prst="rect">
            <a:avLst/>
          </a:prstGeom>
        </p:spPr>
      </p:pic>
      <p:sp>
        <p:nvSpPr>
          <p:cNvPr id="20" name="Text 15"/>
          <p:cNvSpPr/>
          <p:nvPr/>
        </p:nvSpPr>
        <p:spPr>
          <a:xfrm>
            <a:off x="8595360" y="3566160"/>
            <a:ext cx="2907792" cy="347472"/>
          </a:xfrm>
          <a:prstGeom prst="rect">
            <a:avLst/>
          </a:prstGeom>
          <a:noFill/>
          <a:ln/>
        </p:spPr>
        <p:txBody>
          <a:bodyPr wrap="square" lIns="0" tIns="0" rIns="0" bIns="0" rtlCol="0" anchor="ctr"/>
          <a:lstStyle/>
          <a:p>
            <a:pPr indent="0" marL="0">
              <a:buNone/>
            </a:pPr>
            <a:r>
              <a:rPr lang="en-US" sz="1900" b="1" dirty="0">
                <a:solidFill>
                  <a:srgbClr val="121D24"/>
                </a:solidFill>
                <a:latin typeface="Calibri" pitchFamily="34" charset="0"/>
                <a:ea typeface="Calibri" pitchFamily="34" charset="-122"/>
                <a:cs typeface="Calibri" pitchFamily="34" charset="-120"/>
              </a:rPr>
              <a:t>Development Team</a:t>
            </a:r>
            <a:endParaRPr lang="en-US" sz="1900" dirty="0"/>
          </a:p>
        </p:txBody>
      </p:sp>
      <p:sp>
        <p:nvSpPr>
          <p:cNvPr id="21" name="Text 16"/>
          <p:cNvSpPr/>
          <p:nvPr/>
        </p:nvSpPr>
        <p:spPr>
          <a:xfrm>
            <a:off x="8595360" y="3913632"/>
            <a:ext cx="2907792" cy="256032"/>
          </a:xfrm>
          <a:prstGeom prst="rect">
            <a:avLst/>
          </a:prstGeom>
          <a:noFill/>
          <a:ln/>
        </p:spPr>
        <p:txBody>
          <a:bodyPr wrap="square" lIns="0" tIns="0" rIns="0" bIns="0" rtlCol="0" anchor="ctr"/>
          <a:lstStyle/>
          <a:p>
            <a:pPr indent="0" marL="0">
              <a:buNone/>
            </a:pPr>
            <a:r>
              <a:rPr lang="en-US" sz="1050" b="1" spc="120" kern="0" dirty="0">
                <a:solidFill>
                  <a:srgbClr val="E0512B"/>
                </a:solidFill>
                <a:latin typeface="Courier New" pitchFamily="34" charset="0"/>
                <a:ea typeface="Courier New" pitchFamily="34" charset="-122"/>
                <a:cs typeface="Courier New" pitchFamily="34" charset="-120"/>
              </a:rPr>
              <a:t>the HOW</a:t>
            </a:r>
            <a:endParaRPr lang="en-US" sz="1050" dirty="0"/>
          </a:p>
        </p:txBody>
      </p:sp>
      <p:sp>
        <p:nvSpPr>
          <p:cNvPr id="22" name="Text 17"/>
          <p:cNvSpPr/>
          <p:nvPr/>
        </p:nvSpPr>
        <p:spPr>
          <a:xfrm>
            <a:off x="8595360" y="4261104"/>
            <a:ext cx="2907792" cy="1133856"/>
          </a:xfrm>
          <a:prstGeom prst="rect">
            <a:avLst/>
          </a:prstGeom>
          <a:noFill/>
          <a:ln/>
        </p:spPr>
        <p:txBody>
          <a:bodyPr wrap="square" lIns="0" tIns="0" rIns="0" bIns="0" rtlCol="0" anchor="ctr"/>
          <a:lstStyle/>
          <a:p>
            <a:pPr indent="0" marL="0">
              <a:lnSpc>
                <a:spcPts val="1700"/>
              </a:lnSpc>
              <a:buNone/>
            </a:pPr>
            <a:r>
              <a:rPr lang="en-US" sz="1250" dirty="0">
                <a:solidFill>
                  <a:srgbClr val="4E5D62"/>
                </a:solidFill>
                <a:latin typeface="Calibri" pitchFamily="34" charset="0"/>
                <a:ea typeface="Calibri" pitchFamily="34" charset="-122"/>
                <a:cs typeface="Calibri" pitchFamily="34" charset="-120"/>
              </a:rPr>
              <a:t>Self-organizing and cross-functional, ideally 3–9 people. Decides how the work gets built and commits to what fits in the sprint.</a:t>
            </a:r>
            <a:endParaRPr lang="en-US" sz="1250" dirty="0"/>
          </a:p>
        </p:txBody>
      </p:sp>
      <p:sp>
        <p:nvSpPr>
          <p:cNvPr id="23" name="Text 18"/>
          <p:cNvSpPr/>
          <p:nvPr/>
        </p:nvSpPr>
        <p:spPr>
          <a:xfrm>
            <a:off x="566928" y="6108192"/>
            <a:ext cx="11057839" cy="438912"/>
          </a:xfrm>
          <a:prstGeom prst="rect">
            <a:avLst/>
          </a:prstGeom>
          <a:noFill/>
          <a:ln/>
        </p:spPr>
        <p:txBody>
          <a:bodyPr wrap="square" lIns="0" tIns="0" rIns="0" bIns="0" rtlCol="0" anchor="ctr"/>
          <a:lstStyle/>
          <a:p>
            <a:pPr indent="0" marL="0">
              <a:lnSpc>
                <a:spcPts val="1500"/>
              </a:lnSpc>
              <a:buNone/>
            </a:pPr>
            <a:r>
              <a:rPr lang="en-US" sz="1050" dirty="0">
                <a:solidFill>
                  <a:srgbClr val="6B7A7F"/>
                </a:solidFill>
                <a:latin typeface="Courier New" pitchFamily="34" charset="0"/>
                <a:ea typeface="Courier New" pitchFamily="34" charset="-122"/>
                <a:cs typeface="Courier New" pitchFamily="34" charset="-120"/>
              </a:rPr>
              <a:t>No project manager role. That is deliberate — planning authority sits with the team, value authority with the PO.</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20" kern="0" dirty="0">
                <a:solidFill>
                  <a:srgbClr val="E0512B"/>
                </a:solidFill>
                <a:latin typeface="Courier New" pitchFamily="34" charset="0"/>
                <a:ea typeface="Courier New" pitchFamily="34" charset="-122"/>
                <a:cs typeface="Courier New" pitchFamily="34" charset="-120"/>
              </a:rPr>
              <a:t>03 / SCRUM</a:t>
            </a:r>
            <a:endParaRPr lang="en-US" sz="1100" dirty="0"/>
          </a:p>
        </p:txBody>
      </p:sp>
      <p:sp>
        <p:nvSpPr>
          <p:cNvPr id="3" name="Text 1"/>
          <p:cNvSpPr/>
          <p:nvPr/>
        </p:nvSpPr>
        <p:spPr>
          <a:xfrm>
            <a:off x="566928" y="676656"/>
            <a:ext cx="11057839" cy="658368"/>
          </a:xfrm>
          <a:prstGeom prst="rect">
            <a:avLst/>
          </a:prstGeom>
          <a:noFill/>
          <a:ln/>
        </p:spPr>
        <p:txBody>
          <a:bodyPr wrap="square" lIns="0" tIns="0" rIns="0" bIns="0" rtlCol="0" anchor="ctr"/>
          <a:lstStyle/>
          <a:p>
            <a:pPr algn="l" indent="0" marL="0">
              <a:buNone/>
            </a:pPr>
            <a:r>
              <a:rPr lang="en-US" sz="3400" b="1" dirty="0">
                <a:solidFill>
                  <a:srgbClr val="121D24"/>
                </a:solidFill>
                <a:latin typeface="Calibri" pitchFamily="34" charset="0"/>
                <a:ea typeface="Calibri" pitchFamily="34" charset="-122"/>
                <a:cs typeface="Calibri" pitchFamily="34" charset="-120"/>
              </a:rPr>
              <a:t>Three artifacts and one contract</a:t>
            </a:r>
            <a:endParaRPr lang="en-US" sz="3400" dirty="0"/>
          </a:p>
        </p:txBody>
      </p:sp>
      <p:sp>
        <p:nvSpPr>
          <p:cNvPr id="4" name="Shape 2"/>
          <p:cNvSpPr/>
          <p:nvPr/>
        </p:nvSpPr>
        <p:spPr>
          <a:xfrm>
            <a:off x="566928" y="1572768"/>
            <a:ext cx="3529584" cy="2286000"/>
          </a:xfrm>
          <a:prstGeom prst="roundRect">
            <a:avLst>
              <a:gd name="adj" fmla="val 4800"/>
            </a:avLst>
          </a:prstGeom>
          <a:solidFill>
            <a:srgbClr val="EDF1F0"/>
          </a:solidFill>
          <a:ln/>
          <a:effectLst>
            <a:outerShdw sx="100000" sy="100000" kx="0" ky="0" algn="bl" rotWithShape="0" blurRad="127000" dist="38100" dir="5400000">
              <a:srgbClr val="0B1418">
                <a:alpha val="13000"/>
              </a:srgbClr>
            </a:outerShdw>
          </a:effectLst>
        </p:spPr>
      </p:sp>
      <p:sp>
        <p:nvSpPr>
          <p:cNvPr id="5" name="Shape 3"/>
          <p:cNvSpPr/>
          <p:nvPr/>
        </p:nvSpPr>
        <p:spPr>
          <a:xfrm>
            <a:off x="877824" y="1828800"/>
            <a:ext cx="731520" cy="731520"/>
          </a:xfrm>
          <a:prstGeom prst="ellipse">
            <a:avLst/>
          </a:prstGeom>
          <a:solidFill>
            <a:srgbClr val="0F4C42"/>
          </a:solidFill>
          <a:ln/>
        </p:spPr>
      </p:sp>
      <p:pic>
        <p:nvPicPr>
          <p:cNvPr id="6" name="Image 0" descr="/home/claude/agile/icons/backlog.png">    </p:cNvPr>
          <p:cNvPicPr>
            <a:picLocks noChangeAspect="1"/>
          </p:cNvPicPr>
          <p:nvPr/>
        </p:nvPicPr>
        <p:blipFill>
          <a:blip r:embed="rId1"/>
          <a:stretch>
            <a:fillRect/>
          </a:stretch>
        </p:blipFill>
        <p:spPr>
          <a:xfrm>
            <a:off x="1082650" y="2033626"/>
            <a:ext cx="321869" cy="321869"/>
          </a:xfrm>
          <a:prstGeom prst="rect">
            <a:avLst/>
          </a:prstGeom>
        </p:spPr>
      </p:pic>
      <p:sp>
        <p:nvSpPr>
          <p:cNvPr id="7" name="Text 4"/>
          <p:cNvSpPr/>
          <p:nvPr/>
        </p:nvSpPr>
        <p:spPr>
          <a:xfrm>
            <a:off x="1737360" y="1883664"/>
            <a:ext cx="2066544" cy="621792"/>
          </a:xfrm>
          <a:prstGeom prst="rect">
            <a:avLst/>
          </a:prstGeom>
          <a:noFill/>
          <a:ln/>
        </p:spPr>
        <p:txBody>
          <a:bodyPr wrap="square" lIns="0" tIns="0" rIns="0" bIns="0" rtlCol="0" anchor="ctr"/>
          <a:lstStyle/>
          <a:p>
            <a:pPr indent="0" marL="0">
              <a:buNone/>
            </a:pPr>
            <a:r>
              <a:rPr lang="en-US" sz="1700" b="1" dirty="0">
                <a:solidFill>
                  <a:srgbClr val="121D24"/>
                </a:solidFill>
                <a:latin typeface="Calibri" pitchFamily="34" charset="0"/>
                <a:ea typeface="Calibri" pitchFamily="34" charset="-122"/>
                <a:cs typeface="Calibri" pitchFamily="34" charset="-120"/>
              </a:rPr>
              <a:t>Product Backlog</a:t>
            </a:r>
            <a:endParaRPr lang="en-US" sz="1700" dirty="0"/>
          </a:p>
        </p:txBody>
      </p:sp>
      <p:sp>
        <p:nvSpPr>
          <p:cNvPr id="8" name="Text 5"/>
          <p:cNvSpPr/>
          <p:nvPr/>
        </p:nvSpPr>
        <p:spPr>
          <a:xfrm>
            <a:off x="877824" y="2761488"/>
            <a:ext cx="2907792" cy="914400"/>
          </a:xfrm>
          <a:prstGeom prst="rect">
            <a:avLst/>
          </a:prstGeom>
          <a:noFill/>
          <a:ln/>
        </p:spPr>
        <p:txBody>
          <a:bodyPr wrap="square" lIns="0" tIns="0" rIns="0" bIns="0" rtlCol="0" anchor="ctr"/>
          <a:lstStyle/>
          <a:p>
            <a:pPr indent="0" marL="0">
              <a:lnSpc>
                <a:spcPts val="1700"/>
              </a:lnSpc>
              <a:buNone/>
            </a:pPr>
            <a:r>
              <a:rPr lang="en-US" sz="1250" dirty="0">
                <a:solidFill>
                  <a:srgbClr val="4E5D62"/>
                </a:solidFill>
                <a:latin typeface="Calibri" pitchFamily="34" charset="0"/>
                <a:ea typeface="Calibri" pitchFamily="34" charset="-122"/>
                <a:cs typeface="Calibri" pitchFamily="34" charset="-120"/>
              </a:rPr>
              <a:t>Everything that might get built, ordered by value. Living — always re-prioritized, never frozen.</a:t>
            </a:r>
            <a:endParaRPr lang="en-US" sz="1250" dirty="0"/>
          </a:p>
        </p:txBody>
      </p:sp>
      <p:sp>
        <p:nvSpPr>
          <p:cNvPr id="9" name="Shape 6"/>
          <p:cNvSpPr/>
          <p:nvPr/>
        </p:nvSpPr>
        <p:spPr>
          <a:xfrm>
            <a:off x="4425696" y="1572768"/>
            <a:ext cx="3529584" cy="2286000"/>
          </a:xfrm>
          <a:prstGeom prst="roundRect">
            <a:avLst>
              <a:gd name="adj" fmla="val 4800"/>
            </a:avLst>
          </a:prstGeom>
          <a:solidFill>
            <a:srgbClr val="EDF1F0"/>
          </a:solidFill>
          <a:ln/>
          <a:effectLst>
            <a:outerShdw sx="100000" sy="100000" kx="0" ky="0" algn="bl" rotWithShape="0" blurRad="127000" dist="38100" dir="5400000">
              <a:srgbClr val="0B1418">
                <a:alpha val="13000"/>
              </a:srgbClr>
            </a:outerShdw>
          </a:effectLst>
        </p:spPr>
      </p:sp>
      <p:sp>
        <p:nvSpPr>
          <p:cNvPr id="10" name="Shape 7"/>
          <p:cNvSpPr/>
          <p:nvPr/>
        </p:nvSpPr>
        <p:spPr>
          <a:xfrm>
            <a:off x="4736592" y="1828800"/>
            <a:ext cx="731520" cy="731520"/>
          </a:xfrm>
          <a:prstGeom prst="ellipse">
            <a:avLst/>
          </a:prstGeom>
          <a:solidFill>
            <a:srgbClr val="0F4C42"/>
          </a:solidFill>
          <a:ln/>
        </p:spPr>
      </p:sp>
      <p:pic>
        <p:nvPicPr>
          <p:cNvPr id="11" name="Image 1" descr="/home/claude/agile/icons/sprintbacklog.png">    </p:cNvPr>
          <p:cNvPicPr>
            <a:picLocks noChangeAspect="1"/>
          </p:cNvPicPr>
          <p:nvPr/>
        </p:nvPicPr>
        <p:blipFill>
          <a:blip r:embed="rId2"/>
          <a:stretch>
            <a:fillRect/>
          </a:stretch>
        </p:blipFill>
        <p:spPr>
          <a:xfrm>
            <a:off x="4941418" y="2033626"/>
            <a:ext cx="321869" cy="321869"/>
          </a:xfrm>
          <a:prstGeom prst="rect">
            <a:avLst/>
          </a:prstGeom>
        </p:spPr>
      </p:pic>
      <p:sp>
        <p:nvSpPr>
          <p:cNvPr id="12" name="Text 8"/>
          <p:cNvSpPr/>
          <p:nvPr/>
        </p:nvSpPr>
        <p:spPr>
          <a:xfrm>
            <a:off x="5596128" y="1883664"/>
            <a:ext cx="2066544" cy="621792"/>
          </a:xfrm>
          <a:prstGeom prst="rect">
            <a:avLst/>
          </a:prstGeom>
          <a:noFill/>
          <a:ln/>
        </p:spPr>
        <p:txBody>
          <a:bodyPr wrap="square" lIns="0" tIns="0" rIns="0" bIns="0" rtlCol="0" anchor="ctr"/>
          <a:lstStyle/>
          <a:p>
            <a:pPr indent="0" marL="0">
              <a:buNone/>
            </a:pPr>
            <a:r>
              <a:rPr lang="en-US" sz="1700" b="1" dirty="0">
                <a:solidFill>
                  <a:srgbClr val="121D24"/>
                </a:solidFill>
                <a:latin typeface="Calibri" pitchFamily="34" charset="0"/>
                <a:ea typeface="Calibri" pitchFamily="34" charset="-122"/>
                <a:cs typeface="Calibri" pitchFamily="34" charset="-120"/>
              </a:rPr>
              <a:t>Sprint Backlog</a:t>
            </a:r>
            <a:endParaRPr lang="en-US" sz="1700" dirty="0"/>
          </a:p>
        </p:txBody>
      </p:sp>
      <p:sp>
        <p:nvSpPr>
          <p:cNvPr id="13" name="Text 9"/>
          <p:cNvSpPr/>
          <p:nvPr/>
        </p:nvSpPr>
        <p:spPr>
          <a:xfrm>
            <a:off x="4736592" y="2761488"/>
            <a:ext cx="2907792" cy="914400"/>
          </a:xfrm>
          <a:prstGeom prst="rect">
            <a:avLst/>
          </a:prstGeom>
          <a:noFill/>
          <a:ln/>
        </p:spPr>
        <p:txBody>
          <a:bodyPr wrap="square" lIns="0" tIns="0" rIns="0" bIns="0" rtlCol="0" anchor="ctr"/>
          <a:lstStyle/>
          <a:p>
            <a:pPr indent="0" marL="0">
              <a:lnSpc>
                <a:spcPts val="1700"/>
              </a:lnSpc>
              <a:buNone/>
            </a:pPr>
            <a:r>
              <a:rPr lang="en-US" sz="1250" dirty="0">
                <a:solidFill>
                  <a:srgbClr val="4E5D62"/>
                </a:solidFill>
                <a:latin typeface="Calibri" pitchFamily="34" charset="0"/>
                <a:ea typeface="Calibri" pitchFamily="34" charset="-122"/>
                <a:cs typeface="Calibri" pitchFamily="34" charset="-120"/>
              </a:rPr>
              <a:t>The slice the team committed to this sprint. Frozen once the sprint starts.</a:t>
            </a:r>
            <a:endParaRPr lang="en-US" sz="1250" dirty="0"/>
          </a:p>
        </p:txBody>
      </p:sp>
      <p:sp>
        <p:nvSpPr>
          <p:cNvPr id="14" name="Shape 10"/>
          <p:cNvSpPr/>
          <p:nvPr/>
        </p:nvSpPr>
        <p:spPr>
          <a:xfrm>
            <a:off x="8284464" y="1572768"/>
            <a:ext cx="3529584" cy="2286000"/>
          </a:xfrm>
          <a:prstGeom prst="roundRect">
            <a:avLst>
              <a:gd name="adj" fmla="val 4800"/>
            </a:avLst>
          </a:prstGeom>
          <a:solidFill>
            <a:srgbClr val="EDF1F0"/>
          </a:solidFill>
          <a:ln/>
          <a:effectLst>
            <a:outerShdw sx="100000" sy="100000" kx="0" ky="0" algn="bl" rotWithShape="0" blurRad="127000" dist="38100" dir="5400000">
              <a:srgbClr val="0B1418">
                <a:alpha val="13000"/>
              </a:srgbClr>
            </a:outerShdw>
          </a:effectLst>
        </p:spPr>
      </p:sp>
      <p:sp>
        <p:nvSpPr>
          <p:cNvPr id="15" name="Shape 11"/>
          <p:cNvSpPr/>
          <p:nvPr/>
        </p:nvSpPr>
        <p:spPr>
          <a:xfrm>
            <a:off x="8595360" y="1828800"/>
            <a:ext cx="731520" cy="731520"/>
          </a:xfrm>
          <a:prstGeom prst="ellipse">
            <a:avLst/>
          </a:prstGeom>
          <a:solidFill>
            <a:srgbClr val="0F4C42"/>
          </a:solidFill>
          <a:ln/>
        </p:spPr>
      </p:sp>
      <p:pic>
        <p:nvPicPr>
          <p:cNvPr id="16" name="Image 2" descr="/home/claude/agile/icons/increment.png">    </p:cNvPr>
          <p:cNvPicPr>
            <a:picLocks noChangeAspect="1"/>
          </p:cNvPicPr>
          <p:nvPr/>
        </p:nvPicPr>
        <p:blipFill>
          <a:blip r:embed="rId3"/>
          <a:stretch>
            <a:fillRect/>
          </a:stretch>
        </p:blipFill>
        <p:spPr>
          <a:xfrm>
            <a:off x="8800186" y="2033626"/>
            <a:ext cx="321869" cy="321869"/>
          </a:xfrm>
          <a:prstGeom prst="rect">
            <a:avLst/>
          </a:prstGeom>
        </p:spPr>
      </p:pic>
      <p:sp>
        <p:nvSpPr>
          <p:cNvPr id="17" name="Text 12"/>
          <p:cNvSpPr/>
          <p:nvPr/>
        </p:nvSpPr>
        <p:spPr>
          <a:xfrm>
            <a:off x="9454896" y="1883664"/>
            <a:ext cx="2066544" cy="621792"/>
          </a:xfrm>
          <a:prstGeom prst="rect">
            <a:avLst/>
          </a:prstGeom>
          <a:noFill/>
          <a:ln/>
        </p:spPr>
        <p:txBody>
          <a:bodyPr wrap="square" lIns="0" tIns="0" rIns="0" bIns="0" rtlCol="0" anchor="ctr"/>
          <a:lstStyle/>
          <a:p>
            <a:pPr indent="0" marL="0">
              <a:buNone/>
            </a:pPr>
            <a:r>
              <a:rPr lang="en-US" sz="1700" b="1" dirty="0">
                <a:solidFill>
                  <a:srgbClr val="121D24"/>
                </a:solidFill>
                <a:latin typeface="Calibri" pitchFamily="34" charset="0"/>
                <a:ea typeface="Calibri" pitchFamily="34" charset="-122"/>
                <a:cs typeface="Calibri" pitchFamily="34" charset="-120"/>
              </a:rPr>
              <a:t>Increment</a:t>
            </a:r>
            <a:endParaRPr lang="en-US" sz="1700" dirty="0"/>
          </a:p>
        </p:txBody>
      </p:sp>
      <p:sp>
        <p:nvSpPr>
          <p:cNvPr id="18" name="Text 13"/>
          <p:cNvSpPr/>
          <p:nvPr/>
        </p:nvSpPr>
        <p:spPr>
          <a:xfrm>
            <a:off x="8595360" y="2761488"/>
            <a:ext cx="2907792" cy="914400"/>
          </a:xfrm>
          <a:prstGeom prst="rect">
            <a:avLst/>
          </a:prstGeom>
          <a:noFill/>
          <a:ln/>
        </p:spPr>
        <p:txBody>
          <a:bodyPr wrap="square" lIns="0" tIns="0" rIns="0" bIns="0" rtlCol="0" anchor="ctr"/>
          <a:lstStyle/>
          <a:p>
            <a:pPr indent="0" marL="0">
              <a:lnSpc>
                <a:spcPts val="1700"/>
              </a:lnSpc>
              <a:buNone/>
            </a:pPr>
            <a:r>
              <a:rPr lang="en-US" sz="1250" dirty="0">
                <a:solidFill>
                  <a:srgbClr val="4E5D62"/>
                </a:solidFill>
                <a:latin typeface="Calibri" pitchFamily="34" charset="0"/>
                <a:ea typeface="Calibri" pitchFamily="34" charset="-122"/>
                <a:cs typeface="Calibri" pitchFamily="34" charset="-120"/>
              </a:rPr>
              <a:t>The shippable output at sprint end. Must meet the Definition of Done.</a:t>
            </a:r>
            <a:endParaRPr lang="en-US" sz="1250" dirty="0"/>
          </a:p>
        </p:txBody>
      </p:sp>
      <p:sp>
        <p:nvSpPr>
          <p:cNvPr id="19" name="Shape 14"/>
          <p:cNvSpPr/>
          <p:nvPr/>
        </p:nvSpPr>
        <p:spPr>
          <a:xfrm>
            <a:off x="566928" y="4133088"/>
            <a:ext cx="11057839" cy="1975104"/>
          </a:xfrm>
          <a:prstGeom prst="roundRect">
            <a:avLst>
              <a:gd name="adj" fmla="val 5556"/>
            </a:avLst>
          </a:prstGeom>
          <a:solidFill>
            <a:srgbClr val="121D24"/>
          </a:solidFill>
          <a:ln/>
          <a:effectLst>
            <a:outerShdw sx="100000" sy="100000" kx="0" ky="0" algn="bl" rotWithShape="0" blurRad="127000" dist="38100" dir="5400000">
              <a:srgbClr val="0B1418">
                <a:alpha val="13000"/>
              </a:srgbClr>
            </a:outerShdw>
          </a:effectLst>
        </p:spPr>
      </p:sp>
      <p:sp>
        <p:nvSpPr>
          <p:cNvPr id="20" name="Shape 15"/>
          <p:cNvSpPr/>
          <p:nvPr/>
        </p:nvSpPr>
        <p:spPr>
          <a:xfrm>
            <a:off x="914400" y="4480560"/>
            <a:ext cx="749808" cy="749808"/>
          </a:xfrm>
          <a:prstGeom prst="ellipse">
            <a:avLst/>
          </a:prstGeom>
          <a:solidFill>
            <a:srgbClr val="F0B429"/>
          </a:solidFill>
          <a:ln/>
        </p:spPr>
      </p:sp>
      <p:pic>
        <p:nvPicPr>
          <p:cNvPr id="21" name="Image 3" descr="/home/claude/agile/icons/dod.png">    </p:cNvPr>
          <p:cNvPicPr>
            <a:picLocks noChangeAspect="1"/>
          </p:cNvPicPr>
          <p:nvPr/>
        </p:nvPicPr>
        <p:blipFill>
          <a:blip r:embed="rId4"/>
          <a:stretch>
            <a:fillRect/>
          </a:stretch>
        </p:blipFill>
        <p:spPr>
          <a:xfrm>
            <a:off x="1124346" y="4690506"/>
            <a:ext cx="329916" cy="329916"/>
          </a:xfrm>
          <a:prstGeom prst="rect">
            <a:avLst/>
          </a:prstGeom>
        </p:spPr>
      </p:pic>
      <p:sp>
        <p:nvSpPr>
          <p:cNvPr id="22" name="Text 16"/>
          <p:cNvSpPr/>
          <p:nvPr/>
        </p:nvSpPr>
        <p:spPr>
          <a:xfrm>
            <a:off x="1865376" y="4443984"/>
            <a:ext cx="457200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Definition of Done</a:t>
            </a:r>
            <a:endParaRPr lang="en-US" sz="2000" dirty="0"/>
          </a:p>
        </p:txBody>
      </p:sp>
      <p:sp>
        <p:nvSpPr>
          <p:cNvPr id="23" name="Text 17"/>
          <p:cNvSpPr/>
          <p:nvPr/>
        </p:nvSpPr>
        <p:spPr>
          <a:xfrm>
            <a:off x="1865376" y="4846320"/>
            <a:ext cx="4937760" cy="822960"/>
          </a:xfrm>
          <a:prstGeom prst="rect">
            <a:avLst/>
          </a:prstGeom>
          <a:noFill/>
          <a:ln/>
        </p:spPr>
        <p:txBody>
          <a:bodyPr wrap="square" lIns="0" tIns="0" rIns="0" bIns="0" rtlCol="0" anchor="ctr"/>
          <a:lstStyle/>
          <a:p>
            <a:pPr indent="0" marL="0">
              <a:lnSpc>
                <a:spcPts val="1800"/>
              </a:lnSpc>
              <a:buNone/>
            </a:pPr>
            <a:r>
              <a:rPr lang="en-US" sz="1300" dirty="0">
                <a:solidFill>
                  <a:srgbClr val="B9C7CB"/>
                </a:solidFill>
                <a:latin typeface="Calibri" pitchFamily="34" charset="0"/>
                <a:ea typeface="Calibri" pitchFamily="34" charset="-122"/>
                <a:cs typeface="Calibri" pitchFamily="34" charset="-120"/>
              </a:rPr>
              <a:t>The shared, explicit, non-negotiable bar every increment must clear. Without it, "done" means "merged" and QA finds the truth three sprints later.</a:t>
            </a:r>
            <a:endParaRPr lang="en-US" sz="1300" dirty="0"/>
          </a:p>
        </p:txBody>
      </p:sp>
      <p:sp>
        <p:nvSpPr>
          <p:cNvPr id="24" name="Shape 18"/>
          <p:cNvSpPr/>
          <p:nvPr/>
        </p:nvSpPr>
        <p:spPr>
          <a:xfrm>
            <a:off x="6766560" y="4590288"/>
            <a:ext cx="1517904" cy="475488"/>
          </a:xfrm>
          <a:prstGeom prst="roundRect">
            <a:avLst>
              <a:gd name="adj" fmla="val 13462"/>
            </a:avLst>
          </a:prstGeom>
          <a:solidFill>
            <a:srgbClr val="1C2E38"/>
          </a:solidFill>
          <a:ln/>
        </p:spPr>
      </p:sp>
      <p:sp>
        <p:nvSpPr>
          <p:cNvPr id="25" name="Text 19"/>
          <p:cNvSpPr/>
          <p:nvPr/>
        </p:nvSpPr>
        <p:spPr>
          <a:xfrm>
            <a:off x="6766560" y="4590288"/>
            <a:ext cx="1517904" cy="475488"/>
          </a:xfrm>
          <a:prstGeom prst="rect">
            <a:avLst/>
          </a:prstGeom>
          <a:noFill/>
          <a:ln/>
        </p:spPr>
        <p:txBody>
          <a:bodyPr wrap="square" lIns="0" tIns="0" rIns="0" bIns="0" rtlCol="0" anchor="ctr"/>
          <a:lstStyle/>
          <a:p>
            <a:pPr algn="ctr" indent="0" marL="0">
              <a:buNone/>
            </a:pPr>
            <a:r>
              <a:rPr lang="en-US" sz="950" dirty="0">
                <a:solidFill>
                  <a:srgbClr val="CBD8DB"/>
                </a:solidFill>
                <a:latin typeface="Courier New" pitchFamily="34" charset="0"/>
                <a:ea typeface="Courier New" pitchFamily="34" charset="-122"/>
                <a:cs typeface="Courier New" pitchFamily="34" charset="-120"/>
              </a:rPr>
              <a:t>Code reviewed</a:t>
            </a:r>
            <a:endParaRPr lang="en-US" sz="950" dirty="0"/>
          </a:p>
        </p:txBody>
      </p:sp>
      <p:sp>
        <p:nvSpPr>
          <p:cNvPr id="26" name="Shape 20"/>
          <p:cNvSpPr/>
          <p:nvPr/>
        </p:nvSpPr>
        <p:spPr>
          <a:xfrm>
            <a:off x="8394192" y="4590288"/>
            <a:ext cx="1517904" cy="475488"/>
          </a:xfrm>
          <a:prstGeom prst="roundRect">
            <a:avLst>
              <a:gd name="adj" fmla="val 13462"/>
            </a:avLst>
          </a:prstGeom>
          <a:solidFill>
            <a:srgbClr val="1C2E38"/>
          </a:solidFill>
          <a:ln/>
        </p:spPr>
      </p:sp>
      <p:sp>
        <p:nvSpPr>
          <p:cNvPr id="27" name="Text 21"/>
          <p:cNvSpPr/>
          <p:nvPr/>
        </p:nvSpPr>
        <p:spPr>
          <a:xfrm>
            <a:off x="8394192" y="4590288"/>
            <a:ext cx="1517904" cy="475488"/>
          </a:xfrm>
          <a:prstGeom prst="rect">
            <a:avLst/>
          </a:prstGeom>
          <a:noFill/>
          <a:ln/>
        </p:spPr>
        <p:txBody>
          <a:bodyPr wrap="square" lIns="0" tIns="0" rIns="0" bIns="0" rtlCol="0" anchor="ctr"/>
          <a:lstStyle/>
          <a:p>
            <a:pPr algn="ctr" indent="0" marL="0">
              <a:buNone/>
            </a:pPr>
            <a:r>
              <a:rPr lang="en-US" sz="950" dirty="0">
                <a:solidFill>
                  <a:srgbClr val="CBD8DB"/>
                </a:solidFill>
                <a:latin typeface="Courier New" pitchFamily="34" charset="0"/>
                <a:ea typeface="Courier New" pitchFamily="34" charset="-122"/>
                <a:cs typeface="Courier New" pitchFamily="34" charset="-120"/>
              </a:rPr>
              <a:t>Tests written &amp; green</a:t>
            </a:r>
            <a:endParaRPr lang="en-US" sz="950" dirty="0"/>
          </a:p>
        </p:txBody>
      </p:sp>
      <p:sp>
        <p:nvSpPr>
          <p:cNvPr id="28" name="Shape 22"/>
          <p:cNvSpPr/>
          <p:nvPr/>
        </p:nvSpPr>
        <p:spPr>
          <a:xfrm>
            <a:off x="10021824" y="4590288"/>
            <a:ext cx="1517904" cy="475488"/>
          </a:xfrm>
          <a:prstGeom prst="roundRect">
            <a:avLst>
              <a:gd name="adj" fmla="val 13462"/>
            </a:avLst>
          </a:prstGeom>
          <a:solidFill>
            <a:srgbClr val="1C2E38"/>
          </a:solidFill>
          <a:ln/>
        </p:spPr>
      </p:sp>
      <p:sp>
        <p:nvSpPr>
          <p:cNvPr id="29" name="Text 23"/>
          <p:cNvSpPr/>
          <p:nvPr/>
        </p:nvSpPr>
        <p:spPr>
          <a:xfrm>
            <a:off x="10021824" y="4590288"/>
            <a:ext cx="1517904" cy="475488"/>
          </a:xfrm>
          <a:prstGeom prst="rect">
            <a:avLst/>
          </a:prstGeom>
          <a:noFill/>
          <a:ln/>
        </p:spPr>
        <p:txBody>
          <a:bodyPr wrap="square" lIns="0" tIns="0" rIns="0" bIns="0" rtlCol="0" anchor="ctr"/>
          <a:lstStyle/>
          <a:p>
            <a:pPr algn="ctr" indent="0" marL="0">
              <a:buNone/>
            </a:pPr>
            <a:r>
              <a:rPr lang="en-US" sz="950" dirty="0">
                <a:solidFill>
                  <a:srgbClr val="CBD8DB"/>
                </a:solidFill>
                <a:latin typeface="Courier New" pitchFamily="34" charset="0"/>
                <a:ea typeface="Courier New" pitchFamily="34" charset="-122"/>
                <a:cs typeface="Courier New" pitchFamily="34" charset="-120"/>
              </a:rPr>
              <a:t>Merged to main</a:t>
            </a:r>
            <a:endParaRPr lang="en-US" sz="950" dirty="0"/>
          </a:p>
        </p:txBody>
      </p:sp>
      <p:sp>
        <p:nvSpPr>
          <p:cNvPr id="30" name="Shape 24"/>
          <p:cNvSpPr/>
          <p:nvPr/>
        </p:nvSpPr>
        <p:spPr>
          <a:xfrm>
            <a:off x="6766560" y="5212080"/>
            <a:ext cx="1517904" cy="475488"/>
          </a:xfrm>
          <a:prstGeom prst="roundRect">
            <a:avLst>
              <a:gd name="adj" fmla="val 13462"/>
            </a:avLst>
          </a:prstGeom>
          <a:solidFill>
            <a:srgbClr val="1C2E38"/>
          </a:solidFill>
          <a:ln/>
        </p:spPr>
      </p:sp>
      <p:sp>
        <p:nvSpPr>
          <p:cNvPr id="31" name="Text 25"/>
          <p:cNvSpPr/>
          <p:nvPr/>
        </p:nvSpPr>
        <p:spPr>
          <a:xfrm>
            <a:off x="6766560" y="5212080"/>
            <a:ext cx="1517904" cy="475488"/>
          </a:xfrm>
          <a:prstGeom prst="rect">
            <a:avLst/>
          </a:prstGeom>
          <a:noFill/>
          <a:ln/>
        </p:spPr>
        <p:txBody>
          <a:bodyPr wrap="square" lIns="0" tIns="0" rIns="0" bIns="0" rtlCol="0" anchor="ctr"/>
          <a:lstStyle/>
          <a:p>
            <a:pPr algn="ctr" indent="0" marL="0">
              <a:buNone/>
            </a:pPr>
            <a:r>
              <a:rPr lang="en-US" sz="950" dirty="0">
                <a:solidFill>
                  <a:srgbClr val="CBD8DB"/>
                </a:solidFill>
                <a:latin typeface="Courier New" pitchFamily="34" charset="0"/>
                <a:ea typeface="Courier New" pitchFamily="34" charset="-122"/>
                <a:cs typeface="Courier New" pitchFamily="34" charset="-120"/>
              </a:rPr>
              <a:t>Deployable</a:t>
            </a:r>
            <a:endParaRPr lang="en-US" sz="950" dirty="0"/>
          </a:p>
        </p:txBody>
      </p:sp>
      <p:sp>
        <p:nvSpPr>
          <p:cNvPr id="32" name="Shape 26"/>
          <p:cNvSpPr/>
          <p:nvPr/>
        </p:nvSpPr>
        <p:spPr>
          <a:xfrm>
            <a:off x="8394192" y="5212080"/>
            <a:ext cx="1517904" cy="475488"/>
          </a:xfrm>
          <a:prstGeom prst="roundRect">
            <a:avLst>
              <a:gd name="adj" fmla="val 13462"/>
            </a:avLst>
          </a:prstGeom>
          <a:solidFill>
            <a:srgbClr val="1C2E38"/>
          </a:solidFill>
          <a:ln/>
        </p:spPr>
      </p:sp>
      <p:sp>
        <p:nvSpPr>
          <p:cNvPr id="33" name="Text 27"/>
          <p:cNvSpPr/>
          <p:nvPr/>
        </p:nvSpPr>
        <p:spPr>
          <a:xfrm>
            <a:off x="8394192" y="5212080"/>
            <a:ext cx="1517904" cy="475488"/>
          </a:xfrm>
          <a:prstGeom prst="rect">
            <a:avLst/>
          </a:prstGeom>
          <a:noFill/>
          <a:ln/>
        </p:spPr>
        <p:txBody>
          <a:bodyPr wrap="square" lIns="0" tIns="0" rIns="0" bIns="0" rtlCol="0" anchor="ctr"/>
          <a:lstStyle/>
          <a:p>
            <a:pPr algn="ctr" indent="0" marL="0">
              <a:buNone/>
            </a:pPr>
            <a:r>
              <a:rPr lang="en-US" sz="950" dirty="0">
                <a:solidFill>
                  <a:srgbClr val="CBD8DB"/>
                </a:solidFill>
                <a:latin typeface="Courier New" pitchFamily="34" charset="0"/>
                <a:ea typeface="Courier New" pitchFamily="34" charset="-122"/>
                <a:cs typeface="Courier New" pitchFamily="34" charset="-120"/>
              </a:rPr>
              <a:t>AC verified</a:t>
            </a:r>
            <a:endParaRPr lang="en-US" sz="950" dirty="0"/>
          </a:p>
        </p:txBody>
      </p:sp>
      <p:sp>
        <p:nvSpPr>
          <p:cNvPr id="34" name="Shape 28"/>
          <p:cNvSpPr/>
          <p:nvPr/>
        </p:nvSpPr>
        <p:spPr>
          <a:xfrm>
            <a:off x="10021824" y="5212080"/>
            <a:ext cx="1517904" cy="475488"/>
          </a:xfrm>
          <a:prstGeom prst="roundRect">
            <a:avLst>
              <a:gd name="adj" fmla="val 13462"/>
            </a:avLst>
          </a:prstGeom>
          <a:solidFill>
            <a:srgbClr val="1C2E38"/>
          </a:solidFill>
          <a:ln/>
        </p:spPr>
      </p:sp>
      <p:sp>
        <p:nvSpPr>
          <p:cNvPr id="35" name="Text 29"/>
          <p:cNvSpPr/>
          <p:nvPr/>
        </p:nvSpPr>
        <p:spPr>
          <a:xfrm>
            <a:off x="10021824" y="5212080"/>
            <a:ext cx="1517904" cy="475488"/>
          </a:xfrm>
          <a:prstGeom prst="rect">
            <a:avLst/>
          </a:prstGeom>
          <a:noFill/>
          <a:ln/>
        </p:spPr>
        <p:txBody>
          <a:bodyPr wrap="square" lIns="0" tIns="0" rIns="0" bIns="0" rtlCol="0" anchor="ctr"/>
          <a:lstStyle/>
          <a:p>
            <a:pPr algn="ctr" indent="0" marL="0">
              <a:buNone/>
            </a:pPr>
            <a:r>
              <a:rPr lang="en-US" sz="950" dirty="0">
                <a:solidFill>
                  <a:srgbClr val="CBD8DB"/>
                </a:solidFill>
                <a:latin typeface="Courier New" pitchFamily="34" charset="0"/>
                <a:ea typeface="Courier New" pitchFamily="34" charset="-122"/>
                <a:cs typeface="Courier New" pitchFamily="34" charset="-120"/>
              </a:rPr>
              <a:t>Docs updated</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20" kern="0" dirty="0">
                <a:solidFill>
                  <a:srgbClr val="E0512B"/>
                </a:solidFill>
                <a:latin typeface="Courier New" pitchFamily="34" charset="0"/>
                <a:ea typeface="Courier New" pitchFamily="34" charset="-122"/>
                <a:cs typeface="Courier New" pitchFamily="34" charset="-120"/>
              </a:rPr>
              <a:t>03 / SCRUM</a:t>
            </a:r>
            <a:endParaRPr lang="en-US" sz="1100" dirty="0"/>
          </a:p>
        </p:txBody>
      </p:sp>
      <p:sp>
        <p:nvSpPr>
          <p:cNvPr id="3" name="Text 1"/>
          <p:cNvSpPr/>
          <p:nvPr/>
        </p:nvSpPr>
        <p:spPr>
          <a:xfrm>
            <a:off x="566928" y="676656"/>
            <a:ext cx="11057839" cy="658368"/>
          </a:xfrm>
          <a:prstGeom prst="rect">
            <a:avLst/>
          </a:prstGeom>
          <a:noFill/>
          <a:ln/>
        </p:spPr>
        <p:txBody>
          <a:bodyPr wrap="square" lIns="0" tIns="0" rIns="0" bIns="0" rtlCol="0" anchor="ctr"/>
          <a:lstStyle/>
          <a:p>
            <a:pPr algn="l" indent="0" marL="0">
              <a:buNone/>
            </a:pPr>
            <a:r>
              <a:rPr lang="en-US" sz="3400" b="1" dirty="0">
                <a:solidFill>
                  <a:srgbClr val="121D24"/>
                </a:solidFill>
                <a:latin typeface="Calibri" pitchFamily="34" charset="0"/>
                <a:ea typeface="Calibri" pitchFamily="34" charset="-122"/>
                <a:cs typeface="Calibri" pitchFamily="34" charset="-120"/>
              </a:rPr>
              <a:t>The sprint loop</a:t>
            </a:r>
            <a:endParaRPr lang="en-US" sz="3400" dirty="0"/>
          </a:p>
        </p:txBody>
      </p:sp>
      <p:sp>
        <p:nvSpPr>
          <p:cNvPr id="4" name="Shape 2"/>
          <p:cNvSpPr/>
          <p:nvPr/>
        </p:nvSpPr>
        <p:spPr>
          <a:xfrm>
            <a:off x="2029968" y="2340864"/>
            <a:ext cx="3145536" cy="3145536"/>
          </a:xfrm>
          <a:prstGeom prst="ellipse">
            <a:avLst/>
          </a:prstGeom>
          <a:ln w="139700">
            <a:solidFill>
              <a:srgbClr val="D7E8E2"/>
            </a:solidFill>
            <a:prstDash val="solid"/>
          </a:ln>
        </p:spPr>
      </p:sp>
      <p:sp>
        <p:nvSpPr>
          <p:cNvPr id="5" name="Shape 3"/>
          <p:cNvSpPr/>
          <p:nvPr/>
        </p:nvSpPr>
        <p:spPr>
          <a:xfrm>
            <a:off x="2980944" y="1719072"/>
            <a:ext cx="1243584" cy="1243584"/>
          </a:xfrm>
          <a:prstGeom prst="ellipse">
            <a:avLst/>
          </a:prstGeom>
          <a:solidFill>
            <a:srgbClr val="0F4C42"/>
          </a:solidFill>
          <a:ln w="38100">
            <a:solidFill>
              <a:srgbClr val="FFFFFF"/>
            </a:solidFill>
            <a:prstDash val="solid"/>
          </a:ln>
          <a:effectLst>
            <a:outerShdw sx="100000" sy="100000" kx="0" ky="0" algn="bl" rotWithShape="0" blurRad="101600" dist="25400" dir="5400000">
              <a:srgbClr val="0B1418">
                <a:alpha val="18000"/>
              </a:srgbClr>
            </a:outerShdw>
          </a:effectLst>
        </p:spPr>
      </p:sp>
      <p:sp>
        <p:nvSpPr>
          <p:cNvPr id="6" name="Text 4"/>
          <p:cNvSpPr/>
          <p:nvPr/>
        </p:nvSpPr>
        <p:spPr>
          <a:xfrm>
            <a:off x="2980944" y="1719072"/>
            <a:ext cx="1243584" cy="12435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Refine</a:t>
            </a:r>
            <a:endParaRPr lang="en-US" sz="1300" dirty="0"/>
          </a:p>
        </p:txBody>
      </p:sp>
      <p:sp>
        <p:nvSpPr>
          <p:cNvPr id="7" name="Shape 5"/>
          <p:cNvSpPr/>
          <p:nvPr/>
        </p:nvSpPr>
        <p:spPr>
          <a:xfrm>
            <a:off x="4476735" y="2805828"/>
            <a:ext cx="1243584" cy="1243584"/>
          </a:xfrm>
          <a:prstGeom prst="ellipse">
            <a:avLst/>
          </a:prstGeom>
          <a:solidFill>
            <a:srgbClr val="0F4C42"/>
          </a:solidFill>
          <a:ln w="38100">
            <a:solidFill>
              <a:srgbClr val="FFFFFF"/>
            </a:solidFill>
            <a:prstDash val="solid"/>
          </a:ln>
          <a:effectLst>
            <a:outerShdw sx="100000" sy="100000" kx="0" ky="0" algn="bl" rotWithShape="0" blurRad="101600" dist="25400" dir="5400000">
              <a:srgbClr val="0B1418">
                <a:alpha val="18000"/>
              </a:srgbClr>
            </a:outerShdw>
          </a:effectLst>
        </p:spPr>
      </p:sp>
      <p:sp>
        <p:nvSpPr>
          <p:cNvPr id="8" name="Text 6"/>
          <p:cNvSpPr/>
          <p:nvPr/>
        </p:nvSpPr>
        <p:spPr>
          <a:xfrm>
            <a:off x="4476735" y="2805828"/>
            <a:ext cx="1243584" cy="12435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Plan</a:t>
            </a:r>
            <a:endParaRPr lang="en-US" sz="1300" dirty="0"/>
          </a:p>
        </p:txBody>
      </p:sp>
      <p:sp>
        <p:nvSpPr>
          <p:cNvPr id="9" name="Shape 7"/>
          <p:cNvSpPr/>
          <p:nvPr/>
        </p:nvSpPr>
        <p:spPr>
          <a:xfrm>
            <a:off x="3905394" y="4564236"/>
            <a:ext cx="1243584" cy="1243584"/>
          </a:xfrm>
          <a:prstGeom prst="ellipse">
            <a:avLst/>
          </a:prstGeom>
          <a:solidFill>
            <a:srgbClr val="0F4C42"/>
          </a:solidFill>
          <a:ln w="38100">
            <a:solidFill>
              <a:srgbClr val="FFFFFF"/>
            </a:solidFill>
            <a:prstDash val="solid"/>
          </a:ln>
          <a:effectLst>
            <a:outerShdw sx="100000" sy="100000" kx="0" ky="0" algn="bl" rotWithShape="0" blurRad="101600" dist="25400" dir="5400000">
              <a:srgbClr val="0B1418">
                <a:alpha val="18000"/>
              </a:srgbClr>
            </a:outerShdw>
          </a:effectLst>
        </p:spPr>
      </p:sp>
      <p:sp>
        <p:nvSpPr>
          <p:cNvPr id="10" name="Text 8"/>
          <p:cNvSpPr/>
          <p:nvPr/>
        </p:nvSpPr>
        <p:spPr>
          <a:xfrm>
            <a:off x="3905394" y="4564236"/>
            <a:ext cx="1243584" cy="12435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Build</a:t>
            </a:r>
            <a:endParaRPr lang="en-US" sz="1300" dirty="0"/>
          </a:p>
        </p:txBody>
      </p:sp>
      <p:sp>
        <p:nvSpPr>
          <p:cNvPr id="11" name="Shape 9"/>
          <p:cNvSpPr/>
          <p:nvPr/>
        </p:nvSpPr>
        <p:spPr>
          <a:xfrm>
            <a:off x="2056494" y="4564236"/>
            <a:ext cx="1243584" cy="1243584"/>
          </a:xfrm>
          <a:prstGeom prst="ellipse">
            <a:avLst/>
          </a:prstGeom>
          <a:solidFill>
            <a:srgbClr val="0F4C42"/>
          </a:solidFill>
          <a:ln w="38100">
            <a:solidFill>
              <a:srgbClr val="FFFFFF"/>
            </a:solidFill>
            <a:prstDash val="solid"/>
          </a:ln>
          <a:effectLst>
            <a:outerShdw sx="100000" sy="100000" kx="0" ky="0" algn="bl" rotWithShape="0" blurRad="101600" dist="25400" dir="5400000">
              <a:srgbClr val="0B1418">
                <a:alpha val="18000"/>
              </a:srgbClr>
            </a:outerShdw>
          </a:effectLst>
        </p:spPr>
      </p:sp>
      <p:sp>
        <p:nvSpPr>
          <p:cNvPr id="12" name="Text 10"/>
          <p:cNvSpPr/>
          <p:nvPr/>
        </p:nvSpPr>
        <p:spPr>
          <a:xfrm>
            <a:off x="2056494" y="4564236"/>
            <a:ext cx="1243584" cy="12435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Review</a:t>
            </a:r>
            <a:endParaRPr lang="en-US" sz="1300" dirty="0"/>
          </a:p>
        </p:txBody>
      </p:sp>
      <p:sp>
        <p:nvSpPr>
          <p:cNvPr id="13" name="Shape 11"/>
          <p:cNvSpPr/>
          <p:nvPr/>
        </p:nvSpPr>
        <p:spPr>
          <a:xfrm>
            <a:off x="1485153" y="2805828"/>
            <a:ext cx="1243584" cy="1243584"/>
          </a:xfrm>
          <a:prstGeom prst="ellipse">
            <a:avLst/>
          </a:prstGeom>
          <a:solidFill>
            <a:srgbClr val="0F4C42"/>
          </a:solidFill>
          <a:ln w="38100">
            <a:solidFill>
              <a:srgbClr val="FFFFFF"/>
            </a:solidFill>
            <a:prstDash val="solid"/>
          </a:ln>
          <a:effectLst>
            <a:outerShdw sx="100000" sy="100000" kx="0" ky="0" algn="bl" rotWithShape="0" blurRad="101600" dist="25400" dir="5400000">
              <a:srgbClr val="0B1418">
                <a:alpha val="18000"/>
              </a:srgbClr>
            </a:outerShdw>
          </a:effectLst>
        </p:spPr>
      </p:sp>
      <p:sp>
        <p:nvSpPr>
          <p:cNvPr id="14" name="Text 12"/>
          <p:cNvSpPr/>
          <p:nvPr/>
        </p:nvSpPr>
        <p:spPr>
          <a:xfrm>
            <a:off x="1485153" y="2805828"/>
            <a:ext cx="1243584" cy="12435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Retro</a:t>
            </a:r>
            <a:endParaRPr lang="en-US" sz="1300" dirty="0"/>
          </a:p>
        </p:txBody>
      </p:sp>
      <p:sp>
        <p:nvSpPr>
          <p:cNvPr id="15" name="Shape 13"/>
          <p:cNvSpPr/>
          <p:nvPr/>
        </p:nvSpPr>
        <p:spPr>
          <a:xfrm rot="7560000">
            <a:off x="4399170" y="2513220"/>
            <a:ext cx="256032" cy="256032"/>
          </a:xfrm>
          <a:prstGeom prst="triangle">
            <a:avLst/>
          </a:prstGeom>
          <a:solidFill>
            <a:srgbClr val="2A8C7A"/>
          </a:solidFill>
          <a:ln/>
        </p:spPr>
      </p:sp>
      <p:sp>
        <p:nvSpPr>
          <p:cNvPr id="16" name="Shape 14"/>
          <p:cNvSpPr/>
          <p:nvPr/>
        </p:nvSpPr>
        <p:spPr>
          <a:xfrm rot="11880000">
            <a:off x="4970511" y="4271628"/>
            <a:ext cx="256032" cy="256032"/>
          </a:xfrm>
          <a:prstGeom prst="triangle">
            <a:avLst/>
          </a:prstGeom>
          <a:solidFill>
            <a:srgbClr val="2A8C7A"/>
          </a:solidFill>
          <a:ln/>
        </p:spPr>
      </p:sp>
      <p:sp>
        <p:nvSpPr>
          <p:cNvPr id="17" name="Shape 15"/>
          <p:cNvSpPr/>
          <p:nvPr/>
        </p:nvSpPr>
        <p:spPr>
          <a:xfrm rot="16200000">
            <a:off x="3474720" y="5358384"/>
            <a:ext cx="256032" cy="256032"/>
          </a:xfrm>
          <a:prstGeom prst="triangle">
            <a:avLst/>
          </a:prstGeom>
          <a:solidFill>
            <a:srgbClr val="2A8C7A"/>
          </a:solidFill>
          <a:ln/>
        </p:spPr>
      </p:sp>
      <p:sp>
        <p:nvSpPr>
          <p:cNvPr id="18" name="Shape 16"/>
          <p:cNvSpPr/>
          <p:nvPr/>
        </p:nvSpPr>
        <p:spPr>
          <a:xfrm rot="20520000">
            <a:off x="1978929" y="4271628"/>
            <a:ext cx="256032" cy="256032"/>
          </a:xfrm>
          <a:prstGeom prst="triangle">
            <a:avLst/>
          </a:prstGeom>
          <a:solidFill>
            <a:srgbClr val="2A8C7A"/>
          </a:solidFill>
          <a:ln/>
        </p:spPr>
      </p:sp>
      <p:sp>
        <p:nvSpPr>
          <p:cNvPr id="19" name="Shape 17"/>
          <p:cNvSpPr/>
          <p:nvPr/>
        </p:nvSpPr>
        <p:spPr>
          <a:xfrm rot="3240000">
            <a:off x="2550270" y="2513220"/>
            <a:ext cx="256032" cy="256032"/>
          </a:xfrm>
          <a:prstGeom prst="triangle">
            <a:avLst/>
          </a:prstGeom>
          <a:solidFill>
            <a:srgbClr val="2A8C7A"/>
          </a:solidFill>
          <a:ln/>
        </p:spPr>
      </p:sp>
      <p:sp>
        <p:nvSpPr>
          <p:cNvPr id="20" name="Text 18"/>
          <p:cNvSpPr/>
          <p:nvPr/>
        </p:nvSpPr>
        <p:spPr>
          <a:xfrm>
            <a:off x="2688336" y="3547872"/>
            <a:ext cx="1828800" cy="731520"/>
          </a:xfrm>
          <a:prstGeom prst="rect">
            <a:avLst/>
          </a:prstGeom>
          <a:noFill/>
          <a:ln/>
        </p:spPr>
        <p:txBody>
          <a:bodyPr wrap="square" lIns="0" tIns="0" rIns="0" bIns="0" rtlCol="0" anchor="ctr"/>
          <a:lstStyle/>
          <a:p>
            <a:pPr algn="ctr" indent="0" marL="0">
              <a:buNone/>
            </a:pPr>
            <a:r>
              <a:rPr lang="en-US" sz="1300" b="1" spc="200" kern="0" dirty="0">
                <a:solidFill>
                  <a:srgbClr val="E0512B"/>
                </a:solidFill>
                <a:latin typeface="Courier New" pitchFamily="34" charset="0"/>
                <a:ea typeface="Courier New" pitchFamily="34" charset="-122"/>
                <a:cs typeface="Courier New" pitchFamily="34" charset="-120"/>
              </a:rPr>
              <a:t>SPRINT</a:t>
            </a:r>
            <a:pPr algn="ctr" indent="0" marL="0">
              <a:buNone/>
            </a:pPr>
            <a:endParaRPr lang="en-US" sz="1300" dirty="0"/>
          </a:p>
          <a:p>
            <a:pPr algn="ctr" indent="0" marL="0">
              <a:buNone/>
            </a:pPr>
            <a:r>
              <a:rPr lang="en-US" sz="1200" dirty="0">
                <a:solidFill>
                  <a:srgbClr val="6B7A7F"/>
                </a:solidFill>
                <a:latin typeface="Calibri" pitchFamily="34" charset="0"/>
                <a:ea typeface="Calibri" pitchFamily="34" charset="-122"/>
                <a:cs typeface="Calibri" pitchFamily="34" charset="-120"/>
              </a:rPr>
              <a:t>1–2 weeks</a:t>
            </a:r>
            <a:endParaRPr lang="en-US" sz="1300" dirty="0"/>
          </a:p>
        </p:txBody>
      </p:sp>
      <p:sp>
        <p:nvSpPr>
          <p:cNvPr id="21" name="Shape 19"/>
          <p:cNvSpPr/>
          <p:nvPr/>
        </p:nvSpPr>
        <p:spPr>
          <a:xfrm>
            <a:off x="6272784" y="1755648"/>
            <a:ext cx="384048" cy="384048"/>
          </a:xfrm>
          <a:prstGeom prst="ellipse">
            <a:avLst/>
          </a:prstGeom>
          <a:solidFill>
            <a:srgbClr val="D7E8E2"/>
          </a:solidFill>
          <a:ln/>
        </p:spPr>
      </p:sp>
      <p:sp>
        <p:nvSpPr>
          <p:cNvPr id="22" name="Text 20"/>
          <p:cNvSpPr/>
          <p:nvPr/>
        </p:nvSpPr>
        <p:spPr>
          <a:xfrm>
            <a:off x="6272784" y="1755648"/>
            <a:ext cx="384048" cy="384048"/>
          </a:xfrm>
          <a:prstGeom prst="rect">
            <a:avLst/>
          </a:prstGeom>
          <a:noFill/>
          <a:ln/>
        </p:spPr>
        <p:txBody>
          <a:bodyPr wrap="square" lIns="0" tIns="0" rIns="0" bIns="0" rtlCol="0" anchor="ctr"/>
          <a:lstStyle/>
          <a:p>
            <a:pPr algn="ctr" indent="0" marL="0">
              <a:buNone/>
            </a:pPr>
            <a:r>
              <a:rPr lang="en-US" sz="924" b="1" dirty="0">
                <a:solidFill>
                  <a:srgbClr val="0F4C42"/>
                </a:solidFill>
                <a:latin typeface="Courier New" pitchFamily="34" charset="0"/>
                <a:ea typeface="Courier New" pitchFamily="34" charset="-122"/>
                <a:cs typeface="Courier New" pitchFamily="34" charset="-120"/>
              </a:rPr>
              <a:t>1</a:t>
            </a:r>
            <a:endParaRPr lang="en-US" sz="924" dirty="0"/>
          </a:p>
        </p:txBody>
      </p:sp>
      <p:sp>
        <p:nvSpPr>
          <p:cNvPr id="23" name="Text 21"/>
          <p:cNvSpPr/>
          <p:nvPr/>
        </p:nvSpPr>
        <p:spPr>
          <a:xfrm>
            <a:off x="6803136" y="1719072"/>
            <a:ext cx="4846320" cy="274320"/>
          </a:xfrm>
          <a:prstGeom prst="rect">
            <a:avLst/>
          </a:prstGeom>
          <a:noFill/>
          <a:ln/>
        </p:spPr>
        <p:txBody>
          <a:bodyPr wrap="square" lIns="0" tIns="0" rIns="0" bIns="0" rtlCol="0" anchor="ctr"/>
          <a:lstStyle/>
          <a:p>
            <a:pPr indent="0" marL="0">
              <a:buNone/>
            </a:pPr>
            <a:r>
              <a:rPr lang="en-US" sz="1500" b="1" dirty="0">
                <a:solidFill>
                  <a:srgbClr val="121D24"/>
                </a:solidFill>
                <a:latin typeface="Calibri" pitchFamily="34" charset="0"/>
                <a:ea typeface="Calibri" pitchFamily="34" charset="-122"/>
                <a:cs typeface="Calibri" pitchFamily="34" charset="-120"/>
              </a:rPr>
              <a:t>Refine</a:t>
            </a:r>
            <a:endParaRPr lang="en-US" sz="1500" dirty="0"/>
          </a:p>
        </p:txBody>
      </p:sp>
      <p:sp>
        <p:nvSpPr>
          <p:cNvPr id="24" name="Text 22"/>
          <p:cNvSpPr/>
          <p:nvPr/>
        </p:nvSpPr>
        <p:spPr>
          <a:xfrm>
            <a:off x="6803136" y="2011680"/>
            <a:ext cx="4846320" cy="566928"/>
          </a:xfrm>
          <a:prstGeom prst="rect">
            <a:avLst/>
          </a:prstGeom>
          <a:noFill/>
          <a:ln/>
        </p:spPr>
        <p:txBody>
          <a:bodyPr wrap="square" lIns="0" tIns="0" rIns="0" bIns="0" rtlCol="0" anchor="ctr"/>
          <a:lstStyle/>
          <a:p>
            <a:pPr indent="0" marL="0">
              <a:lnSpc>
                <a:spcPts val="1550"/>
              </a:lnSpc>
              <a:buNone/>
            </a:pPr>
            <a:r>
              <a:rPr lang="en-US" sz="1200" dirty="0">
                <a:solidFill>
                  <a:srgbClr val="4E5D62"/>
                </a:solidFill>
                <a:latin typeface="Calibri" pitchFamily="34" charset="0"/>
                <a:ea typeface="Calibri" pitchFamily="34" charset="-122"/>
                <a:cs typeface="Calibri" pitchFamily="34" charset="-120"/>
              </a:rPr>
              <a:t>Backlog refinement runs continuously mid-sprint: size items, write acceptance criteria, split anything too big.</a:t>
            </a:r>
            <a:endParaRPr lang="en-US" sz="1200" dirty="0"/>
          </a:p>
        </p:txBody>
      </p:sp>
      <p:sp>
        <p:nvSpPr>
          <p:cNvPr id="25" name="Shape 23"/>
          <p:cNvSpPr/>
          <p:nvPr/>
        </p:nvSpPr>
        <p:spPr>
          <a:xfrm>
            <a:off x="6272784" y="2688336"/>
            <a:ext cx="384048" cy="384048"/>
          </a:xfrm>
          <a:prstGeom prst="ellipse">
            <a:avLst/>
          </a:prstGeom>
          <a:solidFill>
            <a:srgbClr val="D7E8E2"/>
          </a:solidFill>
          <a:ln/>
        </p:spPr>
      </p:sp>
      <p:sp>
        <p:nvSpPr>
          <p:cNvPr id="26" name="Text 24"/>
          <p:cNvSpPr/>
          <p:nvPr/>
        </p:nvSpPr>
        <p:spPr>
          <a:xfrm>
            <a:off x="6272784" y="2688336"/>
            <a:ext cx="384048" cy="384048"/>
          </a:xfrm>
          <a:prstGeom prst="rect">
            <a:avLst/>
          </a:prstGeom>
          <a:noFill/>
          <a:ln/>
        </p:spPr>
        <p:txBody>
          <a:bodyPr wrap="square" lIns="0" tIns="0" rIns="0" bIns="0" rtlCol="0" anchor="ctr"/>
          <a:lstStyle/>
          <a:p>
            <a:pPr algn="ctr" indent="0" marL="0">
              <a:buNone/>
            </a:pPr>
            <a:r>
              <a:rPr lang="en-US" sz="924" b="1" dirty="0">
                <a:solidFill>
                  <a:srgbClr val="0F4C42"/>
                </a:solidFill>
                <a:latin typeface="Courier New" pitchFamily="34" charset="0"/>
                <a:ea typeface="Courier New" pitchFamily="34" charset="-122"/>
                <a:cs typeface="Courier New" pitchFamily="34" charset="-120"/>
              </a:rPr>
              <a:t>2</a:t>
            </a:r>
            <a:endParaRPr lang="en-US" sz="924" dirty="0"/>
          </a:p>
        </p:txBody>
      </p:sp>
      <p:sp>
        <p:nvSpPr>
          <p:cNvPr id="27" name="Text 25"/>
          <p:cNvSpPr/>
          <p:nvPr/>
        </p:nvSpPr>
        <p:spPr>
          <a:xfrm>
            <a:off x="6803136" y="2651760"/>
            <a:ext cx="4846320" cy="274320"/>
          </a:xfrm>
          <a:prstGeom prst="rect">
            <a:avLst/>
          </a:prstGeom>
          <a:noFill/>
          <a:ln/>
        </p:spPr>
        <p:txBody>
          <a:bodyPr wrap="square" lIns="0" tIns="0" rIns="0" bIns="0" rtlCol="0" anchor="ctr"/>
          <a:lstStyle/>
          <a:p>
            <a:pPr indent="0" marL="0">
              <a:buNone/>
            </a:pPr>
            <a:r>
              <a:rPr lang="en-US" sz="1500" b="1" dirty="0">
                <a:solidFill>
                  <a:srgbClr val="121D24"/>
                </a:solidFill>
                <a:latin typeface="Calibri" pitchFamily="34" charset="0"/>
                <a:ea typeface="Calibri" pitchFamily="34" charset="-122"/>
                <a:cs typeface="Calibri" pitchFamily="34" charset="-120"/>
              </a:rPr>
              <a:t>Plan</a:t>
            </a:r>
            <a:endParaRPr lang="en-US" sz="1500" dirty="0"/>
          </a:p>
        </p:txBody>
      </p:sp>
      <p:sp>
        <p:nvSpPr>
          <p:cNvPr id="28" name="Text 26"/>
          <p:cNvSpPr/>
          <p:nvPr/>
        </p:nvSpPr>
        <p:spPr>
          <a:xfrm>
            <a:off x="6803136" y="2944368"/>
            <a:ext cx="4846320" cy="566928"/>
          </a:xfrm>
          <a:prstGeom prst="rect">
            <a:avLst/>
          </a:prstGeom>
          <a:noFill/>
          <a:ln/>
        </p:spPr>
        <p:txBody>
          <a:bodyPr wrap="square" lIns="0" tIns="0" rIns="0" bIns="0" rtlCol="0" anchor="ctr"/>
          <a:lstStyle/>
          <a:p>
            <a:pPr indent="0" marL="0">
              <a:lnSpc>
                <a:spcPts val="1550"/>
              </a:lnSpc>
              <a:buNone/>
            </a:pPr>
            <a:r>
              <a:rPr lang="en-US" sz="1200" dirty="0">
                <a:solidFill>
                  <a:srgbClr val="4E5D62"/>
                </a:solidFill>
                <a:latin typeface="Calibri" pitchFamily="34" charset="0"/>
                <a:ea typeface="Calibri" pitchFamily="34" charset="-122"/>
                <a:cs typeface="Calibri" pitchFamily="34" charset="-120"/>
              </a:rPr>
              <a:t>Sprint Planning picks the slice and breaks it into tasks. Output: a sprint goal and a frozen sprint backlog.</a:t>
            </a:r>
            <a:endParaRPr lang="en-US" sz="1200" dirty="0"/>
          </a:p>
        </p:txBody>
      </p:sp>
      <p:sp>
        <p:nvSpPr>
          <p:cNvPr id="29" name="Shape 27"/>
          <p:cNvSpPr/>
          <p:nvPr/>
        </p:nvSpPr>
        <p:spPr>
          <a:xfrm>
            <a:off x="6272784" y="3621024"/>
            <a:ext cx="384048" cy="384048"/>
          </a:xfrm>
          <a:prstGeom prst="ellipse">
            <a:avLst/>
          </a:prstGeom>
          <a:solidFill>
            <a:srgbClr val="D7E8E2"/>
          </a:solidFill>
          <a:ln/>
        </p:spPr>
      </p:sp>
      <p:sp>
        <p:nvSpPr>
          <p:cNvPr id="30" name="Text 28"/>
          <p:cNvSpPr/>
          <p:nvPr/>
        </p:nvSpPr>
        <p:spPr>
          <a:xfrm>
            <a:off x="6272784" y="3621024"/>
            <a:ext cx="384048" cy="384048"/>
          </a:xfrm>
          <a:prstGeom prst="rect">
            <a:avLst/>
          </a:prstGeom>
          <a:noFill/>
          <a:ln/>
        </p:spPr>
        <p:txBody>
          <a:bodyPr wrap="square" lIns="0" tIns="0" rIns="0" bIns="0" rtlCol="0" anchor="ctr"/>
          <a:lstStyle/>
          <a:p>
            <a:pPr algn="ctr" indent="0" marL="0">
              <a:buNone/>
            </a:pPr>
            <a:r>
              <a:rPr lang="en-US" sz="924" b="1" dirty="0">
                <a:solidFill>
                  <a:srgbClr val="0F4C42"/>
                </a:solidFill>
                <a:latin typeface="Courier New" pitchFamily="34" charset="0"/>
                <a:ea typeface="Courier New" pitchFamily="34" charset="-122"/>
                <a:cs typeface="Courier New" pitchFamily="34" charset="-120"/>
              </a:rPr>
              <a:t>3</a:t>
            </a:r>
            <a:endParaRPr lang="en-US" sz="924" dirty="0"/>
          </a:p>
        </p:txBody>
      </p:sp>
      <p:sp>
        <p:nvSpPr>
          <p:cNvPr id="31" name="Text 29"/>
          <p:cNvSpPr/>
          <p:nvPr/>
        </p:nvSpPr>
        <p:spPr>
          <a:xfrm>
            <a:off x="6803136" y="3584448"/>
            <a:ext cx="4846320" cy="274320"/>
          </a:xfrm>
          <a:prstGeom prst="rect">
            <a:avLst/>
          </a:prstGeom>
          <a:noFill/>
          <a:ln/>
        </p:spPr>
        <p:txBody>
          <a:bodyPr wrap="square" lIns="0" tIns="0" rIns="0" bIns="0" rtlCol="0" anchor="ctr"/>
          <a:lstStyle/>
          <a:p>
            <a:pPr indent="0" marL="0">
              <a:buNone/>
            </a:pPr>
            <a:r>
              <a:rPr lang="en-US" sz="1500" b="1" dirty="0">
                <a:solidFill>
                  <a:srgbClr val="121D24"/>
                </a:solidFill>
                <a:latin typeface="Calibri" pitchFamily="34" charset="0"/>
                <a:ea typeface="Calibri" pitchFamily="34" charset="-122"/>
                <a:cs typeface="Calibri" pitchFamily="34" charset="-120"/>
              </a:rPr>
              <a:t>Build</a:t>
            </a:r>
            <a:endParaRPr lang="en-US" sz="1500" dirty="0"/>
          </a:p>
        </p:txBody>
      </p:sp>
      <p:sp>
        <p:nvSpPr>
          <p:cNvPr id="32" name="Text 30"/>
          <p:cNvSpPr/>
          <p:nvPr/>
        </p:nvSpPr>
        <p:spPr>
          <a:xfrm>
            <a:off x="6803136" y="3877056"/>
            <a:ext cx="4846320" cy="566928"/>
          </a:xfrm>
          <a:prstGeom prst="rect">
            <a:avLst/>
          </a:prstGeom>
          <a:noFill/>
          <a:ln/>
        </p:spPr>
        <p:txBody>
          <a:bodyPr wrap="square" lIns="0" tIns="0" rIns="0" bIns="0" rtlCol="0" anchor="ctr"/>
          <a:lstStyle/>
          <a:p>
            <a:pPr indent="0" marL="0">
              <a:lnSpc>
                <a:spcPts val="1550"/>
              </a:lnSpc>
              <a:buNone/>
            </a:pPr>
            <a:r>
              <a:rPr lang="en-US" sz="1200" dirty="0">
                <a:solidFill>
                  <a:srgbClr val="4E5D62"/>
                </a:solidFill>
                <a:latin typeface="Calibri" pitchFamily="34" charset="0"/>
                <a:ea typeface="Calibri" pitchFamily="34" charset="-122"/>
                <a:cs typeface="Calibri" pitchFamily="34" charset="-120"/>
              </a:rPr>
              <a:t>The team builds. A 15-minute daily standup syncs and surfaces blockers — it is not a status report to a manager.</a:t>
            </a:r>
            <a:endParaRPr lang="en-US" sz="1200" dirty="0"/>
          </a:p>
        </p:txBody>
      </p:sp>
      <p:sp>
        <p:nvSpPr>
          <p:cNvPr id="33" name="Shape 31"/>
          <p:cNvSpPr/>
          <p:nvPr/>
        </p:nvSpPr>
        <p:spPr>
          <a:xfrm>
            <a:off x="6272784" y="4553712"/>
            <a:ext cx="384048" cy="384048"/>
          </a:xfrm>
          <a:prstGeom prst="ellipse">
            <a:avLst/>
          </a:prstGeom>
          <a:solidFill>
            <a:srgbClr val="D7E8E2"/>
          </a:solidFill>
          <a:ln/>
        </p:spPr>
      </p:sp>
      <p:sp>
        <p:nvSpPr>
          <p:cNvPr id="34" name="Text 32"/>
          <p:cNvSpPr/>
          <p:nvPr/>
        </p:nvSpPr>
        <p:spPr>
          <a:xfrm>
            <a:off x="6272784" y="4553712"/>
            <a:ext cx="384048" cy="384048"/>
          </a:xfrm>
          <a:prstGeom prst="rect">
            <a:avLst/>
          </a:prstGeom>
          <a:noFill/>
          <a:ln/>
        </p:spPr>
        <p:txBody>
          <a:bodyPr wrap="square" lIns="0" tIns="0" rIns="0" bIns="0" rtlCol="0" anchor="ctr"/>
          <a:lstStyle/>
          <a:p>
            <a:pPr algn="ctr" indent="0" marL="0">
              <a:buNone/>
            </a:pPr>
            <a:r>
              <a:rPr lang="en-US" sz="924" b="1" dirty="0">
                <a:solidFill>
                  <a:srgbClr val="0F4C42"/>
                </a:solidFill>
                <a:latin typeface="Courier New" pitchFamily="34" charset="0"/>
                <a:ea typeface="Courier New" pitchFamily="34" charset="-122"/>
                <a:cs typeface="Courier New" pitchFamily="34" charset="-120"/>
              </a:rPr>
              <a:t>4</a:t>
            </a:r>
            <a:endParaRPr lang="en-US" sz="924" dirty="0"/>
          </a:p>
        </p:txBody>
      </p:sp>
      <p:sp>
        <p:nvSpPr>
          <p:cNvPr id="35" name="Text 33"/>
          <p:cNvSpPr/>
          <p:nvPr/>
        </p:nvSpPr>
        <p:spPr>
          <a:xfrm>
            <a:off x="6803136" y="4517136"/>
            <a:ext cx="4846320" cy="274320"/>
          </a:xfrm>
          <a:prstGeom prst="rect">
            <a:avLst/>
          </a:prstGeom>
          <a:noFill/>
          <a:ln/>
        </p:spPr>
        <p:txBody>
          <a:bodyPr wrap="square" lIns="0" tIns="0" rIns="0" bIns="0" rtlCol="0" anchor="ctr"/>
          <a:lstStyle/>
          <a:p>
            <a:pPr indent="0" marL="0">
              <a:buNone/>
            </a:pPr>
            <a:r>
              <a:rPr lang="en-US" sz="1500" b="1" dirty="0">
                <a:solidFill>
                  <a:srgbClr val="121D24"/>
                </a:solidFill>
                <a:latin typeface="Calibri" pitchFamily="34" charset="0"/>
                <a:ea typeface="Calibri" pitchFamily="34" charset="-122"/>
                <a:cs typeface="Calibri" pitchFamily="34" charset="-120"/>
              </a:rPr>
              <a:t>Review</a:t>
            </a:r>
            <a:endParaRPr lang="en-US" sz="1500" dirty="0"/>
          </a:p>
        </p:txBody>
      </p:sp>
      <p:sp>
        <p:nvSpPr>
          <p:cNvPr id="36" name="Text 34"/>
          <p:cNvSpPr/>
          <p:nvPr/>
        </p:nvSpPr>
        <p:spPr>
          <a:xfrm>
            <a:off x="6803136" y="4809744"/>
            <a:ext cx="4846320" cy="566928"/>
          </a:xfrm>
          <a:prstGeom prst="rect">
            <a:avLst/>
          </a:prstGeom>
          <a:noFill/>
          <a:ln/>
        </p:spPr>
        <p:txBody>
          <a:bodyPr wrap="square" lIns="0" tIns="0" rIns="0" bIns="0" rtlCol="0" anchor="ctr"/>
          <a:lstStyle/>
          <a:p>
            <a:pPr indent="0" marL="0">
              <a:lnSpc>
                <a:spcPts val="1550"/>
              </a:lnSpc>
              <a:buNone/>
            </a:pPr>
            <a:r>
              <a:rPr lang="en-US" sz="1200" dirty="0">
                <a:solidFill>
                  <a:srgbClr val="4E5D62"/>
                </a:solidFill>
                <a:latin typeface="Calibri" pitchFamily="34" charset="0"/>
                <a:ea typeface="Calibri" pitchFamily="34" charset="-122"/>
                <a:cs typeface="Calibri" pitchFamily="34" charset="-120"/>
              </a:rPr>
              <a:t>Demo working software to stakeholders. Real feedback enters here and reorders the product backlog.</a:t>
            </a:r>
            <a:endParaRPr lang="en-US" sz="1200" dirty="0"/>
          </a:p>
        </p:txBody>
      </p:sp>
      <p:sp>
        <p:nvSpPr>
          <p:cNvPr id="37" name="Shape 35"/>
          <p:cNvSpPr/>
          <p:nvPr/>
        </p:nvSpPr>
        <p:spPr>
          <a:xfrm>
            <a:off x="6272784" y="5486400"/>
            <a:ext cx="384048" cy="384048"/>
          </a:xfrm>
          <a:prstGeom prst="ellipse">
            <a:avLst/>
          </a:prstGeom>
          <a:solidFill>
            <a:srgbClr val="D7E8E2"/>
          </a:solidFill>
          <a:ln/>
        </p:spPr>
      </p:sp>
      <p:sp>
        <p:nvSpPr>
          <p:cNvPr id="38" name="Text 36"/>
          <p:cNvSpPr/>
          <p:nvPr/>
        </p:nvSpPr>
        <p:spPr>
          <a:xfrm>
            <a:off x="6272784" y="5486400"/>
            <a:ext cx="384048" cy="384048"/>
          </a:xfrm>
          <a:prstGeom prst="rect">
            <a:avLst/>
          </a:prstGeom>
          <a:noFill/>
          <a:ln/>
        </p:spPr>
        <p:txBody>
          <a:bodyPr wrap="square" lIns="0" tIns="0" rIns="0" bIns="0" rtlCol="0" anchor="ctr"/>
          <a:lstStyle/>
          <a:p>
            <a:pPr algn="ctr" indent="0" marL="0">
              <a:buNone/>
            </a:pPr>
            <a:r>
              <a:rPr lang="en-US" sz="924" b="1" dirty="0">
                <a:solidFill>
                  <a:srgbClr val="0F4C42"/>
                </a:solidFill>
                <a:latin typeface="Courier New" pitchFamily="34" charset="0"/>
                <a:ea typeface="Courier New" pitchFamily="34" charset="-122"/>
                <a:cs typeface="Courier New" pitchFamily="34" charset="-120"/>
              </a:rPr>
              <a:t>5</a:t>
            </a:r>
            <a:endParaRPr lang="en-US" sz="924" dirty="0"/>
          </a:p>
        </p:txBody>
      </p:sp>
      <p:sp>
        <p:nvSpPr>
          <p:cNvPr id="39" name="Text 37"/>
          <p:cNvSpPr/>
          <p:nvPr/>
        </p:nvSpPr>
        <p:spPr>
          <a:xfrm>
            <a:off x="6803136" y="5449824"/>
            <a:ext cx="4846320" cy="274320"/>
          </a:xfrm>
          <a:prstGeom prst="rect">
            <a:avLst/>
          </a:prstGeom>
          <a:noFill/>
          <a:ln/>
        </p:spPr>
        <p:txBody>
          <a:bodyPr wrap="square" lIns="0" tIns="0" rIns="0" bIns="0" rtlCol="0" anchor="ctr"/>
          <a:lstStyle/>
          <a:p>
            <a:pPr indent="0" marL="0">
              <a:buNone/>
            </a:pPr>
            <a:r>
              <a:rPr lang="en-US" sz="1500" b="1" dirty="0">
                <a:solidFill>
                  <a:srgbClr val="121D24"/>
                </a:solidFill>
                <a:latin typeface="Calibri" pitchFamily="34" charset="0"/>
                <a:ea typeface="Calibri" pitchFamily="34" charset="-122"/>
                <a:cs typeface="Calibri" pitchFamily="34" charset="-120"/>
              </a:rPr>
              <a:t>Retro</a:t>
            </a:r>
            <a:endParaRPr lang="en-US" sz="1500" dirty="0"/>
          </a:p>
        </p:txBody>
      </p:sp>
      <p:sp>
        <p:nvSpPr>
          <p:cNvPr id="40" name="Text 38"/>
          <p:cNvSpPr/>
          <p:nvPr/>
        </p:nvSpPr>
        <p:spPr>
          <a:xfrm>
            <a:off x="6803136" y="5742432"/>
            <a:ext cx="4846320" cy="566928"/>
          </a:xfrm>
          <a:prstGeom prst="rect">
            <a:avLst/>
          </a:prstGeom>
          <a:noFill/>
          <a:ln/>
        </p:spPr>
        <p:txBody>
          <a:bodyPr wrap="square" lIns="0" tIns="0" rIns="0" bIns="0" rtlCol="0" anchor="ctr"/>
          <a:lstStyle/>
          <a:p>
            <a:pPr indent="0" marL="0">
              <a:lnSpc>
                <a:spcPts val="1550"/>
              </a:lnSpc>
              <a:buNone/>
            </a:pPr>
            <a:r>
              <a:rPr lang="en-US" sz="1200" dirty="0">
                <a:solidFill>
                  <a:srgbClr val="4E5D62"/>
                </a:solidFill>
                <a:latin typeface="Calibri" pitchFamily="34" charset="0"/>
                <a:ea typeface="Calibri" pitchFamily="34" charset="-122"/>
                <a:cs typeface="Calibri" pitchFamily="34" charset="-120"/>
              </a:rPr>
              <a:t>Improve how the team works, not what it built. Action items need owners or the retro is theatre.</a:t>
            </a:r>
            <a:endParaRPr lang="en-US" sz="1200" dirty="0"/>
          </a:p>
        </p:txBody>
      </p:sp>
      <p:sp>
        <p:nvSpPr>
          <p:cNvPr id="41" name="Text 39"/>
          <p:cNvSpPr/>
          <p:nvPr/>
        </p:nvSpPr>
        <p:spPr>
          <a:xfrm>
            <a:off x="566928" y="6108192"/>
            <a:ext cx="11057839" cy="438912"/>
          </a:xfrm>
          <a:prstGeom prst="rect">
            <a:avLst/>
          </a:prstGeom>
          <a:noFill/>
          <a:ln/>
        </p:spPr>
        <p:txBody>
          <a:bodyPr wrap="square" lIns="0" tIns="0" rIns="0" bIns="0" rtlCol="0" anchor="ctr"/>
          <a:lstStyle/>
          <a:p>
            <a:pPr indent="0" marL="0">
              <a:lnSpc>
                <a:spcPts val="1500"/>
              </a:lnSpc>
              <a:buNone/>
            </a:pPr>
            <a:r>
              <a:rPr lang="en-US" sz="1050" dirty="0">
                <a:solidFill>
                  <a:srgbClr val="6B7A7F"/>
                </a:solidFill>
                <a:latin typeface="Courier New" pitchFamily="34" charset="0"/>
                <a:ea typeface="Courier New" pitchFamily="34" charset="-122"/>
                <a:cs typeface="Courier New" pitchFamily="34" charset="-120"/>
              </a:rPr>
              <a:t>The loop is the product. Everything else in Scrum exists to keep it turning on time.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20" kern="0" dirty="0">
                <a:solidFill>
                  <a:srgbClr val="E0512B"/>
                </a:solidFill>
                <a:latin typeface="Courier New" pitchFamily="34" charset="0"/>
                <a:ea typeface="Courier New" pitchFamily="34" charset="-122"/>
                <a:cs typeface="Courier New" pitchFamily="34" charset="-120"/>
              </a:rPr>
              <a:t>03 / SCRUM</a:t>
            </a:r>
            <a:endParaRPr lang="en-US" sz="1100" dirty="0"/>
          </a:p>
        </p:txBody>
      </p:sp>
      <p:sp>
        <p:nvSpPr>
          <p:cNvPr id="3" name="Text 1"/>
          <p:cNvSpPr/>
          <p:nvPr/>
        </p:nvSpPr>
        <p:spPr>
          <a:xfrm>
            <a:off x="566928" y="676656"/>
            <a:ext cx="11057839" cy="658368"/>
          </a:xfrm>
          <a:prstGeom prst="rect">
            <a:avLst/>
          </a:prstGeom>
          <a:noFill/>
          <a:ln/>
        </p:spPr>
        <p:txBody>
          <a:bodyPr wrap="square" lIns="0" tIns="0" rIns="0" bIns="0" rtlCol="0" anchor="ctr"/>
          <a:lstStyle/>
          <a:p>
            <a:pPr algn="l" indent="0" marL="0">
              <a:buNone/>
            </a:pPr>
            <a:r>
              <a:rPr lang="en-US" sz="3400" b="1" dirty="0">
                <a:solidFill>
                  <a:srgbClr val="121D24"/>
                </a:solidFill>
                <a:latin typeface="Calibri" pitchFamily="34" charset="0"/>
                <a:ea typeface="Calibri" pitchFamily="34" charset="-122"/>
                <a:cs typeface="Calibri" pitchFamily="34" charset="-120"/>
              </a:rPr>
              <a:t>Four ceremonies, four timeboxes</a:t>
            </a:r>
            <a:endParaRPr lang="en-US" sz="3400" dirty="0"/>
          </a:p>
        </p:txBody>
      </p:sp>
      <p:sp>
        <p:nvSpPr>
          <p:cNvPr id="4" name="Text 2"/>
          <p:cNvSpPr/>
          <p:nvPr/>
        </p:nvSpPr>
        <p:spPr>
          <a:xfrm>
            <a:off x="566928" y="1335024"/>
            <a:ext cx="10058400" cy="457200"/>
          </a:xfrm>
          <a:prstGeom prst="rect">
            <a:avLst/>
          </a:prstGeom>
          <a:noFill/>
          <a:ln/>
        </p:spPr>
        <p:txBody>
          <a:bodyPr wrap="square" lIns="0" tIns="0" rIns="0" bIns="0" rtlCol="0" anchor="t"/>
          <a:lstStyle/>
          <a:p>
            <a:pPr indent="0" marL="0">
              <a:lnSpc>
                <a:spcPts val="1900"/>
              </a:lnSpc>
              <a:buNone/>
            </a:pPr>
            <a:r>
              <a:rPr lang="en-US" sz="1450" dirty="0">
                <a:solidFill>
                  <a:srgbClr val="6B7A7F"/>
                </a:solidFill>
                <a:latin typeface="Calibri" pitchFamily="34" charset="0"/>
                <a:ea typeface="Calibri" pitchFamily="34" charset="-122"/>
                <a:cs typeface="Calibri" pitchFamily="34" charset="-120"/>
              </a:rPr>
              <a:t>Every ceremony has a purpose and a hard limit. When a ceremony overruns, it has usually drifted into doing another one's job.</a:t>
            </a:r>
            <a:endParaRPr lang="en-US" sz="1450" dirty="0"/>
          </a:p>
        </p:txBody>
      </p:sp>
      <p:sp>
        <p:nvSpPr>
          <p:cNvPr id="5" name="Shape 3"/>
          <p:cNvSpPr/>
          <p:nvPr/>
        </p:nvSpPr>
        <p:spPr>
          <a:xfrm>
            <a:off x="566928" y="2103120"/>
            <a:ext cx="11057839" cy="841248"/>
          </a:xfrm>
          <a:prstGeom prst="roundRect">
            <a:avLst>
              <a:gd name="adj" fmla="val 9783"/>
            </a:avLst>
          </a:prstGeom>
          <a:solidFill>
            <a:srgbClr val="EDF1F0"/>
          </a:solidFill>
          <a:ln/>
          <a:effectLst>
            <a:outerShdw sx="100000" sy="100000" kx="0" ky="0" algn="bl" rotWithShape="0" blurRad="127000" dist="38100" dir="5400000">
              <a:srgbClr val="0B1418">
                <a:alpha val="13000"/>
              </a:srgbClr>
            </a:outerShdw>
          </a:effectLst>
        </p:spPr>
      </p:sp>
      <p:sp>
        <p:nvSpPr>
          <p:cNvPr id="6" name="Shape 4"/>
          <p:cNvSpPr/>
          <p:nvPr/>
        </p:nvSpPr>
        <p:spPr>
          <a:xfrm>
            <a:off x="804672" y="2249424"/>
            <a:ext cx="548640" cy="548640"/>
          </a:xfrm>
          <a:prstGeom prst="ellipse">
            <a:avLst/>
          </a:prstGeom>
          <a:solidFill>
            <a:srgbClr val="0F4C42"/>
          </a:solidFill>
          <a:ln/>
        </p:spPr>
      </p:sp>
      <p:pic>
        <p:nvPicPr>
          <p:cNvPr id="7" name="Image 0" descr="/home/claude/agile/icons/planning.png">    </p:cNvPr>
          <p:cNvPicPr>
            <a:picLocks noChangeAspect="1"/>
          </p:cNvPicPr>
          <p:nvPr/>
        </p:nvPicPr>
        <p:blipFill>
          <a:blip r:embed="rId1"/>
          <a:stretch>
            <a:fillRect/>
          </a:stretch>
        </p:blipFill>
        <p:spPr>
          <a:xfrm>
            <a:off x="958291" y="2403043"/>
            <a:ext cx="241402" cy="241402"/>
          </a:xfrm>
          <a:prstGeom prst="rect">
            <a:avLst/>
          </a:prstGeom>
        </p:spPr>
      </p:pic>
      <p:sp>
        <p:nvSpPr>
          <p:cNvPr id="8" name="Text 5"/>
          <p:cNvSpPr/>
          <p:nvPr/>
        </p:nvSpPr>
        <p:spPr>
          <a:xfrm>
            <a:off x="1499616" y="2103120"/>
            <a:ext cx="2286000" cy="841248"/>
          </a:xfrm>
          <a:prstGeom prst="rect">
            <a:avLst/>
          </a:prstGeom>
          <a:noFill/>
          <a:ln/>
        </p:spPr>
        <p:txBody>
          <a:bodyPr wrap="square" lIns="0" tIns="0" rIns="0" bIns="0" rtlCol="0" anchor="ctr"/>
          <a:lstStyle/>
          <a:p>
            <a:pPr indent="0" marL="0">
              <a:buNone/>
            </a:pPr>
            <a:r>
              <a:rPr lang="en-US" sz="1600" b="1" dirty="0">
                <a:solidFill>
                  <a:srgbClr val="121D24"/>
                </a:solidFill>
                <a:latin typeface="Calibri" pitchFamily="34" charset="0"/>
                <a:ea typeface="Calibri" pitchFamily="34" charset="-122"/>
                <a:cs typeface="Calibri" pitchFamily="34" charset="-120"/>
              </a:rPr>
              <a:t>Sprint Planning</a:t>
            </a:r>
            <a:endParaRPr lang="en-US" sz="1600" dirty="0"/>
          </a:p>
        </p:txBody>
      </p:sp>
      <p:sp>
        <p:nvSpPr>
          <p:cNvPr id="9" name="Text 6"/>
          <p:cNvSpPr/>
          <p:nvPr/>
        </p:nvSpPr>
        <p:spPr>
          <a:xfrm>
            <a:off x="3858768" y="2103120"/>
            <a:ext cx="1554480" cy="841248"/>
          </a:xfrm>
          <a:prstGeom prst="rect">
            <a:avLst/>
          </a:prstGeom>
          <a:noFill/>
          <a:ln/>
        </p:spPr>
        <p:txBody>
          <a:bodyPr wrap="square" lIns="0" tIns="0" rIns="0" bIns="0" rtlCol="0" anchor="ctr"/>
          <a:lstStyle/>
          <a:p>
            <a:pPr indent="0" marL="0">
              <a:buNone/>
            </a:pPr>
            <a:r>
              <a:rPr lang="en-US" sz="1100" dirty="0">
                <a:solidFill>
                  <a:srgbClr val="6B7A7F"/>
                </a:solidFill>
                <a:latin typeface="Courier New" pitchFamily="34" charset="0"/>
                <a:ea typeface="Courier New" pitchFamily="34" charset="-122"/>
                <a:cs typeface="Courier New" pitchFamily="34" charset="-120"/>
              </a:rPr>
              <a:t>Start of sprint</a:t>
            </a:r>
            <a:endParaRPr lang="en-US" sz="1100" dirty="0"/>
          </a:p>
        </p:txBody>
      </p:sp>
      <p:sp>
        <p:nvSpPr>
          <p:cNvPr id="10" name="Shape 7"/>
          <p:cNvSpPr/>
          <p:nvPr/>
        </p:nvSpPr>
        <p:spPr>
          <a:xfrm>
            <a:off x="5522976" y="2322576"/>
            <a:ext cx="1042416" cy="402336"/>
          </a:xfrm>
          <a:prstGeom prst="roundRect">
            <a:avLst>
              <a:gd name="adj" fmla="val 15909"/>
            </a:avLst>
          </a:prstGeom>
          <a:solidFill>
            <a:srgbClr val="F0B429"/>
          </a:solidFill>
          <a:ln/>
        </p:spPr>
      </p:sp>
      <p:sp>
        <p:nvSpPr>
          <p:cNvPr id="11" name="Text 8"/>
          <p:cNvSpPr/>
          <p:nvPr/>
        </p:nvSpPr>
        <p:spPr>
          <a:xfrm>
            <a:off x="5522976" y="2322576"/>
            <a:ext cx="1042416" cy="402336"/>
          </a:xfrm>
          <a:prstGeom prst="rect">
            <a:avLst/>
          </a:prstGeom>
          <a:noFill/>
          <a:ln/>
        </p:spPr>
        <p:txBody>
          <a:bodyPr wrap="square" lIns="0" tIns="0" rIns="0" bIns="0" rtlCol="0" anchor="ctr"/>
          <a:lstStyle/>
          <a:p>
            <a:pPr algn="ctr" indent="0" marL="0">
              <a:buNone/>
            </a:pPr>
            <a:r>
              <a:rPr lang="en-US" sz="1100" b="1" dirty="0">
                <a:solidFill>
                  <a:srgbClr val="4A3708"/>
                </a:solidFill>
                <a:latin typeface="Courier New" pitchFamily="34" charset="0"/>
                <a:ea typeface="Courier New" pitchFamily="34" charset="-122"/>
                <a:cs typeface="Courier New" pitchFamily="34" charset="-120"/>
              </a:rPr>
              <a:t>2–4 hrs</a:t>
            </a:r>
            <a:endParaRPr lang="en-US" sz="1100" dirty="0"/>
          </a:p>
        </p:txBody>
      </p:sp>
      <p:sp>
        <p:nvSpPr>
          <p:cNvPr id="12" name="Text 9"/>
          <p:cNvSpPr/>
          <p:nvPr/>
        </p:nvSpPr>
        <p:spPr>
          <a:xfrm>
            <a:off x="6839712" y="2103120"/>
            <a:ext cx="4663440" cy="841248"/>
          </a:xfrm>
          <a:prstGeom prst="rect">
            <a:avLst/>
          </a:prstGeom>
          <a:noFill/>
          <a:ln/>
        </p:spPr>
        <p:txBody>
          <a:bodyPr wrap="square" lIns="0" tIns="0" rIns="0" bIns="0" rtlCol="0" anchor="ctr"/>
          <a:lstStyle/>
          <a:p>
            <a:pPr indent="0" marL="0">
              <a:lnSpc>
                <a:spcPts val="1600"/>
              </a:lnSpc>
              <a:buNone/>
            </a:pPr>
            <a:r>
              <a:rPr lang="en-US" sz="1250" dirty="0">
                <a:solidFill>
                  <a:srgbClr val="4E5D62"/>
                </a:solidFill>
                <a:latin typeface="Calibri" pitchFamily="34" charset="0"/>
                <a:ea typeface="Calibri" pitchFamily="34" charset="-122"/>
                <a:cs typeface="Calibri" pitchFamily="34" charset="-120"/>
              </a:rPr>
              <a:t>Decide what is in, break it into tasks, agree a sprint goal.</a:t>
            </a:r>
            <a:endParaRPr lang="en-US" sz="1250" dirty="0"/>
          </a:p>
        </p:txBody>
      </p:sp>
      <p:sp>
        <p:nvSpPr>
          <p:cNvPr id="13" name="Shape 10"/>
          <p:cNvSpPr/>
          <p:nvPr/>
        </p:nvSpPr>
        <p:spPr>
          <a:xfrm>
            <a:off x="566928" y="3072384"/>
            <a:ext cx="11057839" cy="841248"/>
          </a:xfrm>
          <a:prstGeom prst="roundRect">
            <a:avLst>
              <a:gd name="adj" fmla="val 9783"/>
            </a:avLst>
          </a:prstGeom>
          <a:solidFill>
            <a:srgbClr val="FFFFFF"/>
          </a:solidFill>
          <a:ln w="12700">
            <a:solidFill>
              <a:srgbClr val="C8D4D1"/>
            </a:solidFill>
            <a:prstDash val="solid"/>
          </a:ln>
        </p:spPr>
      </p:sp>
      <p:sp>
        <p:nvSpPr>
          <p:cNvPr id="14" name="Shape 11"/>
          <p:cNvSpPr/>
          <p:nvPr/>
        </p:nvSpPr>
        <p:spPr>
          <a:xfrm>
            <a:off x="804672" y="3218688"/>
            <a:ext cx="548640" cy="548640"/>
          </a:xfrm>
          <a:prstGeom prst="ellipse">
            <a:avLst/>
          </a:prstGeom>
          <a:solidFill>
            <a:srgbClr val="2A8C7A"/>
          </a:solidFill>
          <a:ln/>
        </p:spPr>
      </p:sp>
      <p:pic>
        <p:nvPicPr>
          <p:cNvPr id="15" name="Image 1" descr="/home/claude/agile/icons/standup.png">    </p:cNvPr>
          <p:cNvPicPr>
            <a:picLocks noChangeAspect="1"/>
          </p:cNvPicPr>
          <p:nvPr/>
        </p:nvPicPr>
        <p:blipFill>
          <a:blip r:embed="rId2"/>
          <a:stretch>
            <a:fillRect/>
          </a:stretch>
        </p:blipFill>
        <p:spPr>
          <a:xfrm>
            <a:off x="958291" y="3372307"/>
            <a:ext cx="241402" cy="241402"/>
          </a:xfrm>
          <a:prstGeom prst="rect">
            <a:avLst/>
          </a:prstGeom>
        </p:spPr>
      </p:pic>
      <p:sp>
        <p:nvSpPr>
          <p:cNvPr id="16" name="Text 12"/>
          <p:cNvSpPr/>
          <p:nvPr/>
        </p:nvSpPr>
        <p:spPr>
          <a:xfrm>
            <a:off x="1499616" y="3072384"/>
            <a:ext cx="2286000" cy="841248"/>
          </a:xfrm>
          <a:prstGeom prst="rect">
            <a:avLst/>
          </a:prstGeom>
          <a:noFill/>
          <a:ln/>
        </p:spPr>
        <p:txBody>
          <a:bodyPr wrap="square" lIns="0" tIns="0" rIns="0" bIns="0" rtlCol="0" anchor="ctr"/>
          <a:lstStyle/>
          <a:p>
            <a:pPr indent="0" marL="0">
              <a:buNone/>
            </a:pPr>
            <a:r>
              <a:rPr lang="en-US" sz="1600" b="1" dirty="0">
                <a:solidFill>
                  <a:srgbClr val="121D24"/>
                </a:solidFill>
                <a:latin typeface="Calibri" pitchFamily="34" charset="0"/>
                <a:ea typeface="Calibri" pitchFamily="34" charset="-122"/>
                <a:cs typeface="Calibri" pitchFamily="34" charset="-120"/>
              </a:rPr>
              <a:t>Daily Standup</a:t>
            </a:r>
            <a:endParaRPr lang="en-US" sz="1600" dirty="0"/>
          </a:p>
        </p:txBody>
      </p:sp>
      <p:sp>
        <p:nvSpPr>
          <p:cNvPr id="17" name="Text 13"/>
          <p:cNvSpPr/>
          <p:nvPr/>
        </p:nvSpPr>
        <p:spPr>
          <a:xfrm>
            <a:off x="3858768" y="3072384"/>
            <a:ext cx="1554480" cy="841248"/>
          </a:xfrm>
          <a:prstGeom prst="rect">
            <a:avLst/>
          </a:prstGeom>
          <a:noFill/>
          <a:ln/>
        </p:spPr>
        <p:txBody>
          <a:bodyPr wrap="square" lIns="0" tIns="0" rIns="0" bIns="0" rtlCol="0" anchor="ctr"/>
          <a:lstStyle/>
          <a:p>
            <a:pPr indent="0" marL="0">
              <a:buNone/>
            </a:pPr>
            <a:r>
              <a:rPr lang="en-US" sz="1100" dirty="0">
                <a:solidFill>
                  <a:srgbClr val="6B7A7F"/>
                </a:solidFill>
                <a:latin typeface="Courier New" pitchFamily="34" charset="0"/>
                <a:ea typeface="Courier New" pitchFamily="34" charset="-122"/>
                <a:cs typeface="Courier New" pitchFamily="34" charset="-120"/>
              </a:rPr>
              <a:t>Every day</a:t>
            </a:r>
            <a:endParaRPr lang="en-US" sz="1100" dirty="0"/>
          </a:p>
        </p:txBody>
      </p:sp>
      <p:sp>
        <p:nvSpPr>
          <p:cNvPr id="18" name="Shape 14"/>
          <p:cNvSpPr/>
          <p:nvPr/>
        </p:nvSpPr>
        <p:spPr>
          <a:xfrm>
            <a:off x="5522976" y="3291840"/>
            <a:ext cx="1042416" cy="402336"/>
          </a:xfrm>
          <a:prstGeom prst="roundRect">
            <a:avLst>
              <a:gd name="adj" fmla="val 15909"/>
            </a:avLst>
          </a:prstGeom>
          <a:solidFill>
            <a:srgbClr val="F0B429"/>
          </a:solidFill>
          <a:ln/>
        </p:spPr>
      </p:sp>
      <p:sp>
        <p:nvSpPr>
          <p:cNvPr id="19" name="Text 15"/>
          <p:cNvSpPr/>
          <p:nvPr/>
        </p:nvSpPr>
        <p:spPr>
          <a:xfrm>
            <a:off x="5522976" y="3291840"/>
            <a:ext cx="1042416" cy="402336"/>
          </a:xfrm>
          <a:prstGeom prst="rect">
            <a:avLst/>
          </a:prstGeom>
          <a:noFill/>
          <a:ln/>
        </p:spPr>
        <p:txBody>
          <a:bodyPr wrap="square" lIns="0" tIns="0" rIns="0" bIns="0" rtlCol="0" anchor="ctr"/>
          <a:lstStyle/>
          <a:p>
            <a:pPr algn="ctr" indent="0" marL="0">
              <a:buNone/>
            </a:pPr>
            <a:r>
              <a:rPr lang="en-US" sz="1100" b="1" dirty="0">
                <a:solidFill>
                  <a:srgbClr val="4A3708"/>
                </a:solidFill>
                <a:latin typeface="Courier New" pitchFamily="34" charset="0"/>
                <a:ea typeface="Courier New" pitchFamily="34" charset="-122"/>
                <a:cs typeface="Courier New" pitchFamily="34" charset="-120"/>
              </a:rPr>
              <a:t>15 min</a:t>
            </a:r>
            <a:endParaRPr lang="en-US" sz="1100" dirty="0"/>
          </a:p>
        </p:txBody>
      </p:sp>
      <p:sp>
        <p:nvSpPr>
          <p:cNvPr id="20" name="Text 16"/>
          <p:cNvSpPr/>
          <p:nvPr/>
        </p:nvSpPr>
        <p:spPr>
          <a:xfrm>
            <a:off x="6839712" y="3072384"/>
            <a:ext cx="4663440" cy="841248"/>
          </a:xfrm>
          <a:prstGeom prst="rect">
            <a:avLst/>
          </a:prstGeom>
          <a:noFill/>
          <a:ln/>
        </p:spPr>
        <p:txBody>
          <a:bodyPr wrap="square" lIns="0" tIns="0" rIns="0" bIns="0" rtlCol="0" anchor="ctr"/>
          <a:lstStyle/>
          <a:p>
            <a:pPr indent="0" marL="0">
              <a:lnSpc>
                <a:spcPts val="1600"/>
              </a:lnSpc>
              <a:buNone/>
            </a:pPr>
            <a:r>
              <a:rPr lang="en-US" sz="1250" dirty="0">
                <a:solidFill>
                  <a:srgbClr val="4E5D62"/>
                </a:solidFill>
                <a:latin typeface="Calibri" pitchFamily="34" charset="0"/>
                <a:ea typeface="Calibri" pitchFamily="34" charset="-122"/>
                <a:cs typeface="Calibri" pitchFamily="34" charset="-120"/>
              </a:rPr>
              <a:t>Sync and surface blockers. Not a status report to a manager.</a:t>
            </a:r>
            <a:endParaRPr lang="en-US" sz="1250" dirty="0"/>
          </a:p>
        </p:txBody>
      </p:sp>
      <p:sp>
        <p:nvSpPr>
          <p:cNvPr id="21" name="Shape 17"/>
          <p:cNvSpPr/>
          <p:nvPr/>
        </p:nvSpPr>
        <p:spPr>
          <a:xfrm>
            <a:off x="566928" y="4041648"/>
            <a:ext cx="11057839" cy="841248"/>
          </a:xfrm>
          <a:prstGeom prst="roundRect">
            <a:avLst>
              <a:gd name="adj" fmla="val 9783"/>
            </a:avLst>
          </a:prstGeom>
          <a:solidFill>
            <a:srgbClr val="EDF1F0"/>
          </a:solidFill>
          <a:ln/>
          <a:effectLst>
            <a:outerShdw sx="100000" sy="100000" kx="0" ky="0" algn="bl" rotWithShape="0" blurRad="127000" dist="38100" dir="5400000">
              <a:srgbClr val="0B1418">
                <a:alpha val="13000"/>
              </a:srgbClr>
            </a:outerShdw>
          </a:effectLst>
        </p:spPr>
      </p:sp>
      <p:sp>
        <p:nvSpPr>
          <p:cNvPr id="22" name="Shape 18"/>
          <p:cNvSpPr/>
          <p:nvPr/>
        </p:nvSpPr>
        <p:spPr>
          <a:xfrm>
            <a:off x="804672" y="4187952"/>
            <a:ext cx="548640" cy="548640"/>
          </a:xfrm>
          <a:prstGeom prst="ellipse">
            <a:avLst/>
          </a:prstGeom>
          <a:solidFill>
            <a:srgbClr val="0F4C42"/>
          </a:solidFill>
          <a:ln/>
        </p:spPr>
      </p:sp>
      <p:pic>
        <p:nvPicPr>
          <p:cNvPr id="23" name="Image 2" descr="/home/claude/agile/icons/review.png">    </p:cNvPr>
          <p:cNvPicPr>
            <a:picLocks noChangeAspect="1"/>
          </p:cNvPicPr>
          <p:nvPr/>
        </p:nvPicPr>
        <p:blipFill>
          <a:blip r:embed="rId3"/>
          <a:stretch>
            <a:fillRect/>
          </a:stretch>
        </p:blipFill>
        <p:spPr>
          <a:xfrm>
            <a:off x="958291" y="4341571"/>
            <a:ext cx="241402" cy="241402"/>
          </a:xfrm>
          <a:prstGeom prst="rect">
            <a:avLst/>
          </a:prstGeom>
        </p:spPr>
      </p:pic>
      <p:sp>
        <p:nvSpPr>
          <p:cNvPr id="24" name="Text 19"/>
          <p:cNvSpPr/>
          <p:nvPr/>
        </p:nvSpPr>
        <p:spPr>
          <a:xfrm>
            <a:off x="1499616" y="4041648"/>
            <a:ext cx="2286000" cy="841248"/>
          </a:xfrm>
          <a:prstGeom prst="rect">
            <a:avLst/>
          </a:prstGeom>
          <a:noFill/>
          <a:ln/>
        </p:spPr>
        <p:txBody>
          <a:bodyPr wrap="square" lIns="0" tIns="0" rIns="0" bIns="0" rtlCol="0" anchor="ctr"/>
          <a:lstStyle/>
          <a:p>
            <a:pPr indent="0" marL="0">
              <a:buNone/>
            </a:pPr>
            <a:r>
              <a:rPr lang="en-US" sz="1600" b="1" dirty="0">
                <a:solidFill>
                  <a:srgbClr val="121D24"/>
                </a:solidFill>
                <a:latin typeface="Calibri" pitchFamily="34" charset="0"/>
                <a:ea typeface="Calibri" pitchFamily="34" charset="-122"/>
                <a:cs typeface="Calibri" pitchFamily="34" charset="-120"/>
              </a:rPr>
              <a:t>Sprint Review</a:t>
            </a:r>
            <a:endParaRPr lang="en-US" sz="1600" dirty="0"/>
          </a:p>
        </p:txBody>
      </p:sp>
      <p:sp>
        <p:nvSpPr>
          <p:cNvPr id="25" name="Text 20"/>
          <p:cNvSpPr/>
          <p:nvPr/>
        </p:nvSpPr>
        <p:spPr>
          <a:xfrm>
            <a:off x="3858768" y="4041648"/>
            <a:ext cx="1554480" cy="841248"/>
          </a:xfrm>
          <a:prstGeom prst="rect">
            <a:avLst/>
          </a:prstGeom>
          <a:noFill/>
          <a:ln/>
        </p:spPr>
        <p:txBody>
          <a:bodyPr wrap="square" lIns="0" tIns="0" rIns="0" bIns="0" rtlCol="0" anchor="ctr"/>
          <a:lstStyle/>
          <a:p>
            <a:pPr indent="0" marL="0">
              <a:buNone/>
            </a:pPr>
            <a:r>
              <a:rPr lang="en-US" sz="1100" dirty="0">
                <a:solidFill>
                  <a:srgbClr val="6B7A7F"/>
                </a:solidFill>
                <a:latin typeface="Courier New" pitchFamily="34" charset="0"/>
                <a:ea typeface="Courier New" pitchFamily="34" charset="-122"/>
                <a:cs typeface="Courier New" pitchFamily="34" charset="-120"/>
              </a:rPr>
              <a:t>End of sprint</a:t>
            </a:r>
            <a:endParaRPr lang="en-US" sz="1100" dirty="0"/>
          </a:p>
        </p:txBody>
      </p:sp>
      <p:sp>
        <p:nvSpPr>
          <p:cNvPr id="26" name="Shape 21"/>
          <p:cNvSpPr/>
          <p:nvPr/>
        </p:nvSpPr>
        <p:spPr>
          <a:xfrm>
            <a:off x="5522976" y="4261104"/>
            <a:ext cx="1042416" cy="402336"/>
          </a:xfrm>
          <a:prstGeom prst="roundRect">
            <a:avLst>
              <a:gd name="adj" fmla="val 15909"/>
            </a:avLst>
          </a:prstGeom>
          <a:solidFill>
            <a:srgbClr val="F0B429"/>
          </a:solidFill>
          <a:ln/>
        </p:spPr>
      </p:sp>
      <p:sp>
        <p:nvSpPr>
          <p:cNvPr id="27" name="Text 22"/>
          <p:cNvSpPr/>
          <p:nvPr/>
        </p:nvSpPr>
        <p:spPr>
          <a:xfrm>
            <a:off x="5522976" y="4261104"/>
            <a:ext cx="1042416" cy="402336"/>
          </a:xfrm>
          <a:prstGeom prst="rect">
            <a:avLst/>
          </a:prstGeom>
          <a:noFill/>
          <a:ln/>
        </p:spPr>
        <p:txBody>
          <a:bodyPr wrap="square" lIns="0" tIns="0" rIns="0" bIns="0" rtlCol="0" anchor="ctr"/>
          <a:lstStyle/>
          <a:p>
            <a:pPr algn="ctr" indent="0" marL="0">
              <a:buNone/>
            </a:pPr>
            <a:r>
              <a:rPr lang="en-US" sz="1100" b="1" dirty="0">
                <a:solidFill>
                  <a:srgbClr val="4A3708"/>
                </a:solidFill>
                <a:latin typeface="Courier New" pitchFamily="34" charset="0"/>
                <a:ea typeface="Courier New" pitchFamily="34" charset="-122"/>
                <a:cs typeface="Courier New" pitchFamily="34" charset="-120"/>
              </a:rPr>
              <a:t>1–2 hrs</a:t>
            </a:r>
            <a:endParaRPr lang="en-US" sz="1100" dirty="0"/>
          </a:p>
        </p:txBody>
      </p:sp>
      <p:sp>
        <p:nvSpPr>
          <p:cNvPr id="28" name="Text 23"/>
          <p:cNvSpPr/>
          <p:nvPr/>
        </p:nvSpPr>
        <p:spPr>
          <a:xfrm>
            <a:off x="6839712" y="4041648"/>
            <a:ext cx="4663440" cy="841248"/>
          </a:xfrm>
          <a:prstGeom prst="rect">
            <a:avLst/>
          </a:prstGeom>
          <a:noFill/>
          <a:ln/>
        </p:spPr>
        <p:txBody>
          <a:bodyPr wrap="square" lIns="0" tIns="0" rIns="0" bIns="0" rtlCol="0" anchor="ctr"/>
          <a:lstStyle/>
          <a:p>
            <a:pPr indent="0" marL="0">
              <a:lnSpc>
                <a:spcPts val="1600"/>
              </a:lnSpc>
              <a:buNone/>
            </a:pPr>
            <a:r>
              <a:rPr lang="en-US" sz="1250" dirty="0">
                <a:solidFill>
                  <a:srgbClr val="4E5D62"/>
                </a:solidFill>
                <a:latin typeface="Calibri" pitchFamily="34" charset="0"/>
                <a:ea typeface="Calibri" pitchFamily="34" charset="-122"/>
                <a:cs typeface="Calibri" pitchFamily="34" charset="-120"/>
              </a:rPr>
              <a:t>Demo working software, gather feedback from real stakeholders.</a:t>
            </a:r>
            <a:endParaRPr lang="en-US" sz="1250" dirty="0"/>
          </a:p>
        </p:txBody>
      </p:sp>
      <p:sp>
        <p:nvSpPr>
          <p:cNvPr id="29" name="Shape 24"/>
          <p:cNvSpPr/>
          <p:nvPr/>
        </p:nvSpPr>
        <p:spPr>
          <a:xfrm>
            <a:off x="566928" y="5010912"/>
            <a:ext cx="11057839" cy="841248"/>
          </a:xfrm>
          <a:prstGeom prst="roundRect">
            <a:avLst>
              <a:gd name="adj" fmla="val 9783"/>
            </a:avLst>
          </a:prstGeom>
          <a:solidFill>
            <a:srgbClr val="FFFFFF"/>
          </a:solidFill>
          <a:ln w="12700">
            <a:solidFill>
              <a:srgbClr val="C8D4D1"/>
            </a:solidFill>
            <a:prstDash val="solid"/>
          </a:ln>
        </p:spPr>
      </p:sp>
      <p:sp>
        <p:nvSpPr>
          <p:cNvPr id="30" name="Shape 25"/>
          <p:cNvSpPr/>
          <p:nvPr/>
        </p:nvSpPr>
        <p:spPr>
          <a:xfrm>
            <a:off x="804672" y="5157216"/>
            <a:ext cx="548640" cy="548640"/>
          </a:xfrm>
          <a:prstGeom prst="ellipse">
            <a:avLst/>
          </a:prstGeom>
          <a:solidFill>
            <a:srgbClr val="0F4C42"/>
          </a:solidFill>
          <a:ln/>
        </p:spPr>
      </p:sp>
      <p:pic>
        <p:nvPicPr>
          <p:cNvPr id="31" name="Image 3" descr="/home/claude/agile/icons/retro.png">    </p:cNvPr>
          <p:cNvPicPr>
            <a:picLocks noChangeAspect="1"/>
          </p:cNvPicPr>
          <p:nvPr/>
        </p:nvPicPr>
        <p:blipFill>
          <a:blip r:embed="rId4"/>
          <a:stretch>
            <a:fillRect/>
          </a:stretch>
        </p:blipFill>
        <p:spPr>
          <a:xfrm>
            <a:off x="958291" y="5310835"/>
            <a:ext cx="241402" cy="241402"/>
          </a:xfrm>
          <a:prstGeom prst="rect">
            <a:avLst/>
          </a:prstGeom>
        </p:spPr>
      </p:pic>
      <p:sp>
        <p:nvSpPr>
          <p:cNvPr id="32" name="Text 26"/>
          <p:cNvSpPr/>
          <p:nvPr/>
        </p:nvSpPr>
        <p:spPr>
          <a:xfrm>
            <a:off x="1499616" y="5010912"/>
            <a:ext cx="2286000" cy="841248"/>
          </a:xfrm>
          <a:prstGeom prst="rect">
            <a:avLst/>
          </a:prstGeom>
          <a:noFill/>
          <a:ln/>
        </p:spPr>
        <p:txBody>
          <a:bodyPr wrap="square" lIns="0" tIns="0" rIns="0" bIns="0" rtlCol="0" anchor="ctr"/>
          <a:lstStyle/>
          <a:p>
            <a:pPr indent="0" marL="0">
              <a:buNone/>
            </a:pPr>
            <a:r>
              <a:rPr lang="en-US" sz="1600" b="1" dirty="0">
                <a:solidFill>
                  <a:srgbClr val="121D24"/>
                </a:solidFill>
                <a:latin typeface="Calibri" pitchFamily="34" charset="0"/>
                <a:ea typeface="Calibri" pitchFamily="34" charset="-122"/>
                <a:cs typeface="Calibri" pitchFamily="34" charset="-120"/>
              </a:rPr>
              <a:t>Retrospective</a:t>
            </a:r>
            <a:endParaRPr lang="en-US" sz="1600" dirty="0"/>
          </a:p>
        </p:txBody>
      </p:sp>
      <p:sp>
        <p:nvSpPr>
          <p:cNvPr id="33" name="Text 27"/>
          <p:cNvSpPr/>
          <p:nvPr/>
        </p:nvSpPr>
        <p:spPr>
          <a:xfrm>
            <a:off x="3858768" y="5010912"/>
            <a:ext cx="1554480" cy="841248"/>
          </a:xfrm>
          <a:prstGeom prst="rect">
            <a:avLst/>
          </a:prstGeom>
          <a:noFill/>
          <a:ln/>
        </p:spPr>
        <p:txBody>
          <a:bodyPr wrap="square" lIns="0" tIns="0" rIns="0" bIns="0" rtlCol="0" anchor="ctr"/>
          <a:lstStyle/>
          <a:p>
            <a:pPr indent="0" marL="0">
              <a:buNone/>
            </a:pPr>
            <a:r>
              <a:rPr lang="en-US" sz="1100" dirty="0">
                <a:solidFill>
                  <a:srgbClr val="6B7A7F"/>
                </a:solidFill>
                <a:latin typeface="Courier New" pitchFamily="34" charset="0"/>
                <a:ea typeface="Courier New" pitchFamily="34" charset="-122"/>
                <a:cs typeface="Courier New" pitchFamily="34" charset="-120"/>
              </a:rPr>
              <a:t>End of sprint</a:t>
            </a:r>
            <a:endParaRPr lang="en-US" sz="1100" dirty="0"/>
          </a:p>
        </p:txBody>
      </p:sp>
      <p:sp>
        <p:nvSpPr>
          <p:cNvPr id="34" name="Shape 28"/>
          <p:cNvSpPr/>
          <p:nvPr/>
        </p:nvSpPr>
        <p:spPr>
          <a:xfrm>
            <a:off x="5522976" y="5230368"/>
            <a:ext cx="1042416" cy="402336"/>
          </a:xfrm>
          <a:prstGeom prst="roundRect">
            <a:avLst>
              <a:gd name="adj" fmla="val 15909"/>
            </a:avLst>
          </a:prstGeom>
          <a:solidFill>
            <a:srgbClr val="F0B429"/>
          </a:solidFill>
          <a:ln/>
        </p:spPr>
      </p:sp>
      <p:sp>
        <p:nvSpPr>
          <p:cNvPr id="35" name="Text 29"/>
          <p:cNvSpPr/>
          <p:nvPr/>
        </p:nvSpPr>
        <p:spPr>
          <a:xfrm>
            <a:off x="5522976" y="5230368"/>
            <a:ext cx="1042416" cy="402336"/>
          </a:xfrm>
          <a:prstGeom prst="rect">
            <a:avLst/>
          </a:prstGeom>
          <a:noFill/>
          <a:ln/>
        </p:spPr>
        <p:txBody>
          <a:bodyPr wrap="square" lIns="0" tIns="0" rIns="0" bIns="0" rtlCol="0" anchor="ctr"/>
          <a:lstStyle/>
          <a:p>
            <a:pPr algn="ctr" indent="0" marL="0">
              <a:buNone/>
            </a:pPr>
            <a:r>
              <a:rPr lang="en-US" sz="1100" b="1" dirty="0">
                <a:solidFill>
                  <a:srgbClr val="4A3708"/>
                </a:solidFill>
                <a:latin typeface="Courier New" pitchFamily="34" charset="0"/>
                <a:ea typeface="Courier New" pitchFamily="34" charset="-122"/>
                <a:cs typeface="Courier New" pitchFamily="34" charset="-120"/>
              </a:rPr>
              <a:t>1 hr</a:t>
            </a:r>
            <a:endParaRPr lang="en-US" sz="1100" dirty="0"/>
          </a:p>
        </p:txBody>
      </p:sp>
      <p:sp>
        <p:nvSpPr>
          <p:cNvPr id="36" name="Text 30"/>
          <p:cNvSpPr/>
          <p:nvPr/>
        </p:nvSpPr>
        <p:spPr>
          <a:xfrm>
            <a:off x="6839712" y="5010912"/>
            <a:ext cx="4663440" cy="841248"/>
          </a:xfrm>
          <a:prstGeom prst="rect">
            <a:avLst/>
          </a:prstGeom>
          <a:noFill/>
          <a:ln/>
        </p:spPr>
        <p:txBody>
          <a:bodyPr wrap="square" lIns="0" tIns="0" rIns="0" bIns="0" rtlCol="0" anchor="ctr"/>
          <a:lstStyle/>
          <a:p>
            <a:pPr indent="0" marL="0">
              <a:lnSpc>
                <a:spcPts val="1600"/>
              </a:lnSpc>
              <a:buNone/>
            </a:pPr>
            <a:r>
              <a:rPr lang="en-US" sz="1250" dirty="0">
                <a:solidFill>
                  <a:srgbClr val="4E5D62"/>
                </a:solidFill>
                <a:latin typeface="Calibri" pitchFamily="34" charset="0"/>
                <a:ea typeface="Calibri" pitchFamily="34" charset="-122"/>
                <a:cs typeface="Calibri" pitchFamily="34" charset="-120"/>
              </a:rPr>
              <a:t>Improve how the team works — process, not product.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20" kern="0" dirty="0">
                <a:solidFill>
                  <a:srgbClr val="E0512B"/>
                </a:solidFill>
                <a:latin typeface="Courier New" pitchFamily="34" charset="0"/>
                <a:ea typeface="Courier New" pitchFamily="34" charset="-122"/>
                <a:cs typeface="Courier New" pitchFamily="34" charset="-120"/>
              </a:rPr>
              <a:t>04 / THE WORK</a:t>
            </a:r>
            <a:endParaRPr lang="en-US" sz="1100" dirty="0"/>
          </a:p>
        </p:txBody>
      </p:sp>
      <p:sp>
        <p:nvSpPr>
          <p:cNvPr id="3" name="Text 1"/>
          <p:cNvSpPr/>
          <p:nvPr/>
        </p:nvSpPr>
        <p:spPr>
          <a:xfrm>
            <a:off x="566928" y="676656"/>
            <a:ext cx="11057839" cy="658368"/>
          </a:xfrm>
          <a:prstGeom prst="rect">
            <a:avLst/>
          </a:prstGeom>
          <a:noFill/>
          <a:ln/>
        </p:spPr>
        <p:txBody>
          <a:bodyPr wrap="square" lIns="0" tIns="0" rIns="0" bIns="0" rtlCol="0" anchor="ctr"/>
          <a:lstStyle/>
          <a:p>
            <a:pPr algn="l" indent="0" marL="0">
              <a:buNone/>
            </a:pPr>
            <a:r>
              <a:rPr lang="en-US" sz="3400" b="1" dirty="0">
                <a:solidFill>
                  <a:srgbClr val="121D24"/>
                </a:solidFill>
                <a:latin typeface="Calibri" pitchFamily="34" charset="0"/>
                <a:ea typeface="Calibri" pitchFamily="34" charset="-122"/>
                <a:cs typeface="Calibri" pitchFamily="34" charset="-120"/>
              </a:rPr>
              <a:t>Big things decompose into shippable things</a:t>
            </a:r>
            <a:endParaRPr lang="en-US" sz="3400" dirty="0"/>
          </a:p>
        </p:txBody>
      </p:sp>
      <p:sp>
        <p:nvSpPr>
          <p:cNvPr id="4" name="Text 2"/>
          <p:cNvSpPr/>
          <p:nvPr/>
        </p:nvSpPr>
        <p:spPr>
          <a:xfrm>
            <a:off x="566928" y="1335024"/>
            <a:ext cx="10058400" cy="457200"/>
          </a:xfrm>
          <a:prstGeom prst="rect">
            <a:avLst/>
          </a:prstGeom>
          <a:noFill/>
          <a:ln/>
        </p:spPr>
        <p:txBody>
          <a:bodyPr wrap="square" lIns="0" tIns="0" rIns="0" bIns="0" rtlCol="0" anchor="t"/>
          <a:lstStyle/>
          <a:p>
            <a:pPr indent="0" marL="0">
              <a:lnSpc>
                <a:spcPts val="1900"/>
              </a:lnSpc>
              <a:buNone/>
            </a:pPr>
            <a:r>
              <a:rPr lang="en-US" sz="1450" dirty="0">
                <a:solidFill>
                  <a:srgbClr val="6B7A7F"/>
                </a:solidFill>
                <a:latin typeface="Calibri" pitchFamily="34" charset="0"/>
                <a:ea typeface="Calibri" pitchFamily="34" charset="-122"/>
                <a:cs typeface="Calibri" pitchFamily="34" charset="-120"/>
              </a:rPr>
              <a:t>Each level exists so the level below it can be estimated. If a story cannot be sized, it is still an epic.</a:t>
            </a:r>
            <a:endParaRPr lang="en-US" sz="1450" dirty="0"/>
          </a:p>
        </p:txBody>
      </p:sp>
      <p:sp>
        <p:nvSpPr>
          <p:cNvPr id="5" name="Shape 3"/>
          <p:cNvSpPr/>
          <p:nvPr/>
        </p:nvSpPr>
        <p:spPr>
          <a:xfrm>
            <a:off x="566928" y="2286000"/>
            <a:ext cx="5852160" cy="786384"/>
          </a:xfrm>
          <a:prstGeom prst="roundRect">
            <a:avLst>
              <a:gd name="adj" fmla="val 10465"/>
            </a:avLst>
          </a:prstGeom>
          <a:solidFill>
            <a:srgbClr val="0F4C42"/>
          </a:solidFill>
          <a:ln/>
          <a:effectLst>
            <a:outerShdw sx="100000" sy="100000" kx="0" ky="0" algn="bl" rotWithShape="0" blurRad="127000" dist="38100" dir="5400000">
              <a:srgbClr val="0B1418">
                <a:alpha val="13000"/>
              </a:srgbClr>
            </a:outerShdw>
          </a:effectLst>
        </p:spPr>
      </p:sp>
      <p:sp>
        <p:nvSpPr>
          <p:cNvPr id="6" name="Text 4"/>
          <p:cNvSpPr/>
          <p:nvPr/>
        </p:nvSpPr>
        <p:spPr>
          <a:xfrm>
            <a:off x="822960" y="2286000"/>
            <a:ext cx="5340096" cy="786384"/>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Initiative / Theme</a:t>
            </a:r>
            <a:endParaRPr lang="en-US" sz="1550" dirty="0"/>
          </a:p>
        </p:txBody>
      </p:sp>
      <p:sp>
        <p:nvSpPr>
          <p:cNvPr id="7" name="Text 5"/>
          <p:cNvSpPr/>
          <p:nvPr/>
        </p:nvSpPr>
        <p:spPr>
          <a:xfrm>
            <a:off x="6620256" y="2286000"/>
            <a:ext cx="1737360" cy="786384"/>
          </a:xfrm>
          <a:prstGeom prst="rect">
            <a:avLst/>
          </a:prstGeom>
          <a:noFill/>
          <a:ln/>
        </p:spPr>
        <p:txBody>
          <a:bodyPr wrap="square" lIns="0" tIns="0" rIns="0" bIns="0" rtlCol="0" anchor="ctr"/>
          <a:lstStyle/>
          <a:p>
            <a:pPr indent="0" marL="0">
              <a:buNone/>
            </a:pPr>
            <a:r>
              <a:rPr lang="en-US" sz="1100" dirty="0">
                <a:solidFill>
                  <a:srgbClr val="6B7A7F"/>
                </a:solidFill>
                <a:latin typeface="Courier New" pitchFamily="34" charset="0"/>
                <a:ea typeface="Courier New" pitchFamily="34" charset="-122"/>
                <a:cs typeface="Courier New" pitchFamily="34" charset="-120"/>
              </a:rPr>
              <a:t>quarters</a:t>
            </a:r>
            <a:endParaRPr lang="en-US" sz="1100" dirty="0"/>
          </a:p>
        </p:txBody>
      </p:sp>
      <p:sp>
        <p:nvSpPr>
          <p:cNvPr id="8" name="Text 6"/>
          <p:cNvSpPr/>
          <p:nvPr/>
        </p:nvSpPr>
        <p:spPr>
          <a:xfrm>
            <a:off x="8321040" y="2286000"/>
            <a:ext cx="3337560" cy="786384"/>
          </a:xfrm>
          <a:prstGeom prst="rect">
            <a:avLst/>
          </a:prstGeom>
          <a:noFill/>
          <a:ln/>
        </p:spPr>
        <p:txBody>
          <a:bodyPr wrap="square" lIns="0" tIns="0" rIns="0" bIns="0" rtlCol="0" anchor="ctr"/>
          <a:lstStyle/>
          <a:p>
            <a:pPr indent="0" marL="0">
              <a:lnSpc>
                <a:spcPts val="1600"/>
              </a:lnSpc>
              <a:buNone/>
            </a:pPr>
            <a:r>
              <a:rPr lang="en-US" sz="1250" dirty="0">
                <a:solidFill>
                  <a:srgbClr val="4E5D62"/>
                </a:solidFill>
                <a:latin typeface="Calibri" pitchFamily="34" charset="0"/>
                <a:ea typeface="Calibri" pitchFamily="34" charset="-122"/>
                <a:cs typeface="Calibri" pitchFamily="34" charset="-120"/>
              </a:rPr>
              <a:t>Strategic outcome. Never built directly — it exists to give epics a reason.</a:t>
            </a:r>
            <a:endParaRPr lang="en-US" sz="1250" dirty="0"/>
          </a:p>
        </p:txBody>
      </p:sp>
      <p:sp>
        <p:nvSpPr>
          <p:cNvPr id="9" name="Shape 7"/>
          <p:cNvSpPr/>
          <p:nvPr/>
        </p:nvSpPr>
        <p:spPr>
          <a:xfrm>
            <a:off x="1024128" y="3090672"/>
            <a:ext cx="182880" cy="146304"/>
          </a:xfrm>
          <a:prstGeom prst="downArrow">
            <a:avLst/>
          </a:prstGeom>
          <a:solidFill>
            <a:srgbClr val="C8D4D1"/>
          </a:solidFill>
          <a:ln/>
        </p:spPr>
      </p:sp>
      <p:sp>
        <p:nvSpPr>
          <p:cNvPr id="10" name="Shape 8"/>
          <p:cNvSpPr/>
          <p:nvPr/>
        </p:nvSpPr>
        <p:spPr>
          <a:xfrm>
            <a:off x="566928" y="3255264"/>
            <a:ext cx="4663440" cy="786384"/>
          </a:xfrm>
          <a:prstGeom prst="roundRect">
            <a:avLst>
              <a:gd name="adj" fmla="val 10465"/>
            </a:avLst>
          </a:prstGeom>
          <a:solidFill>
            <a:srgbClr val="2A8C7A"/>
          </a:solidFill>
          <a:ln/>
          <a:effectLst>
            <a:outerShdw sx="100000" sy="100000" kx="0" ky="0" algn="bl" rotWithShape="0" blurRad="127000" dist="38100" dir="5400000">
              <a:srgbClr val="0B1418">
                <a:alpha val="13000"/>
              </a:srgbClr>
            </a:outerShdw>
          </a:effectLst>
        </p:spPr>
      </p:sp>
      <p:sp>
        <p:nvSpPr>
          <p:cNvPr id="11" name="Text 9"/>
          <p:cNvSpPr/>
          <p:nvPr/>
        </p:nvSpPr>
        <p:spPr>
          <a:xfrm>
            <a:off x="822960" y="3255264"/>
            <a:ext cx="4151376" cy="786384"/>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Epic</a:t>
            </a:r>
            <a:endParaRPr lang="en-US" sz="1550" dirty="0"/>
          </a:p>
        </p:txBody>
      </p:sp>
      <p:sp>
        <p:nvSpPr>
          <p:cNvPr id="12" name="Text 10"/>
          <p:cNvSpPr/>
          <p:nvPr/>
        </p:nvSpPr>
        <p:spPr>
          <a:xfrm>
            <a:off x="5431536" y="3255264"/>
            <a:ext cx="1737360" cy="786384"/>
          </a:xfrm>
          <a:prstGeom prst="rect">
            <a:avLst/>
          </a:prstGeom>
          <a:noFill/>
          <a:ln/>
        </p:spPr>
        <p:txBody>
          <a:bodyPr wrap="square" lIns="0" tIns="0" rIns="0" bIns="0" rtlCol="0" anchor="ctr"/>
          <a:lstStyle/>
          <a:p>
            <a:pPr indent="0" marL="0">
              <a:buNone/>
            </a:pPr>
            <a:r>
              <a:rPr lang="en-US" sz="1100" dirty="0">
                <a:solidFill>
                  <a:srgbClr val="6B7A7F"/>
                </a:solidFill>
                <a:latin typeface="Courier New" pitchFamily="34" charset="0"/>
                <a:ea typeface="Courier New" pitchFamily="34" charset="-122"/>
                <a:cs typeface="Courier New" pitchFamily="34" charset="-120"/>
              </a:rPr>
              <a:t>weeks to months</a:t>
            </a:r>
            <a:endParaRPr lang="en-US" sz="1100" dirty="0"/>
          </a:p>
        </p:txBody>
      </p:sp>
      <p:sp>
        <p:nvSpPr>
          <p:cNvPr id="13" name="Text 11"/>
          <p:cNvSpPr/>
          <p:nvPr/>
        </p:nvSpPr>
        <p:spPr>
          <a:xfrm>
            <a:off x="8321040" y="3255264"/>
            <a:ext cx="3337560" cy="786384"/>
          </a:xfrm>
          <a:prstGeom prst="rect">
            <a:avLst/>
          </a:prstGeom>
          <a:noFill/>
          <a:ln/>
        </p:spPr>
        <p:txBody>
          <a:bodyPr wrap="square" lIns="0" tIns="0" rIns="0" bIns="0" rtlCol="0" anchor="ctr"/>
          <a:lstStyle/>
          <a:p>
            <a:pPr indent="0" marL="0">
              <a:lnSpc>
                <a:spcPts val="1600"/>
              </a:lnSpc>
              <a:buNone/>
            </a:pPr>
            <a:r>
              <a:rPr lang="en-US" sz="1250" dirty="0">
                <a:solidFill>
                  <a:srgbClr val="4E5D62"/>
                </a:solidFill>
                <a:latin typeface="Calibri" pitchFamily="34" charset="0"/>
                <a:ea typeface="Calibri" pitchFamily="34" charset="-122"/>
                <a:cs typeface="Calibri" pitchFamily="34" charset="-120"/>
              </a:rPr>
              <a:t>A body of work too big to finish inside one sprint.</a:t>
            </a:r>
            <a:endParaRPr lang="en-US" sz="1250" dirty="0"/>
          </a:p>
        </p:txBody>
      </p:sp>
      <p:sp>
        <p:nvSpPr>
          <p:cNvPr id="14" name="Shape 12"/>
          <p:cNvSpPr/>
          <p:nvPr/>
        </p:nvSpPr>
        <p:spPr>
          <a:xfrm>
            <a:off x="1024128" y="4059936"/>
            <a:ext cx="182880" cy="146304"/>
          </a:xfrm>
          <a:prstGeom prst="downArrow">
            <a:avLst/>
          </a:prstGeom>
          <a:solidFill>
            <a:srgbClr val="C8D4D1"/>
          </a:solidFill>
          <a:ln/>
        </p:spPr>
      </p:sp>
      <p:sp>
        <p:nvSpPr>
          <p:cNvPr id="15" name="Shape 13"/>
          <p:cNvSpPr/>
          <p:nvPr/>
        </p:nvSpPr>
        <p:spPr>
          <a:xfrm>
            <a:off x="566928" y="4224528"/>
            <a:ext cx="3474720" cy="786384"/>
          </a:xfrm>
          <a:prstGeom prst="roundRect">
            <a:avLst>
              <a:gd name="adj" fmla="val 10465"/>
            </a:avLst>
          </a:prstGeom>
          <a:solidFill>
            <a:srgbClr val="F0B429"/>
          </a:solidFill>
          <a:ln/>
          <a:effectLst>
            <a:outerShdw sx="100000" sy="100000" kx="0" ky="0" algn="bl" rotWithShape="0" blurRad="127000" dist="38100" dir="5400000">
              <a:srgbClr val="0B1418">
                <a:alpha val="13000"/>
              </a:srgbClr>
            </a:outerShdw>
          </a:effectLst>
        </p:spPr>
      </p:sp>
      <p:sp>
        <p:nvSpPr>
          <p:cNvPr id="16" name="Text 14"/>
          <p:cNvSpPr/>
          <p:nvPr/>
        </p:nvSpPr>
        <p:spPr>
          <a:xfrm>
            <a:off x="822960" y="4224528"/>
            <a:ext cx="2962656" cy="786384"/>
          </a:xfrm>
          <a:prstGeom prst="rect">
            <a:avLst/>
          </a:prstGeom>
          <a:noFill/>
          <a:ln/>
        </p:spPr>
        <p:txBody>
          <a:bodyPr wrap="square" lIns="0" tIns="0" rIns="0" bIns="0" rtlCol="0" anchor="ctr"/>
          <a:lstStyle/>
          <a:p>
            <a:pPr indent="0" marL="0">
              <a:buNone/>
            </a:pPr>
            <a:r>
              <a:rPr lang="en-US" sz="1550" b="1" dirty="0">
                <a:solidFill>
                  <a:srgbClr val="4A3708"/>
                </a:solidFill>
                <a:latin typeface="Calibri" pitchFamily="34" charset="0"/>
                <a:ea typeface="Calibri" pitchFamily="34" charset="-122"/>
                <a:cs typeface="Calibri" pitchFamily="34" charset="-120"/>
              </a:rPr>
              <a:t>User Story</a:t>
            </a:r>
            <a:endParaRPr lang="en-US" sz="1550" dirty="0"/>
          </a:p>
        </p:txBody>
      </p:sp>
      <p:sp>
        <p:nvSpPr>
          <p:cNvPr id="17" name="Text 15"/>
          <p:cNvSpPr/>
          <p:nvPr/>
        </p:nvSpPr>
        <p:spPr>
          <a:xfrm>
            <a:off x="4242816" y="4224528"/>
            <a:ext cx="1737360" cy="786384"/>
          </a:xfrm>
          <a:prstGeom prst="rect">
            <a:avLst/>
          </a:prstGeom>
          <a:noFill/>
          <a:ln/>
        </p:spPr>
        <p:txBody>
          <a:bodyPr wrap="square" lIns="0" tIns="0" rIns="0" bIns="0" rtlCol="0" anchor="ctr"/>
          <a:lstStyle/>
          <a:p>
            <a:pPr indent="0" marL="0">
              <a:buNone/>
            </a:pPr>
            <a:r>
              <a:rPr lang="en-US" sz="1100" dirty="0">
                <a:solidFill>
                  <a:srgbClr val="6B7A7F"/>
                </a:solidFill>
                <a:latin typeface="Courier New" pitchFamily="34" charset="0"/>
                <a:ea typeface="Courier New" pitchFamily="34" charset="-122"/>
                <a:cs typeface="Courier New" pitchFamily="34" charset="-120"/>
              </a:rPr>
              <a:t>days</a:t>
            </a:r>
            <a:endParaRPr lang="en-US" sz="1100" dirty="0"/>
          </a:p>
        </p:txBody>
      </p:sp>
      <p:sp>
        <p:nvSpPr>
          <p:cNvPr id="18" name="Text 16"/>
          <p:cNvSpPr/>
          <p:nvPr/>
        </p:nvSpPr>
        <p:spPr>
          <a:xfrm>
            <a:off x="8321040" y="4224528"/>
            <a:ext cx="3337560" cy="786384"/>
          </a:xfrm>
          <a:prstGeom prst="rect">
            <a:avLst/>
          </a:prstGeom>
          <a:noFill/>
          <a:ln/>
        </p:spPr>
        <p:txBody>
          <a:bodyPr wrap="square" lIns="0" tIns="0" rIns="0" bIns="0" rtlCol="0" anchor="ctr"/>
          <a:lstStyle/>
          <a:p>
            <a:pPr indent="0" marL="0">
              <a:lnSpc>
                <a:spcPts val="1600"/>
              </a:lnSpc>
              <a:buNone/>
            </a:pPr>
            <a:r>
              <a:rPr lang="en-US" sz="1250" dirty="0">
                <a:solidFill>
                  <a:srgbClr val="4E5D62"/>
                </a:solidFill>
                <a:latin typeface="Calibri" pitchFamily="34" charset="0"/>
                <a:ea typeface="Calibri" pitchFamily="34" charset="-122"/>
                <a:cs typeface="Calibri" pitchFamily="34" charset="-120"/>
              </a:rPr>
              <a:t>A slice of user-visible value, sized and testable.</a:t>
            </a:r>
            <a:endParaRPr lang="en-US" sz="1250" dirty="0"/>
          </a:p>
        </p:txBody>
      </p:sp>
      <p:sp>
        <p:nvSpPr>
          <p:cNvPr id="19" name="Shape 17"/>
          <p:cNvSpPr/>
          <p:nvPr/>
        </p:nvSpPr>
        <p:spPr>
          <a:xfrm>
            <a:off x="1024128" y="5029200"/>
            <a:ext cx="182880" cy="146304"/>
          </a:xfrm>
          <a:prstGeom prst="downArrow">
            <a:avLst/>
          </a:prstGeom>
          <a:solidFill>
            <a:srgbClr val="C8D4D1"/>
          </a:solidFill>
          <a:ln/>
        </p:spPr>
      </p:sp>
      <p:sp>
        <p:nvSpPr>
          <p:cNvPr id="20" name="Shape 18"/>
          <p:cNvSpPr/>
          <p:nvPr/>
        </p:nvSpPr>
        <p:spPr>
          <a:xfrm>
            <a:off x="566928" y="5193792"/>
            <a:ext cx="2286000" cy="786384"/>
          </a:xfrm>
          <a:prstGeom prst="roundRect">
            <a:avLst>
              <a:gd name="adj" fmla="val 10465"/>
            </a:avLst>
          </a:prstGeom>
          <a:solidFill>
            <a:srgbClr val="E0512B"/>
          </a:solidFill>
          <a:ln/>
          <a:effectLst>
            <a:outerShdw sx="100000" sy="100000" kx="0" ky="0" algn="bl" rotWithShape="0" blurRad="127000" dist="38100" dir="5400000">
              <a:srgbClr val="0B1418">
                <a:alpha val="13000"/>
              </a:srgbClr>
            </a:outerShdw>
          </a:effectLst>
        </p:spPr>
      </p:sp>
      <p:sp>
        <p:nvSpPr>
          <p:cNvPr id="21" name="Text 19"/>
          <p:cNvSpPr/>
          <p:nvPr/>
        </p:nvSpPr>
        <p:spPr>
          <a:xfrm>
            <a:off x="822960" y="5193792"/>
            <a:ext cx="1773936" cy="786384"/>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Task</a:t>
            </a:r>
            <a:endParaRPr lang="en-US" sz="1550" dirty="0"/>
          </a:p>
        </p:txBody>
      </p:sp>
      <p:sp>
        <p:nvSpPr>
          <p:cNvPr id="22" name="Text 20"/>
          <p:cNvSpPr/>
          <p:nvPr/>
        </p:nvSpPr>
        <p:spPr>
          <a:xfrm>
            <a:off x="3054096" y="5193792"/>
            <a:ext cx="1737360" cy="786384"/>
          </a:xfrm>
          <a:prstGeom prst="rect">
            <a:avLst/>
          </a:prstGeom>
          <a:noFill/>
          <a:ln/>
        </p:spPr>
        <p:txBody>
          <a:bodyPr wrap="square" lIns="0" tIns="0" rIns="0" bIns="0" rtlCol="0" anchor="ctr"/>
          <a:lstStyle/>
          <a:p>
            <a:pPr indent="0" marL="0">
              <a:buNone/>
            </a:pPr>
            <a:r>
              <a:rPr lang="en-US" sz="1100" dirty="0">
                <a:solidFill>
                  <a:srgbClr val="6B7A7F"/>
                </a:solidFill>
                <a:latin typeface="Courier New" pitchFamily="34" charset="0"/>
                <a:ea typeface="Courier New" pitchFamily="34" charset="-122"/>
                <a:cs typeface="Courier New" pitchFamily="34" charset="-120"/>
              </a:rPr>
              <a:t>hours</a:t>
            </a:r>
            <a:endParaRPr lang="en-US" sz="1100" dirty="0"/>
          </a:p>
        </p:txBody>
      </p:sp>
      <p:sp>
        <p:nvSpPr>
          <p:cNvPr id="23" name="Text 21"/>
          <p:cNvSpPr/>
          <p:nvPr/>
        </p:nvSpPr>
        <p:spPr>
          <a:xfrm>
            <a:off x="8321040" y="5193792"/>
            <a:ext cx="3337560" cy="786384"/>
          </a:xfrm>
          <a:prstGeom prst="rect">
            <a:avLst/>
          </a:prstGeom>
          <a:noFill/>
          <a:ln/>
        </p:spPr>
        <p:txBody>
          <a:bodyPr wrap="square" lIns="0" tIns="0" rIns="0" bIns="0" rtlCol="0" anchor="ctr"/>
          <a:lstStyle/>
          <a:p>
            <a:pPr indent="0" marL="0">
              <a:lnSpc>
                <a:spcPts val="1600"/>
              </a:lnSpc>
              <a:buNone/>
            </a:pPr>
            <a:r>
              <a:rPr lang="en-US" sz="1250" dirty="0">
                <a:solidFill>
                  <a:srgbClr val="4E5D62"/>
                </a:solidFill>
                <a:latin typeface="Calibri" pitchFamily="34" charset="0"/>
                <a:ea typeface="Calibri" pitchFamily="34" charset="-122"/>
                <a:cs typeface="Calibri" pitchFamily="34" charset="-120"/>
              </a:rPr>
              <a:t>How a story gets built. Written and owned by devs.</a:t>
            </a:r>
            <a:endParaRPr lang="en-US" sz="1250" dirty="0"/>
          </a:p>
        </p:txBody>
      </p:sp>
      <p:sp>
        <p:nvSpPr>
          <p:cNvPr id="24" name="Text 22"/>
          <p:cNvSpPr/>
          <p:nvPr/>
        </p:nvSpPr>
        <p:spPr>
          <a:xfrm>
            <a:off x="566928" y="6108192"/>
            <a:ext cx="11057839" cy="438912"/>
          </a:xfrm>
          <a:prstGeom prst="rect">
            <a:avLst/>
          </a:prstGeom>
          <a:noFill/>
          <a:ln/>
        </p:spPr>
        <p:txBody>
          <a:bodyPr wrap="square" lIns="0" tIns="0" rIns="0" bIns="0" rtlCol="0" anchor="ctr"/>
          <a:lstStyle/>
          <a:p>
            <a:pPr indent="0" marL="0">
              <a:lnSpc>
                <a:spcPts val="1500"/>
              </a:lnSpc>
              <a:buNone/>
            </a:pPr>
            <a:r>
              <a:rPr lang="en-US" sz="1050" dirty="0">
                <a:solidFill>
                  <a:srgbClr val="6B7A7F"/>
                </a:solidFill>
                <a:latin typeface="Courier New" pitchFamily="34" charset="0"/>
                <a:ea typeface="Courier New" pitchFamily="34" charset="-122"/>
                <a:cs typeface="Courier New" pitchFamily="34" charset="-120"/>
              </a:rPr>
              <a:t>Bugs enter at story level — they are work with acceptance criteria like anything else.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20" kern="0" dirty="0">
                <a:solidFill>
                  <a:srgbClr val="E0512B"/>
                </a:solidFill>
                <a:latin typeface="Courier New" pitchFamily="34" charset="0"/>
                <a:ea typeface="Courier New" pitchFamily="34" charset="-122"/>
                <a:cs typeface="Courier New" pitchFamily="34" charset="-120"/>
              </a:rPr>
              <a:t>04 / THE WORK</a:t>
            </a:r>
            <a:endParaRPr lang="en-US" sz="1100" dirty="0"/>
          </a:p>
        </p:txBody>
      </p:sp>
      <p:sp>
        <p:nvSpPr>
          <p:cNvPr id="3" name="Text 1"/>
          <p:cNvSpPr/>
          <p:nvPr/>
        </p:nvSpPr>
        <p:spPr>
          <a:xfrm>
            <a:off x="566928" y="676656"/>
            <a:ext cx="11057839" cy="658368"/>
          </a:xfrm>
          <a:prstGeom prst="rect">
            <a:avLst/>
          </a:prstGeom>
          <a:noFill/>
          <a:ln/>
        </p:spPr>
        <p:txBody>
          <a:bodyPr wrap="square" lIns="0" tIns="0" rIns="0" bIns="0" rtlCol="0" anchor="ctr"/>
          <a:lstStyle/>
          <a:p>
            <a:pPr algn="l" indent="0" marL="0">
              <a:buNone/>
            </a:pPr>
            <a:r>
              <a:rPr lang="en-US" sz="3400" b="1" dirty="0">
                <a:solidFill>
                  <a:srgbClr val="121D24"/>
                </a:solidFill>
                <a:latin typeface="Calibri" pitchFamily="34" charset="0"/>
                <a:ea typeface="Calibri" pitchFamily="34" charset="-122"/>
                <a:cs typeface="Calibri" pitchFamily="34" charset="-120"/>
              </a:rPr>
              <a:t>Anatomy of a user story</a:t>
            </a:r>
            <a:endParaRPr lang="en-US" sz="3400" dirty="0"/>
          </a:p>
        </p:txBody>
      </p:sp>
      <p:sp>
        <p:nvSpPr>
          <p:cNvPr id="4" name="Shape 2"/>
          <p:cNvSpPr/>
          <p:nvPr/>
        </p:nvSpPr>
        <p:spPr>
          <a:xfrm>
            <a:off x="566928" y="1645920"/>
            <a:ext cx="5486400" cy="1847088"/>
          </a:xfrm>
          <a:prstGeom prst="roundRect">
            <a:avLst>
              <a:gd name="adj" fmla="val 5941"/>
            </a:avLst>
          </a:prstGeom>
          <a:solidFill>
            <a:srgbClr val="121D24"/>
          </a:solidFill>
          <a:ln/>
          <a:effectLst>
            <a:outerShdw sx="100000" sy="100000" kx="0" ky="0" algn="bl" rotWithShape="0" blurRad="127000" dist="38100" dir="5400000">
              <a:srgbClr val="0B1418">
                <a:alpha val="13000"/>
              </a:srgbClr>
            </a:outerShdw>
          </a:effectLst>
        </p:spPr>
      </p:sp>
      <p:sp>
        <p:nvSpPr>
          <p:cNvPr id="5" name="Text 3"/>
          <p:cNvSpPr/>
          <p:nvPr/>
        </p:nvSpPr>
        <p:spPr>
          <a:xfrm>
            <a:off x="877824" y="1828800"/>
            <a:ext cx="4846320" cy="237744"/>
          </a:xfrm>
          <a:prstGeom prst="rect">
            <a:avLst/>
          </a:prstGeom>
          <a:noFill/>
          <a:ln/>
        </p:spPr>
        <p:txBody>
          <a:bodyPr wrap="square" lIns="0" tIns="0" rIns="0" bIns="0" rtlCol="0" anchor="ctr"/>
          <a:lstStyle/>
          <a:p>
            <a:pPr indent="0" marL="0">
              <a:buNone/>
            </a:pPr>
            <a:r>
              <a:rPr lang="en-US" sz="1000" b="1" spc="180" kern="0" dirty="0">
                <a:solidFill>
                  <a:srgbClr val="F0B429"/>
                </a:solidFill>
                <a:latin typeface="Courier New" pitchFamily="34" charset="0"/>
                <a:ea typeface="Courier New" pitchFamily="34" charset="-122"/>
                <a:cs typeface="Courier New" pitchFamily="34" charset="-120"/>
              </a:rPr>
              <a:t>TEMPLATE</a:t>
            </a:r>
            <a:endParaRPr lang="en-US" sz="1000" dirty="0"/>
          </a:p>
        </p:txBody>
      </p:sp>
      <p:sp>
        <p:nvSpPr>
          <p:cNvPr id="6" name="Text 4"/>
          <p:cNvSpPr/>
          <p:nvPr/>
        </p:nvSpPr>
        <p:spPr>
          <a:xfrm>
            <a:off x="877824" y="2139696"/>
            <a:ext cx="4846320" cy="1170432"/>
          </a:xfrm>
          <a:prstGeom prst="rect">
            <a:avLst/>
          </a:prstGeom>
          <a:noFill/>
          <a:ln/>
        </p:spPr>
        <p:txBody>
          <a:bodyPr wrap="square" lIns="0" tIns="0" rIns="0" bIns="0" rtlCol="0" anchor="ctr"/>
          <a:lstStyle/>
          <a:p>
            <a:pPr indent="0" marL="0">
              <a:lnSpc>
                <a:spcPts val="2400"/>
              </a:lnSpc>
              <a:buNone/>
            </a:pPr>
            <a:r>
              <a:rPr lang="en-US" sz="1450" dirty="0">
                <a:solidFill>
                  <a:srgbClr val="8FA3A9"/>
                </a:solidFill>
                <a:latin typeface="Courier New" pitchFamily="34" charset="0"/>
                <a:ea typeface="Courier New" pitchFamily="34" charset="-122"/>
                <a:cs typeface="Courier New" pitchFamily="34" charset="-120"/>
              </a:rPr>
              <a:t>As a </a:t>
            </a:r>
            <a:pPr indent="0" marL="0">
              <a:lnSpc>
                <a:spcPts val="2400"/>
              </a:lnSpc>
              <a:buNone/>
            </a:pPr>
            <a:r>
              <a:rPr lang="en-US" sz="1450" b="1" dirty="0">
                <a:solidFill>
                  <a:srgbClr val="2A8C7A"/>
                </a:solidFill>
                <a:latin typeface="Courier New" pitchFamily="34" charset="0"/>
                <a:ea typeface="Courier New" pitchFamily="34" charset="-122"/>
                <a:cs typeface="Courier New" pitchFamily="34" charset="-120"/>
              </a:rPr>
              <a:t>&lt;type of user&gt;</a:t>
            </a:r>
            <a:pPr indent="0" marL="0">
              <a:lnSpc>
                <a:spcPts val="2400"/>
              </a:lnSpc>
              <a:buNone/>
            </a:pPr>
            <a:endParaRPr lang="en-US" sz="1450" dirty="0"/>
          </a:p>
          <a:p>
            <a:pPr indent="0" marL="0">
              <a:lnSpc>
                <a:spcPts val="2400"/>
              </a:lnSpc>
              <a:buNone/>
            </a:pPr>
            <a:r>
              <a:rPr lang="en-US" sz="1450" dirty="0">
                <a:solidFill>
                  <a:srgbClr val="8FA3A9"/>
                </a:solidFill>
                <a:latin typeface="Courier New" pitchFamily="34" charset="0"/>
                <a:ea typeface="Courier New" pitchFamily="34" charset="-122"/>
                <a:cs typeface="Courier New" pitchFamily="34" charset="-120"/>
              </a:rPr>
              <a:t>I want </a:t>
            </a:r>
            <a:endParaRPr lang="en-US" sz="1450" dirty="0"/>
          </a:p>
          <a:p>
            <a:pPr indent="0" marL="0">
              <a:lnSpc>
                <a:spcPts val="2400"/>
              </a:lnSpc>
              <a:buNone/>
            </a:pPr>
            <a:r>
              <a:rPr lang="en-US" sz="1450" b="1" dirty="0">
                <a:solidFill>
                  <a:srgbClr val="2A8C7A"/>
                </a:solidFill>
                <a:latin typeface="Courier New" pitchFamily="34" charset="0"/>
                <a:ea typeface="Courier New" pitchFamily="34" charset="-122"/>
                <a:cs typeface="Courier New" pitchFamily="34" charset="-120"/>
              </a:rPr>
              <a:t>&lt;some capability&gt;</a:t>
            </a:r>
            <a:pPr indent="0" marL="0">
              <a:lnSpc>
                <a:spcPts val="2400"/>
              </a:lnSpc>
              <a:buNone/>
            </a:pPr>
            <a:endParaRPr lang="en-US" sz="1450" dirty="0"/>
          </a:p>
          <a:p>
            <a:pPr indent="0" marL="0">
              <a:lnSpc>
                <a:spcPts val="2400"/>
              </a:lnSpc>
              <a:buNone/>
            </a:pPr>
            <a:r>
              <a:rPr lang="en-US" sz="1450" dirty="0">
                <a:solidFill>
                  <a:srgbClr val="8FA3A9"/>
                </a:solidFill>
                <a:latin typeface="Courier New" pitchFamily="34" charset="0"/>
                <a:ea typeface="Courier New" pitchFamily="34" charset="-122"/>
                <a:cs typeface="Courier New" pitchFamily="34" charset="-120"/>
              </a:rPr>
              <a:t>So that </a:t>
            </a:r>
            <a:endParaRPr lang="en-US" sz="1450" dirty="0"/>
          </a:p>
          <a:p>
            <a:pPr indent="0" marL="0">
              <a:lnSpc>
                <a:spcPts val="2400"/>
              </a:lnSpc>
              <a:buNone/>
            </a:pPr>
            <a:r>
              <a:rPr lang="en-US" sz="1450" b="1" dirty="0">
                <a:solidFill>
                  <a:srgbClr val="2A8C7A"/>
                </a:solidFill>
                <a:latin typeface="Courier New" pitchFamily="34" charset="0"/>
                <a:ea typeface="Courier New" pitchFamily="34" charset="-122"/>
                <a:cs typeface="Courier New" pitchFamily="34" charset="-120"/>
              </a:rPr>
              <a:t>&lt;some benefit&gt;</a:t>
            </a:r>
            <a:endParaRPr lang="en-US" sz="1450" dirty="0"/>
          </a:p>
        </p:txBody>
      </p:sp>
      <p:sp>
        <p:nvSpPr>
          <p:cNvPr id="7" name="Shape 5"/>
          <p:cNvSpPr/>
          <p:nvPr/>
        </p:nvSpPr>
        <p:spPr>
          <a:xfrm>
            <a:off x="566928" y="3675888"/>
            <a:ext cx="5486400" cy="1499616"/>
          </a:xfrm>
          <a:prstGeom prst="roundRect">
            <a:avLst>
              <a:gd name="adj" fmla="val 7317"/>
            </a:avLst>
          </a:prstGeom>
          <a:solidFill>
            <a:srgbClr val="D7E8E2"/>
          </a:solidFill>
          <a:ln/>
          <a:effectLst>
            <a:outerShdw sx="100000" sy="100000" kx="0" ky="0" algn="bl" rotWithShape="0" blurRad="127000" dist="38100" dir="5400000">
              <a:srgbClr val="0B1418">
                <a:alpha val="13000"/>
              </a:srgbClr>
            </a:outerShdw>
          </a:effectLst>
        </p:spPr>
      </p:sp>
      <p:sp>
        <p:nvSpPr>
          <p:cNvPr id="8" name="Text 6"/>
          <p:cNvSpPr/>
          <p:nvPr/>
        </p:nvSpPr>
        <p:spPr>
          <a:xfrm>
            <a:off x="877824" y="3858768"/>
            <a:ext cx="4846320" cy="292608"/>
          </a:xfrm>
          <a:prstGeom prst="rect">
            <a:avLst/>
          </a:prstGeom>
          <a:noFill/>
          <a:ln/>
        </p:spPr>
        <p:txBody>
          <a:bodyPr wrap="square" lIns="0" tIns="0" rIns="0" bIns="0" rtlCol="0" anchor="ctr"/>
          <a:lstStyle/>
          <a:p>
            <a:pPr indent="0" marL="0">
              <a:buNone/>
            </a:pPr>
            <a:r>
              <a:rPr lang="en-US" sz="1600" b="1" dirty="0">
                <a:solidFill>
                  <a:srgbClr val="0F4C42"/>
                </a:solidFill>
                <a:latin typeface="Calibri" pitchFamily="34" charset="0"/>
                <a:ea typeface="Calibri" pitchFamily="34" charset="-122"/>
                <a:cs typeface="Calibri" pitchFamily="34" charset="-120"/>
              </a:rPr>
              <a:t>Acceptance Criteria</a:t>
            </a:r>
            <a:endParaRPr lang="en-US" sz="1600" dirty="0"/>
          </a:p>
        </p:txBody>
      </p:sp>
      <p:sp>
        <p:nvSpPr>
          <p:cNvPr id="9" name="Text 7"/>
          <p:cNvSpPr/>
          <p:nvPr/>
        </p:nvSpPr>
        <p:spPr>
          <a:xfrm>
            <a:off x="877824" y="4206240"/>
            <a:ext cx="4846320" cy="822960"/>
          </a:xfrm>
          <a:prstGeom prst="rect">
            <a:avLst/>
          </a:prstGeom>
          <a:noFill/>
          <a:ln/>
        </p:spPr>
        <p:txBody>
          <a:bodyPr wrap="square" lIns="0" tIns="0" rIns="0" bIns="0" rtlCol="0" anchor="ctr"/>
          <a:lstStyle/>
          <a:p>
            <a:pPr indent="0" marL="0">
              <a:lnSpc>
                <a:spcPts val="1800"/>
              </a:lnSpc>
              <a:buNone/>
            </a:pPr>
            <a:r>
              <a:rPr lang="en-US" sz="1300" dirty="0">
                <a:solidFill>
                  <a:srgbClr val="27443E"/>
                </a:solidFill>
                <a:latin typeface="Calibri" pitchFamily="34" charset="0"/>
                <a:ea typeface="Calibri" pitchFamily="34" charset="-122"/>
                <a:cs typeface="Calibri" pitchFamily="34" charset="-120"/>
              </a:rPr>
              <a:t>The testable conditions that define "done" for this story. Without AC, a story is a wish — and "done" becomes a matter of opinion at review time.</a:t>
            </a:r>
            <a:endParaRPr lang="en-US" sz="1300" dirty="0"/>
          </a:p>
        </p:txBody>
      </p:sp>
      <p:sp>
        <p:nvSpPr>
          <p:cNvPr id="10" name="Text 8"/>
          <p:cNvSpPr/>
          <p:nvPr/>
        </p:nvSpPr>
        <p:spPr>
          <a:xfrm>
            <a:off x="6547104" y="1645920"/>
            <a:ext cx="5120640" cy="329184"/>
          </a:xfrm>
          <a:prstGeom prst="rect">
            <a:avLst/>
          </a:prstGeom>
          <a:noFill/>
          <a:ln/>
        </p:spPr>
        <p:txBody>
          <a:bodyPr wrap="square" lIns="0" tIns="0" rIns="0" bIns="0" rtlCol="0" anchor="ctr"/>
          <a:lstStyle/>
          <a:p>
            <a:pPr indent="0" marL="0">
              <a:buNone/>
            </a:pPr>
            <a:r>
              <a:rPr lang="en-US" sz="1700" b="1" dirty="0">
                <a:solidFill>
                  <a:srgbClr val="121D24"/>
                </a:solidFill>
                <a:latin typeface="Calibri" pitchFamily="34" charset="0"/>
                <a:ea typeface="Calibri" pitchFamily="34" charset="-122"/>
                <a:cs typeface="Calibri" pitchFamily="34" charset="-120"/>
              </a:rPr>
              <a:t>INVEST — the story quality checklist</a:t>
            </a:r>
            <a:endParaRPr lang="en-US" sz="1700" dirty="0"/>
          </a:p>
        </p:txBody>
      </p:sp>
      <p:sp>
        <p:nvSpPr>
          <p:cNvPr id="11" name="Shape 9"/>
          <p:cNvSpPr/>
          <p:nvPr/>
        </p:nvSpPr>
        <p:spPr>
          <a:xfrm>
            <a:off x="6547104" y="2139696"/>
            <a:ext cx="384048" cy="384048"/>
          </a:xfrm>
          <a:prstGeom prst="roundRect">
            <a:avLst>
              <a:gd name="adj" fmla="val 16667"/>
            </a:avLst>
          </a:prstGeom>
          <a:solidFill>
            <a:srgbClr val="0F4C42"/>
          </a:solidFill>
          <a:ln/>
        </p:spPr>
      </p:sp>
      <p:sp>
        <p:nvSpPr>
          <p:cNvPr id="12" name="Text 10"/>
          <p:cNvSpPr/>
          <p:nvPr/>
        </p:nvSpPr>
        <p:spPr>
          <a:xfrm>
            <a:off x="6547104" y="21396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I</a:t>
            </a:r>
            <a:endParaRPr lang="en-US" sz="1400" dirty="0"/>
          </a:p>
        </p:txBody>
      </p:sp>
      <p:sp>
        <p:nvSpPr>
          <p:cNvPr id="13" name="Text 11"/>
          <p:cNvSpPr/>
          <p:nvPr/>
        </p:nvSpPr>
        <p:spPr>
          <a:xfrm>
            <a:off x="7059168" y="2139696"/>
            <a:ext cx="1481328" cy="384048"/>
          </a:xfrm>
          <a:prstGeom prst="rect">
            <a:avLst/>
          </a:prstGeom>
          <a:noFill/>
          <a:ln/>
        </p:spPr>
        <p:txBody>
          <a:bodyPr wrap="square" lIns="0" tIns="0" rIns="0" bIns="0" rtlCol="0" anchor="ctr"/>
          <a:lstStyle/>
          <a:p>
            <a:pPr indent="0" marL="0">
              <a:buNone/>
            </a:pPr>
            <a:r>
              <a:rPr lang="en-US" sz="1350" b="1" dirty="0">
                <a:solidFill>
                  <a:srgbClr val="121D24"/>
                </a:solidFill>
                <a:latin typeface="Calibri" pitchFamily="34" charset="0"/>
                <a:ea typeface="Calibri" pitchFamily="34" charset="-122"/>
                <a:cs typeface="Calibri" pitchFamily="34" charset="-120"/>
              </a:rPr>
              <a:t>Independent</a:t>
            </a:r>
            <a:endParaRPr lang="en-US" sz="1350" dirty="0"/>
          </a:p>
        </p:txBody>
      </p:sp>
      <p:sp>
        <p:nvSpPr>
          <p:cNvPr id="14" name="Text 12"/>
          <p:cNvSpPr/>
          <p:nvPr/>
        </p:nvSpPr>
        <p:spPr>
          <a:xfrm>
            <a:off x="8540496" y="2139696"/>
            <a:ext cx="3127248" cy="384048"/>
          </a:xfrm>
          <a:prstGeom prst="rect">
            <a:avLst/>
          </a:prstGeom>
          <a:noFill/>
          <a:ln/>
        </p:spPr>
        <p:txBody>
          <a:bodyPr wrap="square" lIns="0" tIns="0" rIns="0" bIns="0" rtlCol="0" anchor="ctr"/>
          <a:lstStyle/>
          <a:p>
            <a:pPr indent="0" marL="0">
              <a:buNone/>
            </a:pPr>
            <a:r>
              <a:rPr lang="en-US" sz="1200" dirty="0">
                <a:solidFill>
                  <a:srgbClr val="4E5D62"/>
                </a:solidFill>
                <a:latin typeface="Calibri" pitchFamily="34" charset="0"/>
                <a:ea typeface="Calibri" pitchFamily="34" charset="-122"/>
                <a:cs typeface="Calibri" pitchFamily="34" charset="-120"/>
              </a:rPr>
              <a:t>Ships without waiting on another story.</a:t>
            </a:r>
            <a:endParaRPr lang="en-US" sz="1200" dirty="0"/>
          </a:p>
        </p:txBody>
      </p:sp>
      <p:sp>
        <p:nvSpPr>
          <p:cNvPr id="15" name="Shape 13"/>
          <p:cNvSpPr/>
          <p:nvPr/>
        </p:nvSpPr>
        <p:spPr>
          <a:xfrm>
            <a:off x="6547104" y="2670048"/>
            <a:ext cx="384048" cy="384048"/>
          </a:xfrm>
          <a:prstGeom prst="roundRect">
            <a:avLst>
              <a:gd name="adj" fmla="val 16667"/>
            </a:avLst>
          </a:prstGeom>
          <a:solidFill>
            <a:srgbClr val="0F4C42"/>
          </a:solidFill>
          <a:ln/>
        </p:spPr>
      </p:sp>
      <p:sp>
        <p:nvSpPr>
          <p:cNvPr id="16" name="Text 14"/>
          <p:cNvSpPr/>
          <p:nvPr/>
        </p:nvSpPr>
        <p:spPr>
          <a:xfrm>
            <a:off x="6547104" y="2670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N</a:t>
            </a:r>
            <a:endParaRPr lang="en-US" sz="1400" dirty="0"/>
          </a:p>
        </p:txBody>
      </p:sp>
      <p:sp>
        <p:nvSpPr>
          <p:cNvPr id="17" name="Text 15"/>
          <p:cNvSpPr/>
          <p:nvPr/>
        </p:nvSpPr>
        <p:spPr>
          <a:xfrm>
            <a:off x="7059168" y="2670048"/>
            <a:ext cx="1481328" cy="384048"/>
          </a:xfrm>
          <a:prstGeom prst="rect">
            <a:avLst/>
          </a:prstGeom>
          <a:noFill/>
          <a:ln/>
        </p:spPr>
        <p:txBody>
          <a:bodyPr wrap="square" lIns="0" tIns="0" rIns="0" bIns="0" rtlCol="0" anchor="ctr"/>
          <a:lstStyle/>
          <a:p>
            <a:pPr indent="0" marL="0">
              <a:buNone/>
            </a:pPr>
            <a:r>
              <a:rPr lang="en-US" sz="1350" b="1" dirty="0">
                <a:solidFill>
                  <a:srgbClr val="121D24"/>
                </a:solidFill>
                <a:latin typeface="Calibri" pitchFamily="34" charset="0"/>
                <a:ea typeface="Calibri" pitchFamily="34" charset="-122"/>
                <a:cs typeface="Calibri" pitchFamily="34" charset="-120"/>
              </a:rPr>
              <a:t>Negotiable</a:t>
            </a:r>
            <a:endParaRPr lang="en-US" sz="1350" dirty="0"/>
          </a:p>
        </p:txBody>
      </p:sp>
      <p:sp>
        <p:nvSpPr>
          <p:cNvPr id="18" name="Text 16"/>
          <p:cNvSpPr/>
          <p:nvPr/>
        </p:nvSpPr>
        <p:spPr>
          <a:xfrm>
            <a:off x="8540496" y="2670048"/>
            <a:ext cx="3127248" cy="384048"/>
          </a:xfrm>
          <a:prstGeom prst="rect">
            <a:avLst/>
          </a:prstGeom>
          <a:noFill/>
          <a:ln/>
        </p:spPr>
        <p:txBody>
          <a:bodyPr wrap="square" lIns="0" tIns="0" rIns="0" bIns="0" rtlCol="0" anchor="ctr"/>
          <a:lstStyle/>
          <a:p>
            <a:pPr indent="0" marL="0">
              <a:buNone/>
            </a:pPr>
            <a:r>
              <a:rPr lang="en-US" sz="1200" dirty="0">
                <a:solidFill>
                  <a:srgbClr val="4E5D62"/>
                </a:solidFill>
                <a:latin typeface="Calibri" pitchFamily="34" charset="0"/>
                <a:ea typeface="Calibri" pitchFamily="34" charset="-122"/>
                <a:cs typeface="Calibri" pitchFamily="34" charset="-120"/>
              </a:rPr>
              <a:t>Describes intent, not implementation.</a:t>
            </a:r>
            <a:endParaRPr lang="en-US" sz="1200" dirty="0"/>
          </a:p>
        </p:txBody>
      </p:sp>
      <p:sp>
        <p:nvSpPr>
          <p:cNvPr id="19" name="Shape 17"/>
          <p:cNvSpPr/>
          <p:nvPr/>
        </p:nvSpPr>
        <p:spPr>
          <a:xfrm>
            <a:off x="6547104" y="3200400"/>
            <a:ext cx="384048" cy="384048"/>
          </a:xfrm>
          <a:prstGeom prst="roundRect">
            <a:avLst>
              <a:gd name="adj" fmla="val 16667"/>
            </a:avLst>
          </a:prstGeom>
          <a:solidFill>
            <a:srgbClr val="0F4C42"/>
          </a:solidFill>
          <a:ln/>
        </p:spPr>
      </p:sp>
      <p:sp>
        <p:nvSpPr>
          <p:cNvPr id="20" name="Text 18"/>
          <p:cNvSpPr/>
          <p:nvPr/>
        </p:nvSpPr>
        <p:spPr>
          <a:xfrm>
            <a:off x="6547104" y="32004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V</a:t>
            </a:r>
            <a:endParaRPr lang="en-US" sz="1400" dirty="0"/>
          </a:p>
        </p:txBody>
      </p:sp>
      <p:sp>
        <p:nvSpPr>
          <p:cNvPr id="21" name="Text 19"/>
          <p:cNvSpPr/>
          <p:nvPr/>
        </p:nvSpPr>
        <p:spPr>
          <a:xfrm>
            <a:off x="7059168" y="3200400"/>
            <a:ext cx="1481328" cy="384048"/>
          </a:xfrm>
          <a:prstGeom prst="rect">
            <a:avLst/>
          </a:prstGeom>
          <a:noFill/>
          <a:ln/>
        </p:spPr>
        <p:txBody>
          <a:bodyPr wrap="square" lIns="0" tIns="0" rIns="0" bIns="0" rtlCol="0" anchor="ctr"/>
          <a:lstStyle/>
          <a:p>
            <a:pPr indent="0" marL="0">
              <a:buNone/>
            </a:pPr>
            <a:r>
              <a:rPr lang="en-US" sz="1350" b="1" dirty="0">
                <a:solidFill>
                  <a:srgbClr val="121D24"/>
                </a:solidFill>
                <a:latin typeface="Calibri" pitchFamily="34" charset="0"/>
                <a:ea typeface="Calibri" pitchFamily="34" charset="-122"/>
                <a:cs typeface="Calibri" pitchFamily="34" charset="-120"/>
              </a:rPr>
              <a:t>Valuable</a:t>
            </a:r>
            <a:endParaRPr lang="en-US" sz="1350" dirty="0"/>
          </a:p>
        </p:txBody>
      </p:sp>
      <p:sp>
        <p:nvSpPr>
          <p:cNvPr id="22" name="Text 20"/>
          <p:cNvSpPr/>
          <p:nvPr/>
        </p:nvSpPr>
        <p:spPr>
          <a:xfrm>
            <a:off x="8540496" y="3200400"/>
            <a:ext cx="3127248" cy="384048"/>
          </a:xfrm>
          <a:prstGeom prst="rect">
            <a:avLst/>
          </a:prstGeom>
          <a:noFill/>
          <a:ln/>
        </p:spPr>
        <p:txBody>
          <a:bodyPr wrap="square" lIns="0" tIns="0" rIns="0" bIns="0" rtlCol="0" anchor="ctr"/>
          <a:lstStyle/>
          <a:p>
            <a:pPr indent="0" marL="0">
              <a:buNone/>
            </a:pPr>
            <a:r>
              <a:rPr lang="en-US" sz="1200" dirty="0">
                <a:solidFill>
                  <a:srgbClr val="4E5D62"/>
                </a:solidFill>
                <a:latin typeface="Calibri" pitchFamily="34" charset="0"/>
                <a:ea typeface="Calibri" pitchFamily="34" charset="-122"/>
                <a:cs typeface="Calibri" pitchFamily="34" charset="-120"/>
              </a:rPr>
              <a:t>A user or the business gains something.</a:t>
            </a:r>
            <a:endParaRPr lang="en-US" sz="1200" dirty="0"/>
          </a:p>
        </p:txBody>
      </p:sp>
      <p:sp>
        <p:nvSpPr>
          <p:cNvPr id="23" name="Shape 21"/>
          <p:cNvSpPr/>
          <p:nvPr/>
        </p:nvSpPr>
        <p:spPr>
          <a:xfrm>
            <a:off x="6547104" y="3730752"/>
            <a:ext cx="384048" cy="384048"/>
          </a:xfrm>
          <a:prstGeom prst="roundRect">
            <a:avLst>
              <a:gd name="adj" fmla="val 16667"/>
            </a:avLst>
          </a:prstGeom>
          <a:solidFill>
            <a:srgbClr val="0F4C42"/>
          </a:solidFill>
          <a:ln/>
        </p:spPr>
      </p:sp>
      <p:sp>
        <p:nvSpPr>
          <p:cNvPr id="24" name="Text 22"/>
          <p:cNvSpPr/>
          <p:nvPr/>
        </p:nvSpPr>
        <p:spPr>
          <a:xfrm>
            <a:off x="6547104" y="373075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E</a:t>
            </a:r>
            <a:endParaRPr lang="en-US" sz="1400" dirty="0"/>
          </a:p>
        </p:txBody>
      </p:sp>
      <p:sp>
        <p:nvSpPr>
          <p:cNvPr id="25" name="Text 23"/>
          <p:cNvSpPr/>
          <p:nvPr/>
        </p:nvSpPr>
        <p:spPr>
          <a:xfrm>
            <a:off x="7059168" y="3730752"/>
            <a:ext cx="1481328" cy="384048"/>
          </a:xfrm>
          <a:prstGeom prst="rect">
            <a:avLst/>
          </a:prstGeom>
          <a:noFill/>
          <a:ln/>
        </p:spPr>
        <p:txBody>
          <a:bodyPr wrap="square" lIns="0" tIns="0" rIns="0" bIns="0" rtlCol="0" anchor="ctr"/>
          <a:lstStyle/>
          <a:p>
            <a:pPr indent="0" marL="0">
              <a:buNone/>
            </a:pPr>
            <a:r>
              <a:rPr lang="en-US" sz="1350" b="1" dirty="0">
                <a:solidFill>
                  <a:srgbClr val="121D24"/>
                </a:solidFill>
                <a:latin typeface="Calibri" pitchFamily="34" charset="0"/>
                <a:ea typeface="Calibri" pitchFamily="34" charset="-122"/>
                <a:cs typeface="Calibri" pitchFamily="34" charset="-120"/>
              </a:rPr>
              <a:t>Estimable</a:t>
            </a:r>
            <a:endParaRPr lang="en-US" sz="1350" dirty="0"/>
          </a:p>
        </p:txBody>
      </p:sp>
      <p:sp>
        <p:nvSpPr>
          <p:cNvPr id="26" name="Text 24"/>
          <p:cNvSpPr/>
          <p:nvPr/>
        </p:nvSpPr>
        <p:spPr>
          <a:xfrm>
            <a:off x="8540496" y="3730752"/>
            <a:ext cx="3127248" cy="384048"/>
          </a:xfrm>
          <a:prstGeom prst="rect">
            <a:avLst/>
          </a:prstGeom>
          <a:noFill/>
          <a:ln/>
        </p:spPr>
        <p:txBody>
          <a:bodyPr wrap="square" lIns="0" tIns="0" rIns="0" bIns="0" rtlCol="0" anchor="ctr"/>
          <a:lstStyle/>
          <a:p>
            <a:pPr indent="0" marL="0">
              <a:buNone/>
            </a:pPr>
            <a:r>
              <a:rPr lang="en-US" sz="1200" dirty="0">
                <a:solidFill>
                  <a:srgbClr val="4E5D62"/>
                </a:solidFill>
                <a:latin typeface="Calibri" pitchFamily="34" charset="0"/>
                <a:ea typeface="Calibri" pitchFamily="34" charset="-122"/>
                <a:cs typeface="Calibri" pitchFamily="34" charset="-120"/>
              </a:rPr>
              <a:t>The team can size it.</a:t>
            </a:r>
            <a:endParaRPr lang="en-US" sz="1200" dirty="0"/>
          </a:p>
        </p:txBody>
      </p:sp>
      <p:sp>
        <p:nvSpPr>
          <p:cNvPr id="27" name="Shape 25"/>
          <p:cNvSpPr/>
          <p:nvPr/>
        </p:nvSpPr>
        <p:spPr>
          <a:xfrm>
            <a:off x="6547104" y="4261104"/>
            <a:ext cx="384048" cy="384048"/>
          </a:xfrm>
          <a:prstGeom prst="roundRect">
            <a:avLst>
              <a:gd name="adj" fmla="val 16667"/>
            </a:avLst>
          </a:prstGeom>
          <a:solidFill>
            <a:srgbClr val="0F4C42"/>
          </a:solidFill>
          <a:ln/>
        </p:spPr>
      </p:sp>
      <p:sp>
        <p:nvSpPr>
          <p:cNvPr id="28" name="Text 26"/>
          <p:cNvSpPr/>
          <p:nvPr/>
        </p:nvSpPr>
        <p:spPr>
          <a:xfrm>
            <a:off x="6547104" y="42611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S</a:t>
            </a:r>
            <a:endParaRPr lang="en-US" sz="1400" dirty="0"/>
          </a:p>
        </p:txBody>
      </p:sp>
      <p:sp>
        <p:nvSpPr>
          <p:cNvPr id="29" name="Text 27"/>
          <p:cNvSpPr/>
          <p:nvPr/>
        </p:nvSpPr>
        <p:spPr>
          <a:xfrm>
            <a:off x="7059168" y="4261104"/>
            <a:ext cx="1481328" cy="384048"/>
          </a:xfrm>
          <a:prstGeom prst="rect">
            <a:avLst/>
          </a:prstGeom>
          <a:noFill/>
          <a:ln/>
        </p:spPr>
        <p:txBody>
          <a:bodyPr wrap="square" lIns="0" tIns="0" rIns="0" bIns="0" rtlCol="0" anchor="ctr"/>
          <a:lstStyle/>
          <a:p>
            <a:pPr indent="0" marL="0">
              <a:buNone/>
            </a:pPr>
            <a:r>
              <a:rPr lang="en-US" sz="1350" b="1" dirty="0">
                <a:solidFill>
                  <a:srgbClr val="121D24"/>
                </a:solidFill>
                <a:latin typeface="Calibri" pitchFamily="34" charset="0"/>
                <a:ea typeface="Calibri" pitchFamily="34" charset="-122"/>
                <a:cs typeface="Calibri" pitchFamily="34" charset="-120"/>
              </a:rPr>
              <a:t>Small</a:t>
            </a:r>
            <a:endParaRPr lang="en-US" sz="1350" dirty="0"/>
          </a:p>
        </p:txBody>
      </p:sp>
      <p:sp>
        <p:nvSpPr>
          <p:cNvPr id="30" name="Text 28"/>
          <p:cNvSpPr/>
          <p:nvPr/>
        </p:nvSpPr>
        <p:spPr>
          <a:xfrm>
            <a:off x="8540496" y="4261104"/>
            <a:ext cx="3127248" cy="384048"/>
          </a:xfrm>
          <a:prstGeom prst="rect">
            <a:avLst/>
          </a:prstGeom>
          <a:noFill/>
          <a:ln/>
        </p:spPr>
        <p:txBody>
          <a:bodyPr wrap="square" lIns="0" tIns="0" rIns="0" bIns="0" rtlCol="0" anchor="ctr"/>
          <a:lstStyle/>
          <a:p>
            <a:pPr indent="0" marL="0">
              <a:buNone/>
            </a:pPr>
            <a:r>
              <a:rPr lang="en-US" sz="1200" dirty="0">
                <a:solidFill>
                  <a:srgbClr val="4E5D62"/>
                </a:solidFill>
                <a:latin typeface="Calibri" pitchFamily="34" charset="0"/>
                <a:ea typeface="Calibri" pitchFamily="34" charset="-122"/>
                <a:cs typeface="Calibri" pitchFamily="34" charset="-120"/>
              </a:rPr>
              <a:t>Fits comfortably inside one sprint.</a:t>
            </a:r>
            <a:endParaRPr lang="en-US" sz="1200" dirty="0"/>
          </a:p>
        </p:txBody>
      </p:sp>
      <p:sp>
        <p:nvSpPr>
          <p:cNvPr id="31" name="Shape 29"/>
          <p:cNvSpPr/>
          <p:nvPr/>
        </p:nvSpPr>
        <p:spPr>
          <a:xfrm>
            <a:off x="6547104" y="4791456"/>
            <a:ext cx="384048" cy="384048"/>
          </a:xfrm>
          <a:prstGeom prst="roundRect">
            <a:avLst>
              <a:gd name="adj" fmla="val 16667"/>
            </a:avLst>
          </a:prstGeom>
          <a:solidFill>
            <a:srgbClr val="0F4C42"/>
          </a:solidFill>
          <a:ln/>
        </p:spPr>
      </p:sp>
      <p:sp>
        <p:nvSpPr>
          <p:cNvPr id="32" name="Text 30"/>
          <p:cNvSpPr/>
          <p:nvPr/>
        </p:nvSpPr>
        <p:spPr>
          <a:xfrm>
            <a:off x="6547104" y="479145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T</a:t>
            </a:r>
            <a:endParaRPr lang="en-US" sz="1400" dirty="0"/>
          </a:p>
        </p:txBody>
      </p:sp>
      <p:sp>
        <p:nvSpPr>
          <p:cNvPr id="33" name="Text 31"/>
          <p:cNvSpPr/>
          <p:nvPr/>
        </p:nvSpPr>
        <p:spPr>
          <a:xfrm>
            <a:off x="7059168" y="4791456"/>
            <a:ext cx="1481328" cy="384048"/>
          </a:xfrm>
          <a:prstGeom prst="rect">
            <a:avLst/>
          </a:prstGeom>
          <a:noFill/>
          <a:ln/>
        </p:spPr>
        <p:txBody>
          <a:bodyPr wrap="square" lIns="0" tIns="0" rIns="0" bIns="0" rtlCol="0" anchor="ctr"/>
          <a:lstStyle/>
          <a:p>
            <a:pPr indent="0" marL="0">
              <a:buNone/>
            </a:pPr>
            <a:r>
              <a:rPr lang="en-US" sz="1350" b="1" dirty="0">
                <a:solidFill>
                  <a:srgbClr val="121D24"/>
                </a:solidFill>
                <a:latin typeface="Calibri" pitchFamily="34" charset="0"/>
                <a:ea typeface="Calibri" pitchFamily="34" charset="-122"/>
                <a:cs typeface="Calibri" pitchFamily="34" charset="-120"/>
              </a:rPr>
              <a:t>Testable</a:t>
            </a:r>
            <a:endParaRPr lang="en-US" sz="1350" dirty="0"/>
          </a:p>
        </p:txBody>
      </p:sp>
      <p:sp>
        <p:nvSpPr>
          <p:cNvPr id="34" name="Text 32"/>
          <p:cNvSpPr/>
          <p:nvPr/>
        </p:nvSpPr>
        <p:spPr>
          <a:xfrm>
            <a:off x="8540496" y="4791456"/>
            <a:ext cx="3127248" cy="384048"/>
          </a:xfrm>
          <a:prstGeom prst="rect">
            <a:avLst/>
          </a:prstGeom>
          <a:noFill/>
          <a:ln/>
        </p:spPr>
        <p:txBody>
          <a:bodyPr wrap="square" lIns="0" tIns="0" rIns="0" bIns="0" rtlCol="0" anchor="ctr"/>
          <a:lstStyle/>
          <a:p>
            <a:pPr indent="0" marL="0">
              <a:buNone/>
            </a:pPr>
            <a:r>
              <a:rPr lang="en-US" sz="1200" dirty="0">
                <a:solidFill>
                  <a:srgbClr val="4E5D62"/>
                </a:solidFill>
                <a:latin typeface="Calibri" pitchFamily="34" charset="0"/>
                <a:ea typeface="Calibri" pitchFamily="34" charset="-122"/>
                <a:cs typeface="Calibri" pitchFamily="34" charset="-120"/>
              </a:rPr>
              <a:t>You can prove it works.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20" kern="0" dirty="0">
                <a:solidFill>
                  <a:srgbClr val="E0512B"/>
                </a:solidFill>
                <a:latin typeface="Courier New" pitchFamily="34" charset="0"/>
                <a:ea typeface="Courier New" pitchFamily="34" charset="-122"/>
                <a:cs typeface="Courier New" pitchFamily="34" charset="-120"/>
              </a:rPr>
              <a:t>04 / THE WORK</a:t>
            </a:r>
            <a:endParaRPr lang="en-US" sz="1100" dirty="0"/>
          </a:p>
        </p:txBody>
      </p:sp>
      <p:sp>
        <p:nvSpPr>
          <p:cNvPr id="3" name="Text 1"/>
          <p:cNvSpPr/>
          <p:nvPr/>
        </p:nvSpPr>
        <p:spPr>
          <a:xfrm>
            <a:off x="566928" y="676656"/>
            <a:ext cx="11057839" cy="658368"/>
          </a:xfrm>
          <a:prstGeom prst="rect">
            <a:avLst/>
          </a:prstGeom>
          <a:noFill/>
          <a:ln/>
        </p:spPr>
        <p:txBody>
          <a:bodyPr wrap="square" lIns="0" tIns="0" rIns="0" bIns="0" rtlCol="0" anchor="ctr"/>
          <a:lstStyle/>
          <a:p>
            <a:pPr algn="l" indent="0" marL="0">
              <a:buNone/>
            </a:pPr>
            <a:r>
              <a:rPr lang="en-US" sz="3400" b="1" dirty="0">
                <a:solidFill>
                  <a:srgbClr val="121D24"/>
                </a:solidFill>
                <a:latin typeface="Calibri" pitchFamily="34" charset="0"/>
                <a:ea typeface="Calibri" pitchFamily="34" charset="-122"/>
                <a:cs typeface="Calibri" pitchFamily="34" charset="-120"/>
              </a:rPr>
              <a:t>How a story actually moves</a:t>
            </a:r>
            <a:endParaRPr lang="en-US" sz="3400" dirty="0"/>
          </a:p>
        </p:txBody>
      </p:sp>
      <p:sp>
        <p:nvSpPr>
          <p:cNvPr id="4" name="Shape 2"/>
          <p:cNvSpPr/>
          <p:nvPr/>
        </p:nvSpPr>
        <p:spPr>
          <a:xfrm>
            <a:off x="566928" y="2011680"/>
            <a:ext cx="1371600" cy="749808"/>
          </a:xfrm>
          <a:prstGeom prst="roundRect">
            <a:avLst>
              <a:gd name="adj" fmla="val 10976"/>
            </a:avLst>
          </a:prstGeom>
          <a:solidFill>
            <a:srgbClr val="EDF1F0"/>
          </a:solidFill>
          <a:ln w="12700">
            <a:solidFill>
              <a:srgbClr val="C8D4D1"/>
            </a:solidFill>
            <a:prstDash val="solid"/>
          </a:ln>
        </p:spPr>
      </p:sp>
      <p:sp>
        <p:nvSpPr>
          <p:cNvPr id="5" name="Text 3"/>
          <p:cNvSpPr/>
          <p:nvPr/>
        </p:nvSpPr>
        <p:spPr>
          <a:xfrm>
            <a:off x="566928" y="2011680"/>
            <a:ext cx="1371600" cy="749808"/>
          </a:xfrm>
          <a:prstGeom prst="rect">
            <a:avLst/>
          </a:prstGeom>
          <a:noFill/>
          <a:ln/>
        </p:spPr>
        <p:txBody>
          <a:bodyPr wrap="square" lIns="0" tIns="0" rIns="0" bIns="0" rtlCol="0" anchor="ctr"/>
          <a:lstStyle/>
          <a:p>
            <a:pPr algn="ctr" indent="0" marL="0">
              <a:buNone/>
            </a:pPr>
            <a:r>
              <a:rPr lang="en-US" sz="1250" dirty="0">
                <a:solidFill>
                  <a:srgbClr val="121D24"/>
                </a:solidFill>
                <a:latin typeface="Calibri" pitchFamily="34" charset="0"/>
                <a:ea typeface="Calibri" pitchFamily="34" charset="-122"/>
                <a:cs typeface="Calibri" pitchFamily="34" charset="-120"/>
              </a:rPr>
              <a:t>Backlog</a:t>
            </a:r>
            <a:endParaRPr lang="en-US" sz="1250" dirty="0"/>
          </a:p>
        </p:txBody>
      </p:sp>
      <p:sp>
        <p:nvSpPr>
          <p:cNvPr id="6" name="Shape 4"/>
          <p:cNvSpPr/>
          <p:nvPr/>
        </p:nvSpPr>
        <p:spPr>
          <a:xfrm>
            <a:off x="1956816" y="2286000"/>
            <a:ext cx="182880" cy="201168"/>
          </a:xfrm>
          <a:prstGeom prst="rightArrow">
            <a:avLst/>
          </a:prstGeom>
          <a:solidFill>
            <a:srgbClr val="C8D4D1"/>
          </a:solidFill>
          <a:ln/>
        </p:spPr>
      </p:sp>
      <p:sp>
        <p:nvSpPr>
          <p:cNvPr id="7" name="Shape 5"/>
          <p:cNvSpPr/>
          <p:nvPr/>
        </p:nvSpPr>
        <p:spPr>
          <a:xfrm>
            <a:off x="2121408" y="2011680"/>
            <a:ext cx="1371600" cy="749808"/>
          </a:xfrm>
          <a:prstGeom prst="roundRect">
            <a:avLst>
              <a:gd name="adj" fmla="val 10976"/>
            </a:avLst>
          </a:prstGeom>
          <a:solidFill>
            <a:srgbClr val="EDF1F0"/>
          </a:solidFill>
          <a:ln w="12700">
            <a:solidFill>
              <a:srgbClr val="C8D4D1"/>
            </a:solidFill>
            <a:prstDash val="solid"/>
          </a:ln>
        </p:spPr>
      </p:sp>
      <p:sp>
        <p:nvSpPr>
          <p:cNvPr id="8" name="Text 6"/>
          <p:cNvSpPr/>
          <p:nvPr/>
        </p:nvSpPr>
        <p:spPr>
          <a:xfrm>
            <a:off x="2121408" y="2011680"/>
            <a:ext cx="1371600" cy="749808"/>
          </a:xfrm>
          <a:prstGeom prst="rect">
            <a:avLst/>
          </a:prstGeom>
          <a:noFill/>
          <a:ln/>
        </p:spPr>
        <p:txBody>
          <a:bodyPr wrap="square" lIns="0" tIns="0" rIns="0" bIns="0" rtlCol="0" anchor="ctr"/>
          <a:lstStyle/>
          <a:p>
            <a:pPr algn="ctr" indent="0" marL="0">
              <a:buNone/>
            </a:pPr>
            <a:r>
              <a:rPr lang="en-US" sz="1250" dirty="0">
                <a:solidFill>
                  <a:srgbClr val="121D24"/>
                </a:solidFill>
                <a:latin typeface="Calibri" pitchFamily="34" charset="0"/>
                <a:ea typeface="Calibri" pitchFamily="34" charset="-122"/>
                <a:cs typeface="Calibri" pitchFamily="34" charset="-120"/>
              </a:rPr>
              <a:t>Refined</a:t>
            </a:r>
            <a:endParaRPr lang="en-US" sz="1250" dirty="0"/>
          </a:p>
        </p:txBody>
      </p:sp>
      <p:sp>
        <p:nvSpPr>
          <p:cNvPr id="9" name="Shape 7"/>
          <p:cNvSpPr/>
          <p:nvPr/>
        </p:nvSpPr>
        <p:spPr>
          <a:xfrm>
            <a:off x="3511296" y="2286000"/>
            <a:ext cx="182880" cy="201168"/>
          </a:xfrm>
          <a:prstGeom prst="rightArrow">
            <a:avLst/>
          </a:prstGeom>
          <a:solidFill>
            <a:srgbClr val="C8D4D1"/>
          </a:solidFill>
          <a:ln/>
        </p:spPr>
      </p:sp>
      <p:sp>
        <p:nvSpPr>
          <p:cNvPr id="10" name="Shape 8"/>
          <p:cNvSpPr/>
          <p:nvPr/>
        </p:nvSpPr>
        <p:spPr>
          <a:xfrm>
            <a:off x="3675888" y="2011680"/>
            <a:ext cx="1371600" cy="749808"/>
          </a:xfrm>
          <a:prstGeom prst="roundRect">
            <a:avLst>
              <a:gd name="adj" fmla="val 10976"/>
            </a:avLst>
          </a:prstGeom>
          <a:solidFill>
            <a:srgbClr val="EDF1F0"/>
          </a:solidFill>
          <a:ln w="12700">
            <a:solidFill>
              <a:srgbClr val="C8D4D1"/>
            </a:solidFill>
            <a:prstDash val="solid"/>
          </a:ln>
        </p:spPr>
      </p:sp>
      <p:sp>
        <p:nvSpPr>
          <p:cNvPr id="11" name="Text 9"/>
          <p:cNvSpPr/>
          <p:nvPr/>
        </p:nvSpPr>
        <p:spPr>
          <a:xfrm>
            <a:off x="3675888" y="2011680"/>
            <a:ext cx="1371600" cy="749808"/>
          </a:xfrm>
          <a:prstGeom prst="rect">
            <a:avLst/>
          </a:prstGeom>
          <a:noFill/>
          <a:ln/>
        </p:spPr>
        <p:txBody>
          <a:bodyPr wrap="square" lIns="0" tIns="0" rIns="0" bIns="0" rtlCol="0" anchor="ctr"/>
          <a:lstStyle/>
          <a:p>
            <a:pPr algn="ctr" indent="0" marL="0">
              <a:buNone/>
            </a:pPr>
            <a:r>
              <a:rPr lang="en-US" sz="1250" dirty="0">
                <a:solidFill>
                  <a:srgbClr val="121D24"/>
                </a:solidFill>
                <a:latin typeface="Calibri" pitchFamily="34" charset="0"/>
                <a:ea typeface="Calibri" pitchFamily="34" charset="-122"/>
                <a:cs typeface="Calibri" pitchFamily="34" charset="-120"/>
              </a:rPr>
              <a:t>Committed</a:t>
            </a:r>
            <a:endParaRPr lang="en-US" sz="1250" dirty="0"/>
          </a:p>
        </p:txBody>
      </p:sp>
      <p:sp>
        <p:nvSpPr>
          <p:cNvPr id="12" name="Shape 10"/>
          <p:cNvSpPr/>
          <p:nvPr/>
        </p:nvSpPr>
        <p:spPr>
          <a:xfrm>
            <a:off x="5065776" y="2286000"/>
            <a:ext cx="182880" cy="201168"/>
          </a:xfrm>
          <a:prstGeom prst="rightArrow">
            <a:avLst/>
          </a:prstGeom>
          <a:solidFill>
            <a:srgbClr val="C8D4D1"/>
          </a:solidFill>
          <a:ln/>
        </p:spPr>
      </p:sp>
      <p:sp>
        <p:nvSpPr>
          <p:cNvPr id="13" name="Shape 11"/>
          <p:cNvSpPr/>
          <p:nvPr/>
        </p:nvSpPr>
        <p:spPr>
          <a:xfrm>
            <a:off x="5230368" y="2011680"/>
            <a:ext cx="1371600" cy="749808"/>
          </a:xfrm>
          <a:prstGeom prst="roundRect">
            <a:avLst>
              <a:gd name="adj" fmla="val 10976"/>
            </a:avLst>
          </a:prstGeom>
          <a:solidFill>
            <a:srgbClr val="EDF1F0"/>
          </a:solidFill>
          <a:ln w="12700">
            <a:solidFill>
              <a:srgbClr val="C8D4D1"/>
            </a:solidFill>
            <a:prstDash val="solid"/>
          </a:ln>
        </p:spPr>
      </p:sp>
      <p:sp>
        <p:nvSpPr>
          <p:cNvPr id="14" name="Text 12"/>
          <p:cNvSpPr/>
          <p:nvPr/>
        </p:nvSpPr>
        <p:spPr>
          <a:xfrm>
            <a:off x="5230368" y="2011680"/>
            <a:ext cx="1371600" cy="749808"/>
          </a:xfrm>
          <a:prstGeom prst="rect">
            <a:avLst/>
          </a:prstGeom>
          <a:noFill/>
          <a:ln/>
        </p:spPr>
        <p:txBody>
          <a:bodyPr wrap="square" lIns="0" tIns="0" rIns="0" bIns="0" rtlCol="0" anchor="ctr"/>
          <a:lstStyle/>
          <a:p>
            <a:pPr algn="ctr" indent="0" marL="0">
              <a:buNone/>
            </a:pPr>
            <a:r>
              <a:rPr lang="en-US" sz="1250" dirty="0">
                <a:solidFill>
                  <a:srgbClr val="121D24"/>
                </a:solidFill>
                <a:latin typeface="Calibri" pitchFamily="34" charset="0"/>
                <a:ea typeface="Calibri" pitchFamily="34" charset="-122"/>
                <a:cs typeface="Calibri" pitchFamily="34" charset="-120"/>
              </a:rPr>
              <a:t>In Progress</a:t>
            </a:r>
            <a:endParaRPr lang="en-US" sz="1250" dirty="0"/>
          </a:p>
        </p:txBody>
      </p:sp>
      <p:sp>
        <p:nvSpPr>
          <p:cNvPr id="15" name="Shape 13"/>
          <p:cNvSpPr/>
          <p:nvPr/>
        </p:nvSpPr>
        <p:spPr>
          <a:xfrm>
            <a:off x="6620256" y="2286000"/>
            <a:ext cx="182880" cy="201168"/>
          </a:xfrm>
          <a:prstGeom prst="rightArrow">
            <a:avLst/>
          </a:prstGeom>
          <a:solidFill>
            <a:srgbClr val="C8D4D1"/>
          </a:solidFill>
          <a:ln/>
        </p:spPr>
      </p:sp>
      <p:sp>
        <p:nvSpPr>
          <p:cNvPr id="16" name="Shape 14"/>
          <p:cNvSpPr/>
          <p:nvPr/>
        </p:nvSpPr>
        <p:spPr>
          <a:xfrm>
            <a:off x="6784848" y="2011680"/>
            <a:ext cx="1371600" cy="749808"/>
          </a:xfrm>
          <a:prstGeom prst="roundRect">
            <a:avLst>
              <a:gd name="adj" fmla="val 10976"/>
            </a:avLst>
          </a:prstGeom>
          <a:solidFill>
            <a:srgbClr val="EDF1F0"/>
          </a:solidFill>
          <a:ln w="12700">
            <a:solidFill>
              <a:srgbClr val="C8D4D1"/>
            </a:solidFill>
            <a:prstDash val="solid"/>
          </a:ln>
        </p:spPr>
      </p:sp>
      <p:sp>
        <p:nvSpPr>
          <p:cNvPr id="17" name="Text 15"/>
          <p:cNvSpPr/>
          <p:nvPr/>
        </p:nvSpPr>
        <p:spPr>
          <a:xfrm>
            <a:off x="6784848" y="2011680"/>
            <a:ext cx="1371600" cy="749808"/>
          </a:xfrm>
          <a:prstGeom prst="rect">
            <a:avLst/>
          </a:prstGeom>
          <a:noFill/>
          <a:ln/>
        </p:spPr>
        <p:txBody>
          <a:bodyPr wrap="square" lIns="0" tIns="0" rIns="0" bIns="0" rtlCol="0" anchor="ctr"/>
          <a:lstStyle/>
          <a:p>
            <a:pPr algn="ctr" indent="0" marL="0">
              <a:buNone/>
            </a:pPr>
            <a:r>
              <a:rPr lang="en-US" sz="1250" dirty="0">
                <a:solidFill>
                  <a:srgbClr val="121D24"/>
                </a:solidFill>
                <a:latin typeface="Calibri" pitchFamily="34" charset="0"/>
                <a:ea typeface="Calibri" pitchFamily="34" charset="-122"/>
                <a:cs typeface="Calibri" pitchFamily="34" charset="-120"/>
              </a:rPr>
              <a:t>In Review</a:t>
            </a:r>
            <a:endParaRPr lang="en-US" sz="1250" dirty="0"/>
          </a:p>
        </p:txBody>
      </p:sp>
      <p:sp>
        <p:nvSpPr>
          <p:cNvPr id="18" name="Shape 16"/>
          <p:cNvSpPr/>
          <p:nvPr/>
        </p:nvSpPr>
        <p:spPr>
          <a:xfrm>
            <a:off x="8174736" y="2286000"/>
            <a:ext cx="182880" cy="201168"/>
          </a:xfrm>
          <a:prstGeom prst="rightArrow">
            <a:avLst/>
          </a:prstGeom>
          <a:solidFill>
            <a:srgbClr val="C8D4D1"/>
          </a:solidFill>
          <a:ln/>
        </p:spPr>
      </p:sp>
      <p:sp>
        <p:nvSpPr>
          <p:cNvPr id="19" name="Shape 17"/>
          <p:cNvSpPr/>
          <p:nvPr/>
        </p:nvSpPr>
        <p:spPr>
          <a:xfrm>
            <a:off x="8339328" y="2011680"/>
            <a:ext cx="1371600" cy="749808"/>
          </a:xfrm>
          <a:prstGeom prst="roundRect">
            <a:avLst>
              <a:gd name="adj" fmla="val 10976"/>
            </a:avLst>
          </a:prstGeom>
          <a:solidFill>
            <a:srgbClr val="EDF1F0"/>
          </a:solidFill>
          <a:ln w="12700">
            <a:solidFill>
              <a:srgbClr val="C8D4D1"/>
            </a:solidFill>
            <a:prstDash val="solid"/>
          </a:ln>
        </p:spPr>
      </p:sp>
      <p:sp>
        <p:nvSpPr>
          <p:cNvPr id="20" name="Text 18"/>
          <p:cNvSpPr/>
          <p:nvPr/>
        </p:nvSpPr>
        <p:spPr>
          <a:xfrm>
            <a:off x="8339328" y="2011680"/>
            <a:ext cx="1371600" cy="749808"/>
          </a:xfrm>
          <a:prstGeom prst="rect">
            <a:avLst/>
          </a:prstGeom>
          <a:noFill/>
          <a:ln/>
        </p:spPr>
        <p:txBody>
          <a:bodyPr wrap="square" lIns="0" tIns="0" rIns="0" bIns="0" rtlCol="0" anchor="ctr"/>
          <a:lstStyle/>
          <a:p>
            <a:pPr algn="ctr" indent="0" marL="0">
              <a:buNone/>
            </a:pPr>
            <a:r>
              <a:rPr lang="en-US" sz="1250" dirty="0">
                <a:solidFill>
                  <a:srgbClr val="121D24"/>
                </a:solidFill>
                <a:latin typeface="Calibri" pitchFamily="34" charset="0"/>
                <a:ea typeface="Calibri" pitchFamily="34" charset="-122"/>
                <a:cs typeface="Calibri" pitchFamily="34" charset="-120"/>
              </a:rPr>
              <a:t>Testing</a:t>
            </a:r>
            <a:endParaRPr lang="en-US" sz="1250" dirty="0"/>
          </a:p>
        </p:txBody>
      </p:sp>
      <p:sp>
        <p:nvSpPr>
          <p:cNvPr id="21" name="Shape 19"/>
          <p:cNvSpPr/>
          <p:nvPr/>
        </p:nvSpPr>
        <p:spPr>
          <a:xfrm>
            <a:off x="9729216" y="2286000"/>
            <a:ext cx="182880" cy="201168"/>
          </a:xfrm>
          <a:prstGeom prst="rightArrow">
            <a:avLst/>
          </a:prstGeom>
          <a:solidFill>
            <a:srgbClr val="C8D4D1"/>
          </a:solidFill>
          <a:ln/>
        </p:spPr>
      </p:sp>
      <p:sp>
        <p:nvSpPr>
          <p:cNvPr id="22" name="Shape 20"/>
          <p:cNvSpPr/>
          <p:nvPr/>
        </p:nvSpPr>
        <p:spPr>
          <a:xfrm>
            <a:off x="9893808" y="2011680"/>
            <a:ext cx="1371600" cy="749808"/>
          </a:xfrm>
          <a:prstGeom prst="roundRect">
            <a:avLst>
              <a:gd name="adj" fmla="val 10976"/>
            </a:avLst>
          </a:prstGeom>
          <a:solidFill>
            <a:srgbClr val="0F4C42"/>
          </a:solidFill>
          <a:ln/>
          <a:effectLst>
            <a:outerShdw sx="100000" sy="100000" kx="0" ky="0" algn="bl" rotWithShape="0" blurRad="127000" dist="38100" dir="5400000">
              <a:srgbClr val="0B1418">
                <a:alpha val="13000"/>
              </a:srgbClr>
            </a:outerShdw>
          </a:effectLst>
        </p:spPr>
      </p:sp>
      <p:sp>
        <p:nvSpPr>
          <p:cNvPr id="23" name="Text 21"/>
          <p:cNvSpPr/>
          <p:nvPr/>
        </p:nvSpPr>
        <p:spPr>
          <a:xfrm>
            <a:off x="9893808" y="2011680"/>
            <a:ext cx="1371600" cy="74980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Done</a:t>
            </a:r>
            <a:endParaRPr lang="en-US" sz="1250" dirty="0"/>
          </a:p>
        </p:txBody>
      </p:sp>
      <p:sp>
        <p:nvSpPr>
          <p:cNvPr id="24" name="Shape 22"/>
          <p:cNvSpPr/>
          <p:nvPr/>
        </p:nvSpPr>
        <p:spPr>
          <a:xfrm>
            <a:off x="4407408" y="2889504"/>
            <a:ext cx="2377440" cy="128016"/>
          </a:xfrm>
          <a:prstGeom prst="leftArrow">
            <a:avLst/>
          </a:prstGeom>
          <a:solidFill>
            <a:srgbClr val="F0B429"/>
          </a:solidFill>
          <a:ln/>
        </p:spPr>
      </p:sp>
      <p:sp>
        <p:nvSpPr>
          <p:cNvPr id="25" name="Text 23"/>
          <p:cNvSpPr/>
          <p:nvPr/>
        </p:nvSpPr>
        <p:spPr>
          <a:xfrm>
            <a:off x="4407408" y="3035808"/>
            <a:ext cx="2377440" cy="237744"/>
          </a:xfrm>
          <a:prstGeom prst="rect">
            <a:avLst/>
          </a:prstGeom>
          <a:noFill/>
          <a:ln/>
        </p:spPr>
        <p:txBody>
          <a:bodyPr wrap="square" lIns="0" tIns="0" rIns="0" bIns="0" rtlCol="0" anchor="ctr"/>
          <a:lstStyle/>
          <a:p>
            <a:pPr algn="ctr" indent="0" marL="0">
              <a:buNone/>
            </a:pPr>
            <a:r>
              <a:rPr lang="en-US" sz="950" dirty="0">
                <a:solidFill>
                  <a:srgbClr val="8A6A10"/>
                </a:solidFill>
                <a:latin typeface="Courier New" pitchFamily="34" charset="0"/>
                <a:ea typeface="Courier New" pitchFamily="34" charset="-122"/>
                <a:cs typeface="Courier New" pitchFamily="34" charset="-120"/>
              </a:rPr>
              <a:t>changes requested</a:t>
            </a:r>
            <a:endParaRPr lang="en-US" sz="950" dirty="0"/>
          </a:p>
        </p:txBody>
      </p:sp>
      <p:sp>
        <p:nvSpPr>
          <p:cNvPr id="26" name="Shape 24"/>
          <p:cNvSpPr/>
          <p:nvPr/>
        </p:nvSpPr>
        <p:spPr>
          <a:xfrm>
            <a:off x="5596128" y="3419856"/>
            <a:ext cx="3566160" cy="128016"/>
          </a:xfrm>
          <a:prstGeom prst="leftArrow">
            <a:avLst/>
          </a:prstGeom>
          <a:solidFill>
            <a:srgbClr val="F0B429"/>
          </a:solidFill>
          <a:ln/>
        </p:spPr>
      </p:sp>
      <p:sp>
        <p:nvSpPr>
          <p:cNvPr id="27" name="Text 25"/>
          <p:cNvSpPr/>
          <p:nvPr/>
        </p:nvSpPr>
        <p:spPr>
          <a:xfrm>
            <a:off x="5596128" y="3566160"/>
            <a:ext cx="3566160" cy="237744"/>
          </a:xfrm>
          <a:prstGeom prst="rect">
            <a:avLst/>
          </a:prstGeom>
          <a:noFill/>
          <a:ln/>
        </p:spPr>
        <p:txBody>
          <a:bodyPr wrap="square" lIns="0" tIns="0" rIns="0" bIns="0" rtlCol="0" anchor="ctr"/>
          <a:lstStyle/>
          <a:p>
            <a:pPr algn="ctr" indent="0" marL="0">
              <a:buNone/>
            </a:pPr>
            <a:r>
              <a:rPr lang="en-US" sz="950" dirty="0">
                <a:solidFill>
                  <a:srgbClr val="8A6A10"/>
                </a:solidFill>
                <a:latin typeface="Courier New" pitchFamily="34" charset="0"/>
                <a:ea typeface="Courier New" pitchFamily="34" charset="-122"/>
                <a:cs typeface="Courier New" pitchFamily="34" charset="-120"/>
              </a:rPr>
              <a:t>bug found in testing</a:t>
            </a:r>
            <a:endParaRPr lang="en-US" sz="950" dirty="0"/>
          </a:p>
        </p:txBody>
      </p:sp>
      <p:sp>
        <p:nvSpPr>
          <p:cNvPr id="28" name="Shape 26"/>
          <p:cNvSpPr/>
          <p:nvPr/>
        </p:nvSpPr>
        <p:spPr>
          <a:xfrm>
            <a:off x="566928" y="4114800"/>
            <a:ext cx="5394960" cy="1737360"/>
          </a:xfrm>
          <a:prstGeom prst="roundRect">
            <a:avLst>
              <a:gd name="adj" fmla="val 6316"/>
            </a:avLst>
          </a:prstGeom>
          <a:solidFill>
            <a:srgbClr val="E0512B"/>
          </a:solidFill>
          <a:ln/>
          <a:effectLst>
            <a:outerShdw sx="100000" sy="100000" kx="0" ky="0" algn="bl" rotWithShape="0" blurRad="127000" dist="38100" dir="5400000">
              <a:srgbClr val="0B1418">
                <a:alpha val="13000"/>
              </a:srgbClr>
            </a:outerShdw>
          </a:effectLst>
        </p:spPr>
      </p:sp>
      <p:sp>
        <p:nvSpPr>
          <p:cNvPr id="29" name="Shape 27"/>
          <p:cNvSpPr/>
          <p:nvPr/>
        </p:nvSpPr>
        <p:spPr>
          <a:xfrm>
            <a:off x="877824" y="4407408"/>
            <a:ext cx="621792" cy="621792"/>
          </a:xfrm>
          <a:prstGeom prst="ellipse">
            <a:avLst/>
          </a:prstGeom>
          <a:solidFill>
            <a:srgbClr val="A83818"/>
          </a:solidFill>
          <a:ln/>
        </p:spPr>
      </p:sp>
      <p:pic>
        <p:nvPicPr>
          <p:cNvPr id="30" name="Image 0" descr="/home/claude/agile/icons/stop.png">    </p:cNvPr>
          <p:cNvPicPr>
            <a:picLocks noChangeAspect="1"/>
          </p:cNvPicPr>
          <p:nvPr/>
        </p:nvPicPr>
        <p:blipFill>
          <a:blip r:embed="rId1"/>
          <a:stretch>
            <a:fillRect/>
          </a:stretch>
        </p:blipFill>
        <p:spPr>
          <a:xfrm>
            <a:off x="1051926" y="4581510"/>
            <a:ext cx="273588" cy="273588"/>
          </a:xfrm>
          <a:prstGeom prst="rect">
            <a:avLst/>
          </a:prstGeom>
        </p:spPr>
      </p:pic>
      <p:sp>
        <p:nvSpPr>
          <p:cNvPr id="31" name="Text 28"/>
          <p:cNvSpPr/>
          <p:nvPr/>
        </p:nvSpPr>
        <p:spPr>
          <a:xfrm>
            <a:off x="1664208" y="4389120"/>
            <a:ext cx="402336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Blocked</a:t>
            </a:r>
            <a:endParaRPr lang="en-US" sz="2000" dirty="0"/>
          </a:p>
        </p:txBody>
      </p:sp>
      <p:sp>
        <p:nvSpPr>
          <p:cNvPr id="32" name="Text 29"/>
          <p:cNvSpPr/>
          <p:nvPr/>
        </p:nvSpPr>
        <p:spPr>
          <a:xfrm>
            <a:off x="877824" y="4937760"/>
            <a:ext cx="4754880" cy="768096"/>
          </a:xfrm>
          <a:prstGeom prst="rect">
            <a:avLst/>
          </a:prstGeom>
          <a:noFill/>
          <a:ln/>
        </p:spPr>
        <p:txBody>
          <a:bodyPr wrap="square" lIns="0" tIns="0" rIns="0" bIns="0" rtlCol="0" anchor="ctr"/>
          <a:lstStyle/>
          <a:p>
            <a:pPr indent="0" marL="0">
              <a:lnSpc>
                <a:spcPts val="1800"/>
              </a:lnSpc>
              <a:buNone/>
            </a:pPr>
            <a:r>
              <a:rPr lang="en-US" sz="1300" dirty="0">
                <a:solidFill>
                  <a:srgbClr val="FFE2D9"/>
                </a:solidFill>
                <a:latin typeface="Calibri" pitchFamily="34" charset="0"/>
                <a:ea typeface="Calibri" pitchFamily="34" charset="-122"/>
                <a:cs typeface="Calibri" pitchFamily="34" charset="-120"/>
              </a:rPr>
              <a:t>The one state that matters operationally. A story sitting in Blocked is the single most useful signal a standup produces — everything else in that meeting is optional.</a:t>
            </a:r>
            <a:endParaRPr lang="en-US" sz="1300" dirty="0"/>
          </a:p>
        </p:txBody>
      </p:sp>
      <p:sp>
        <p:nvSpPr>
          <p:cNvPr id="33" name="Shape 30"/>
          <p:cNvSpPr/>
          <p:nvPr/>
        </p:nvSpPr>
        <p:spPr>
          <a:xfrm>
            <a:off x="6272784" y="4114800"/>
            <a:ext cx="5376672" cy="1737360"/>
          </a:xfrm>
          <a:prstGeom prst="roundRect">
            <a:avLst>
              <a:gd name="adj" fmla="val 6316"/>
            </a:avLst>
          </a:prstGeom>
          <a:solidFill>
            <a:srgbClr val="EDF1F0"/>
          </a:solidFill>
          <a:ln/>
          <a:effectLst>
            <a:outerShdw sx="100000" sy="100000" kx="0" ky="0" algn="bl" rotWithShape="0" blurRad="127000" dist="38100" dir="5400000">
              <a:srgbClr val="0B1418">
                <a:alpha val="13000"/>
              </a:srgbClr>
            </a:outerShdw>
          </a:effectLst>
        </p:spPr>
      </p:sp>
      <p:sp>
        <p:nvSpPr>
          <p:cNvPr id="34" name="Text 31"/>
          <p:cNvSpPr/>
          <p:nvPr/>
        </p:nvSpPr>
        <p:spPr>
          <a:xfrm>
            <a:off x="6583680" y="4334256"/>
            <a:ext cx="4754880" cy="310896"/>
          </a:xfrm>
          <a:prstGeom prst="rect">
            <a:avLst/>
          </a:prstGeom>
          <a:noFill/>
          <a:ln/>
        </p:spPr>
        <p:txBody>
          <a:bodyPr wrap="square" lIns="0" tIns="0" rIns="0" bIns="0" rtlCol="0" anchor="ctr"/>
          <a:lstStyle/>
          <a:p>
            <a:pPr indent="0" marL="0">
              <a:buNone/>
            </a:pPr>
            <a:r>
              <a:rPr lang="en-US" sz="1600" b="1" dirty="0">
                <a:solidFill>
                  <a:srgbClr val="121D24"/>
                </a:solidFill>
                <a:latin typeface="Calibri" pitchFamily="34" charset="0"/>
                <a:ea typeface="Calibri" pitchFamily="34" charset="-122"/>
                <a:cs typeface="Calibri" pitchFamily="34" charset="-120"/>
              </a:rPr>
              <a:t>What the board is telling you</a:t>
            </a:r>
            <a:endParaRPr lang="en-US" sz="1600" dirty="0"/>
          </a:p>
        </p:txBody>
      </p:sp>
      <p:sp>
        <p:nvSpPr>
          <p:cNvPr id="35" name="Text 32"/>
          <p:cNvSpPr/>
          <p:nvPr/>
        </p:nvSpPr>
        <p:spPr>
          <a:xfrm>
            <a:off x="6583680" y="4700016"/>
            <a:ext cx="4754880" cy="1005840"/>
          </a:xfrm>
          <a:prstGeom prst="rect">
            <a:avLst/>
          </a:prstGeom>
          <a:noFill/>
          <a:ln/>
        </p:spPr>
        <p:txBody>
          <a:bodyPr wrap="square" lIns="0" tIns="0" rIns="0" bIns="0" rtlCol="0" anchor="ctr"/>
          <a:lstStyle/>
          <a:p>
            <a:pPr indent="0" marL="0">
              <a:lnSpc>
                <a:spcPts val="1800"/>
              </a:lnSpc>
              <a:buNone/>
            </a:pPr>
            <a:r>
              <a:rPr lang="en-US" sz="1200" b="1" dirty="0">
                <a:solidFill>
                  <a:srgbClr val="4E5D62"/>
                </a:solidFill>
                <a:latin typeface="Calibri" pitchFamily="34" charset="0"/>
                <a:ea typeface="Calibri" pitchFamily="34" charset="-122"/>
                <a:cs typeface="Calibri" pitchFamily="34" charset="-120"/>
              </a:rPr>
              <a:t>Everything piled in Testing</a:t>
            </a:r>
            <a:pPr indent="0" marL="0">
              <a:lnSpc>
                <a:spcPts val="1800"/>
              </a:lnSpc>
              <a:buNone/>
            </a:pPr>
            <a:r>
              <a:rPr lang="en-US" sz="1200" dirty="0">
                <a:solidFill>
                  <a:srgbClr val="4E5D62"/>
                </a:solidFill>
                <a:latin typeface="Calibri" pitchFamily="34" charset="0"/>
                <a:ea typeface="Calibri" pitchFamily="34" charset="-122"/>
                <a:cs typeface="Calibri" pitchFamily="34" charset="-120"/>
              </a:rPr>
              <a:t>  —  the team is integrating late.
</a:t>
            </a:r>
            <a:pPr indent="0" marL="0">
              <a:lnSpc>
                <a:spcPts val="1800"/>
              </a:lnSpc>
              <a:buNone/>
            </a:pPr>
            <a:r>
              <a:rPr lang="en-US" sz="1200" b="1" dirty="0">
                <a:solidFill>
                  <a:srgbClr val="4E5D62"/>
                </a:solidFill>
                <a:latin typeface="Calibri" pitchFamily="34" charset="0"/>
                <a:ea typeface="Calibri" pitchFamily="34" charset="-122"/>
                <a:cs typeface="Calibri" pitchFamily="34" charset="-120"/>
              </a:rPr>
              <a:t>Everything piled in In Review</a:t>
            </a:r>
            <a:pPr indent="0" marL="0">
              <a:lnSpc>
                <a:spcPts val="1800"/>
              </a:lnSpc>
              <a:buNone/>
            </a:pPr>
            <a:r>
              <a:rPr lang="en-US" sz="1200" dirty="0">
                <a:solidFill>
                  <a:srgbClr val="4E5D62"/>
                </a:solidFill>
                <a:latin typeface="Calibri" pitchFamily="34" charset="0"/>
                <a:ea typeface="Calibri" pitchFamily="34" charset="-122"/>
                <a:cs typeface="Calibri" pitchFamily="34" charset="-120"/>
              </a:rPr>
              <a:t>  —  reviews are not anyone's priority.
</a:t>
            </a:r>
            <a:pPr indent="0" marL="0">
              <a:lnSpc>
                <a:spcPts val="1800"/>
              </a:lnSpc>
              <a:buNone/>
            </a:pPr>
            <a:r>
              <a:rPr lang="en-US" sz="1200" b="1" dirty="0">
                <a:solidFill>
                  <a:srgbClr val="4E5D62"/>
                </a:solidFill>
                <a:latin typeface="Calibri" pitchFamily="34" charset="0"/>
                <a:ea typeface="Calibri" pitchFamily="34" charset="-122"/>
                <a:cs typeface="Calibri" pitchFamily="34" charset="-120"/>
              </a:rPr>
              <a:t>Nothing ever Blocked</a:t>
            </a:r>
            <a:pPr indent="0" marL="0">
              <a:lnSpc>
                <a:spcPts val="1800"/>
              </a:lnSpc>
              <a:buNone/>
            </a:pPr>
            <a:r>
              <a:rPr lang="en-US" sz="1200" dirty="0">
                <a:solidFill>
                  <a:srgbClr val="4E5D62"/>
                </a:solidFill>
                <a:latin typeface="Calibri" pitchFamily="34" charset="0"/>
                <a:ea typeface="Calibri" pitchFamily="34" charset="-122"/>
                <a:cs typeface="Calibri" pitchFamily="34" charset="-120"/>
              </a:rPr>
              <a:t>  —  people are working around problems silently.</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20" kern="0" dirty="0">
                <a:solidFill>
                  <a:srgbClr val="E0512B"/>
                </a:solidFill>
                <a:latin typeface="Courier New" pitchFamily="34" charset="0"/>
                <a:ea typeface="Courier New" pitchFamily="34" charset="-122"/>
                <a:cs typeface="Courier New" pitchFamily="34" charset="-120"/>
              </a:rPr>
              <a:t>05 / KANBAN</a:t>
            </a:r>
            <a:endParaRPr lang="en-US" sz="1100" dirty="0"/>
          </a:p>
        </p:txBody>
      </p:sp>
      <p:sp>
        <p:nvSpPr>
          <p:cNvPr id="3" name="Text 1"/>
          <p:cNvSpPr/>
          <p:nvPr/>
        </p:nvSpPr>
        <p:spPr>
          <a:xfrm>
            <a:off x="566928" y="676656"/>
            <a:ext cx="11057839" cy="658368"/>
          </a:xfrm>
          <a:prstGeom prst="rect">
            <a:avLst/>
          </a:prstGeom>
          <a:noFill/>
          <a:ln/>
        </p:spPr>
        <p:txBody>
          <a:bodyPr wrap="square" lIns="0" tIns="0" rIns="0" bIns="0" rtlCol="0" anchor="ctr"/>
          <a:lstStyle/>
          <a:p>
            <a:pPr algn="l" indent="0" marL="0">
              <a:buNone/>
            </a:pPr>
            <a:r>
              <a:rPr lang="en-US" sz="3400" b="1" dirty="0">
                <a:solidFill>
                  <a:srgbClr val="121D24"/>
                </a:solidFill>
                <a:latin typeface="Calibri" pitchFamily="34" charset="0"/>
                <a:ea typeface="Calibri" pitchFamily="34" charset="-122"/>
                <a:cs typeface="Calibri" pitchFamily="34" charset="-120"/>
              </a:rPr>
              <a:t>Kanban: flow instead of iterations</a:t>
            </a:r>
            <a:endParaRPr lang="en-US" sz="3400" dirty="0"/>
          </a:p>
        </p:txBody>
      </p:sp>
      <p:sp>
        <p:nvSpPr>
          <p:cNvPr id="4" name="Text 2"/>
          <p:cNvSpPr/>
          <p:nvPr/>
        </p:nvSpPr>
        <p:spPr>
          <a:xfrm>
            <a:off x="566928" y="1335024"/>
            <a:ext cx="10515600" cy="457200"/>
          </a:xfrm>
          <a:prstGeom prst="rect">
            <a:avLst/>
          </a:prstGeom>
          <a:noFill/>
          <a:ln/>
        </p:spPr>
        <p:txBody>
          <a:bodyPr wrap="square" lIns="0" tIns="0" rIns="0" bIns="0" rtlCol="0" anchor="t"/>
          <a:lstStyle/>
          <a:p>
            <a:pPr indent="0" marL="0">
              <a:lnSpc>
                <a:spcPts val="1900"/>
              </a:lnSpc>
              <a:buNone/>
            </a:pPr>
            <a:r>
              <a:rPr lang="en-US" sz="1450" dirty="0">
                <a:solidFill>
                  <a:srgbClr val="6B7A7F"/>
                </a:solidFill>
                <a:latin typeface="Calibri" pitchFamily="34" charset="0"/>
                <a:ea typeface="Calibri" pitchFamily="34" charset="-122"/>
                <a:cs typeface="Calibri" pitchFamily="34" charset="-120"/>
              </a:rPr>
              <a:t>No sprints, no fixed commitments. Work is pulled continuously and the control mechanism is the WIP limit — a hard cap on how many items may sit in a column.</a:t>
            </a:r>
            <a:endParaRPr lang="en-US" sz="1450" dirty="0"/>
          </a:p>
        </p:txBody>
      </p:sp>
      <p:sp>
        <p:nvSpPr>
          <p:cNvPr id="5" name="Shape 3"/>
          <p:cNvSpPr/>
          <p:nvPr/>
        </p:nvSpPr>
        <p:spPr>
          <a:xfrm>
            <a:off x="566928" y="2249424"/>
            <a:ext cx="2084832" cy="3017520"/>
          </a:xfrm>
          <a:prstGeom prst="roundRect">
            <a:avLst>
              <a:gd name="adj" fmla="val 4386"/>
            </a:avLst>
          </a:prstGeom>
          <a:solidFill>
            <a:srgbClr val="EDF1F0"/>
          </a:solidFill>
          <a:ln w="12700">
            <a:solidFill>
              <a:srgbClr val="C8D4D1"/>
            </a:solidFill>
            <a:prstDash val="solid"/>
          </a:ln>
        </p:spPr>
      </p:sp>
      <p:sp>
        <p:nvSpPr>
          <p:cNvPr id="6" name="Text 4"/>
          <p:cNvSpPr/>
          <p:nvPr/>
        </p:nvSpPr>
        <p:spPr>
          <a:xfrm>
            <a:off x="713232" y="2359152"/>
            <a:ext cx="1792224" cy="292608"/>
          </a:xfrm>
          <a:prstGeom prst="rect">
            <a:avLst/>
          </a:prstGeom>
          <a:noFill/>
          <a:ln/>
        </p:spPr>
        <p:txBody>
          <a:bodyPr wrap="square" lIns="0" tIns="0" rIns="0" bIns="0" rtlCol="0" anchor="ctr"/>
          <a:lstStyle/>
          <a:p>
            <a:pPr indent="0" marL="0">
              <a:buNone/>
            </a:pPr>
            <a:r>
              <a:rPr lang="en-US" sz="1350" b="1" dirty="0">
                <a:solidFill>
                  <a:srgbClr val="121D24"/>
                </a:solidFill>
                <a:latin typeface="Calibri" pitchFamily="34" charset="0"/>
                <a:ea typeface="Calibri" pitchFamily="34" charset="-122"/>
                <a:cs typeface="Calibri" pitchFamily="34" charset="-120"/>
              </a:rPr>
              <a:t>Backlog</a:t>
            </a:r>
            <a:endParaRPr lang="en-US" sz="1350" dirty="0"/>
          </a:p>
        </p:txBody>
      </p:sp>
      <p:sp>
        <p:nvSpPr>
          <p:cNvPr id="7" name="Shape 5"/>
          <p:cNvSpPr/>
          <p:nvPr/>
        </p:nvSpPr>
        <p:spPr>
          <a:xfrm>
            <a:off x="713232" y="2706624"/>
            <a:ext cx="841248" cy="292608"/>
          </a:xfrm>
          <a:prstGeom prst="roundRect">
            <a:avLst>
              <a:gd name="adj" fmla="val 18750"/>
            </a:avLst>
          </a:prstGeom>
          <a:solidFill>
            <a:srgbClr val="C8D4D1"/>
          </a:solidFill>
          <a:ln/>
        </p:spPr>
      </p:sp>
      <p:sp>
        <p:nvSpPr>
          <p:cNvPr id="8" name="Text 6"/>
          <p:cNvSpPr/>
          <p:nvPr/>
        </p:nvSpPr>
        <p:spPr>
          <a:xfrm>
            <a:off x="713232" y="2706624"/>
            <a:ext cx="841248" cy="292608"/>
          </a:xfrm>
          <a:prstGeom prst="rect">
            <a:avLst/>
          </a:prstGeom>
          <a:noFill/>
          <a:ln/>
        </p:spPr>
        <p:txBody>
          <a:bodyPr wrap="square" lIns="0" tIns="0" rIns="0" bIns="0" rtlCol="0" anchor="ctr"/>
          <a:lstStyle/>
          <a:p>
            <a:pPr algn="ctr" indent="0" marL="0">
              <a:buNone/>
            </a:pPr>
            <a:r>
              <a:rPr lang="en-US" sz="1000" b="1" dirty="0">
                <a:solidFill>
                  <a:srgbClr val="4E5D62"/>
                </a:solidFill>
                <a:latin typeface="Courier New" pitchFamily="34" charset="0"/>
                <a:ea typeface="Courier New" pitchFamily="34" charset="-122"/>
                <a:cs typeface="Courier New" pitchFamily="34" charset="-120"/>
              </a:rPr>
              <a:t>∞</a:t>
            </a:r>
            <a:endParaRPr lang="en-US" sz="1000" dirty="0"/>
          </a:p>
        </p:txBody>
      </p:sp>
      <p:sp>
        <p:nvSpPr>
          <p:cNvPr id="9" name="Shape 7"/>
          <p:cNvSpPr/>
          <p:nvPr/>
        </p:nvSpPr>
        <p:spPr>
          <a:xfrm>
            <a:off x="713232" y="3163824"/>
            <a:ext cx="1792224" cy="530352"/>
          </a:xfrm>
          <a:prstGeom prst="roundRect">
            <a:avLst>
              <a:gd name="adj" fmla="val 12069"/>
            </a:avLst>
          </a:prstGeom>
          <a:solidFill>
            <a:srgbClr val="FFFFFF"/>
          </a:solidFill>
          <a:ln/>
          <a:effectLst>
            <a:outerShdw sx="100000" sy="100000" kx="0" ky="0" algn="bl" rotWithShape="0" blurRad="76200" dist="25400" dir="5400000">
              <a:srgbClr val="0B1418">
                <a:alpha val="10000"/>
              </a:srgbClr>
            </a:outerShdw>
          </a:effectLst>
        </p:spPr>
      </p:sp>
      <p:sp>
        <p:nvSpPr>
          <p:cNvPr id="10" name="Text 8"/>
          <p:cNvSpPr/>
          <p:nvPr/>
        </p:nvSpPr>
        <p:spPr>
          <a:xfrm>
            <a:off x="841248" y="3163824"/>
            <a:ext cx="1536192" cy="530352"/>
          </a:xfrm>
          <a:prstGeom prst="rect">
            <a:avLst/>
          </a:prstGeom>
          <a:noFill/>
          <a:ln/>
        </p:spPr>
        <p:txBody>
          <a:bodyPr wrap="square" lIns="0" tIns="0" rIns="0" bIns="0" rtlCol="0" anchor="ctr"/>
          <a:lstStyle/>
          <a:p>
            <a:pPr indent="0" marL="0">
              <a:buNone/>
            </a:pPr>
            <a:r>
              <a:rPr lang="en-US" sz="950" dirty="0">
                <a:solidFill>
                  <a:srgbClr val="6B7A7F"/>
                </a:solidFill>
                <a:latin typeface="Courier New" pitchFamily="34" charset="0"/>
                <a:ea typeface="Courier New" pitchFamily="34" charset="-122"/>
                <a:cs typeface="Courier New" pitchFamily="34" charset="-120"/>
              </a:rPr>
              <a:t>STORY-10</a:t>
            </a:r>
            <a:endParaRPr lang="en-US" sz="950" dirty="0"/>
          </a:p>
        </p:txBody>
      </p:sp>
      <p:sp>
        <p:nvSpPr>
          <p:cNvPr id="11" name="Shape 9"/>
          <p:cNvSpPr/>
          <p:nvPr/>
        </p:nvSpPr>
        <p:spPr>
          <a:xfrm>
            <a:off x="713232" y="3822192"/>
            <a:ext cx="1792224" cy="530352"/>
          </a:xfrm>
          <a:prstGeom prst="roundRect">
            <a:avLst>
              <a:gd name="adj" fmla="val 12069"/>
            </a:avLst>
          </a:prstGeom>
          <a:solidFill>
            <a:srgbClr val="FFFFFF"/>
          </a:solidFill>
          <a:ln/>
          <a:effectLst>
            <a:outerShdw sx="100000" sy="100000" kx="0" ky="0" algn="bl" rotWithShape="0" blurRad="76200" dist="25400" dir="5400000">
              <a:srgbClr val="0B1418">
                <a:alpha val="10000"/>
              </a:srgbClr>
            </a:outerShdw>
          </a:effectLst>
        </p:spPr>
      </p:sp>
      <p:sp>
        <p:nvSpPr>
          <p:cNvPr id="12" name="Text 10"/>
          <p:cNvSpPr/>
          <p:nvPr/>
        </p:nvSpPr>
        <p:spPr>
          <a:xfrm>
            <a:off x="841248" y="3822192"/>
            <a:ext cx="1536192" cy="530352"/>
          </a:xfrm>
          <a:prstGeom prst="rect">
            <a:avLst/>
          </a:prstGeom>
          <a:noFill/>
          <a:ln/>
        </p:spPr>
        <p:txBody>
          <a:bodyPr wrap="square" lIns="0" tIns="0" rIns="0" bIns="0" rtlCol="0" anchor="ctr"/>
          <a:lstStyle/>
          <a:p>
            <a:pPr indent="0" marL="0">
              <a:buNone/>
            </a:pPr>
            <a:r>
              <a:rPr lang="en-US" sz="950" dirty="0">
                <a:solidFill>
                  <a:srgbClr val="6B7A7F"/>
                </a:solidFill>
                <a:latin typeface="Courier New" pitchFamily="34" charset="0"/>
                <a:ea typeface="Courier New" pitchFamily="34" charset="-122"/>
                <a:cs typeface="Courier New" pitchFamily="34" charset="-120"/>
              </a:rPr>
              <a:t>STORY-11</a:t>
            </a:r>
            <a:endParaRPr lang="en-US" sz="950" dirty="0"/>
          </a:p>
        </p:txBody>
      </p:sp>
      <p:sp>
        <p:nvSpPr>
          <p:cNvPr id="13" name="Shape 11"/>
          <p:cNvSpPr/>
          <p:nvPr/>
        </p:nvSpPr>
        <p:spPr>
          <a:xfrm>
            <a:off x="713232" y="4480560"/>
            <a:ext cx="1792224" cy="530352"/>
          </a:xfrm>
          <a:prstGeom prst="roundRect">
            <a:avLst>
              <a:gd name="adj" fmla="val 12069"/>
            </a:avLst>
          </a:prstGeom>
          <a:solidFill>
            <a:srgbClr val="FFFFFF"/>
          </a:solidFill>
          <a:ln/>
          <a:effectLst>
            <a:outerShdw sx="100000" sy="100000" kx="0" ky="0" algn="bl" rotWithShape="0" blurRad="76200" dist="25400" dir="5400000">
              <a:srgbClr val="0B1418">
                <a:alpha val="10000"/>
              </a:srgbClr>
            </a:outerShdw>
          </a:effectLst>
        </p:spPr>
      </p:sp>
      <p:sp>
        <p:nvSpPr>
          <p:cNvPr id="14" name="Text 12"/>
          <p:cNvSpPr/>
          <p:nvPr/>
        </p:nvSpPr>
        <p:spPr>
          <a:xfrm>
            <a:off x="841248" y="4480560"/>
            <a:ext cx="1536192" cy="530352"/>
          </a:xfrm>
          <a:prstGeom prst="rect">
            <a:avLst/>
          </a:prstGeom>
          <a:noFill/>
          <a:ln/>
        </p:spPr>
        <p:txBody>
          <a:bodyPr wrap="square" lIns="0" tIns="0" rIns="0" bIns="0" rtlCol="0" anchor="ctr"/>
          <a:lstStyle/>
          <a:p>
            <a:pPr indent="0" marL="0">
              <a:buNone/>
            </a:pPr>
            <a:r>
              <a:rPr lang="en-US" sz="950" dirty="0">
                <a:solidFill>
                  <a:srgbClr val="6B7A7F"/>
                </a:solidFill>
                <a:latin typeface="Courier New" pitchFamily="34" charset="0"/>
                <a:ea typeface="Courier New" pitchFamily="34" charset="-122"/>
                <a:cs typeface="Courier New" pitchFamily="34" charset="-120"/>
              </a:rPr>
              <a:t>STORY-12</a:t>
            </a:r>
            <a:endParaRPr lang="en-US" sz="950" dirty="0"/>
          </a:p>
        </p:txBody>
      </p:sp>
      <p:sp>
        <p:nvSpPr>
          <p:cNvPr id="15" name="Shape 13"/>
          <p:cNvSpPr/>
          <p:nvPr/>
        </p:nvSpPr>
        <p:spPr>
          <a:xfrm>
            <a:off x="2926080" y="2249424"/>
            <a:ext cx="2084832" cy="3017520"/>
          </a:xfrm>
          <a:prstGeom prst="roundRect">
            <a:avLst>
              <a:gd name="adj" fmla="val 4386"/>
            </a:avLst>
          </a:prstGeom>
          <a:solidFill>
            <a:srgbClr val="EDF1F0"/>
          </a:solidFill>
          <a:ln w="12700">
            <a:solidFill>
              <a:srgbClr val="C8D4D1"/>
            </a:solidFill>
            <a:prstDash val="solid"/>
          </a:ln>
        </p:spPr>
      </p:sp>
      <p:sp>
        <p:nvSpPr>
          <p:cNvPr id="16" name="Text 14"/>
          <p:cNvSpPr/>
          <p:nvPr/>
        </p:nvSpPr>
        <p:spPr>
          <a:xfrm>
            <a:off x="3072384" y="2359152"/>
            <a:ext cx="1792224" cy="292608"/>
          </a:xfrm>
          <a:prstGeom prst="rect">
            <a:avLst/>
          </a:prstGeom>
          <a:noFill/>
          <a:ln/>
        </p:spPr>
        <p:txBody>
          <a:bodyPr wrap="square" lIns="0" tIns="0" rIns="0" bIns="0" rtlCol="0" anchor="ctr"/>
          <a:lstStyle/>
          <a:p>
            <a:pPr indent="0" marL="0">
              <a:buNone/>
            </a:pPr>
            <a:r>
              <a:rPr lang="en-US" sz="1350" b="1" dirty="0">
                <a:solidFill>
                  <a:srgbClr val="121D24"/>
                </a:solidFill>
                <a:latin typeface="Calibri" pitchFamily="34" charset="0"/>
                <a:ea typeface="Calibri" pitchFamily="34" charset="-122"/>
                <a:cs typeface="Calibri" pitchFamily="34" charset="-120"/>
              </a:rPr>
              <a:t>Ready</a:t>
            </a:r>
            <a:endParaRPr lang="en-US" sz="1350" dirty="0"/>
          </a:p>
        </p:txBody>
      </p:sp>
      <p:sp>
        <p:nvSpPr>
          <p:cNvPr id="17" name="Shape 15"/>
          <p:cNvSpPr/>
          <p:nvPr/>
        </p:nvSpPr>
        <p:spPr>
          <a:xfrm>
            <a:off x="3072384" y="2706624"/>
            <a:ext cx="841248" cy="292608"/>
          </a:xfrm>
          <a:prstGeom prst="roundRect">
            <a:avLst>
              <a:gd name="adj" fmla="val 18750"/>
            </a:avLst>
          </a:prstGeom>
          <a:solidFill>
            <a:srgbClr val="E0512B"/>
          </a:solidFill>
          <a:ln/>
        </p:spPr>
      </p:sp>
      <p:sp>
        <p:nvSpPr>
          <p:cNvPr id="18" name="Text 16"/>
          <p:cNvSpPr/>
          <p:nvPr/>
        </p:nvSpPr>
        <p:spPr>
          <a:xfrm>
            <a:off x="3072384" y="2706624"/>
            <a:ext cx="84124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WIP 3</a:t>
            </a:r>
            <a:endParaRPr lang="en-US" sz="1000" dirty="0"/>
          </a:p>
        </p:txBody>
      </p:sp>
      <p:sp>
        <p:nvSpPr>
          <p:cNvPr id="19" name="Shape 17"/>
          <p:cNvSpPr/>
          <p:nvPr/>
        </p:nvSpPr>
        <p:spPr>
          <a:xfrm>
            <a:off x="3072384" y="3163824"/>
            <a:ext cx="1792224" cy="530352"/>
          </a:xfrm>
          <a:prstGeom prst="roundRect">
            <a:avLst>
              <a:gd name="adj" fmla="val 12069"/>
            </a:avLst>
          </a:prstGeom>
          <a:solidFill>
            <a:srgbClr val="FFFFFF"/>
          </a:solidFill>
          <a:ln/>
          <a:effectLst>
            <a:outerShdw sx="100000" sy="100000" kx="0" ky="0" algn="bl" rotWithShape="0" blurRad="76200" dist="25400" dir="5400000">
              <a:srgbClr val="0B1418">
                <a:alpha val="10000"/>
              </a:srgbClr>
            </a:outerShdw>
          </a:effectLst>
        </p:spPr>
      </p:sp>
      <p:sp>
        <p:nvSpPr>
          <p:cNvPr id="20" name="Text 18"/>
          <p:cNvSpPr/>
          <p:nvPr/>
        </p:nvSpPr>
        <p:spPr>
          <a:xfrm>
            <a:off x="3200400" y="3163824"/>
            <a:ext cx="1536192" cy="530352"/>
          </a:xfrm>
          <a:prstGeom prst="rect">
            <a:avLst/>
          </a:prstGeom>
          <a:noFill/>
          <a:ln/>
        </p:spPr>
        <p:txBody>
          <a:bodyPr wrap="square" lIns="0" tIns="0" rIns="0" bIns="0" rtlCol="0" anchor="ctr"/>
          <a:lstStyle/>
          <a:p>
            <a:pPr indent="0" marL="0">
              <a:buNone/>
            </a:pPr>
            <a:r>
              <a:rPr lang="en-US" sz="950" dirty="0">
                <a:solidFill>
                  <a:srgbClr val="6B7A7F"/>
                </a:solidFill>
                <a:latin typeface="Courier New" pitchFamily="34" charset="0"/>
                <a:ea typeface="Courier New" pitchFamily="34" charset="-122"/>
                <a:cs typeface="Courier New" pitchFamily="34" charset="-120"/>
              </a:rPr>
              <a:t>STORY-20</a:t>
            </a:r>
            <a:endParaRPr lang="en-US" sz="950" dirty="0"/>
          </a:p>
        </p:txBody>
      </p:sp>
      <p:sp>
        <p:nvSpPr>
          <p:cNvPr id="21" name="Shape 19"/>
          <p:cNvSpPr/>
          <p:nvPr/>
        </p:nvSpPr>
        <p:spPr>
          <a:xfrm>
            <a:off x="3072384" y="3822192"/>
            <a:ext cx="1792224" cy="530352"/>
          </a:xfrm>
          <a:prstGeom prst="roundRect">
            <a:avLst>
              <a:gd name="adj" fmla="val 12069"/>
            </a:avLst>
          </a:prstGeom>
          <a:solidFill>
            <a:srgbClr val="FFFFFF"/>
          </a:solidFill>
          <a:ln/>
          <a:effectLst>
            <a:outerShdw sx="100000" sy="100000" kx="0" ky="0" algn="bl" rotWithShape="0" blurRad="76200" dist="25400" dir="5400000">
              <a:srgbClr val="0B1418">
                <a:alpha val="10000"/>
              </a:srgbClr>
            </a:outerShdw>
          </a:effectLst>
        </p:spPr>
      </p:sp>
      <p:sp>
        <p:nvSpPr>
          <p:cNvPr id="22" name="Text 20"/>
          <p:cNvSpPr/>
          <p:nvPr/>
        </p:nvSpPr>
        <p:spPr>
          <a:xfrm>
            <a:off x="3200400" y="3822192"/>
            <a:ext cx="1536192" cy="530352"/>
          </a:xfrm>
          <a:prstGeom prst="rect">
            <a:avLst/>
          </a:prstGeom>
          <a:noFill/>
          <a:ln/>
        </p:spPr>
        <p:txBody>
          <a:bodyPr wrap="square" lIns="0" tIns="0" rIns="0" bIns="0" rtlCol="0" anchor="ctr"/>
          <a:lstStyle/>
          <a:p>
            <a:pPr indent="0" marL="0">
              <a:buNone/>
            </a:pPr>
            <a:r>
              <a:rPr lang="en-US" sz="950" dirty="0">
                <a:solidFill>
                  <a:srgbClr val="6B7A7F"/>
                </a:solidFill>
                <a:latin typeface="Courier New" pitchFamily="34" charset="0"/>
                <a:ea typeface="Courier New" pitchFamily="34" charset="-122"/>
                <a:cs typeface="Courier New" pitchFamily="34" charset="-120"/>
              </a:rPr>
              <a:t>STORY-21</a:t>
            </a:r>
            <a:endParaRPr lang="en-US" sz="950" dirty="0"/>
          </a:p>
        </p:txBody>
      </p:sp>
      <p:sp>
        <p:nvSpPr>
          <p:cNvPr id="23" name="Shape 21"/>
          <p:cNvSpPr/>
          <p:nvPr/>
        </p:nvSpPr>
        <p:spPr>
          <a:xfrm>
            <a:off x="5285232" y="2249424"/>
            <a:ext cx="2084832" cy="3017520"/>
          </a:xfrm>
          <a:prstGeom prst="roundRect">
            <a:avLst>
              <a:gd name="adj" fmla="val 4386"/>
            </a:avLst>
          </a:prstGeom>
          <a:solidFill>
            <a:srgbClr val="D7E8E2"/>
          </a:solidFill>
          <a:ln w="12700">
            <a:solidFill>
              <a:srgbClr val="C8D4D1"/>
            </a:solidFill>
            <a:prstDash val="solid"/>
          </a:ln>
        </p:spPr>
      </p:sp>
      <p:sp>
        <p:nvSpPr>
          <p:cNvPr id="24" name="Text 22"/>
          <p:cNvSpPr/>
          <p:nvPr/>
        </p:nvSpPr>
        <p:spPr>
          <a:xfrm>
            <a:off x="5431536" y="2359152"/>
            <a:ext cx="1792224" cy="292608"/>
          </a:xfrm>
          <a:prstGeom prst="rect">
            <a:avLst/>
          </a:prstGeom>
          <a:noFill/>
          <a:ln/>
        </p:spPr>
        <p:txBody>
          <a:bodyPr wrap="square" lIns="0" tIns="0" rIns="0" bIns="0" rtlCol="0" anchor="ctr"/>
          <a:lstStyle/>
          <a:p>
            <a:pPr indent="0" marL="0">
              <a:buNone/>
            </a:pPr>
            <a:r>
              <a:rPr lang="en-US" sz="1350" b="1" dirty="0">
                <a:solidFill>
                  <a:srgbClr val="121D24"/>
                </a:solidFill>
                <a:latin typeface="Calibri" pitchFamily="34" charset="0"/>
                <a:ea typeface="Calibri" pitchFamily="34" charset="-122"/>
                <a:cs typeface="Calibri" pitchFamily="34" charset="-120"/>
              </a:rPr>
              <a:t>In Progress</a:t>
            </a:r>
            <a:endParaRPr lang="en-US" sz="1350" dirty="0"/>
          </a:p>
        </p:txBody>
      </p:sp>
      <p:sp>
        <p:nvSpPr>
          <p:cNvPr id="25" name="Shape 23"/>
          <p:cNvSpPr/>
          <p:nvPr/>
        </p:nvSpPr>
        <p:spPr>
          <a:xfrm>
            <a:off x="5431536" y="2706624"/>
            <a:ext cx="841248" cy="292608"/>
          </a:xfrm>
          <a:prstGeom prst="roundRect">
            <a:avLst>
              <a:gd name="adj" fmla="val 18750"/>
            </a:avLst>
          </a:prstGeom>
          <a:solidFill>
            <a:srgbClr val="E0512B"/>
          </a:solidFill>
          <a:ln/>
        </p:spPr>
      </p:sp>
      <p:sp>
        <p:nvSpPr>
          <p:cNvPr id="26" name="Text 24"/>
          <p:cNvSpPr/>
          <p:nvPr/>
        </p:nvSpPr>
        <p:spPr>
          <a:xfrm>
            <a:off x="5431536" y="2706624"/>
            <a:ext cx="84124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WIP 2</a:t>
            </a:r>
            <a:endParaRPr lang="en-US" sz="1000" dirty="0"/>
          </a:p>
        </p:txBody>
      </p:sp>
      <p:sp>
        <p:nvSpPr>
          <p:cNvPr id="27" name="Shape 25"/>
          <p:cNvSpPr/>
          <p:nvPr/>
        </p:nvSpPr>
        <p:spPr>
          <a:xfrm>
            <a:off x="5431536" y="3163824"/>
            <a:ext cx="1792224" cy="530352"/>
          </a:xfrm>
          <a:prstGeom prst="roundRect">
            <a:avLst>
              <a:gd name="adj" fmla="val 12069"/>
            </a:avLst>
          </a:prstGeom>
          <a:solidFill>
            <a:srgbClr val="FFFFFF"/>
          </a:solidFill>
          <a:ln/>
          <a:effectLst>
            <a:outerShdw sx="100000" sy="100000" kx="0" ky="0" algn="bl" rotWithShape="0" blurRad="76200" dist="25400" dir="5400000">
              <a:srgbClr val="0B1418">
                <a:alpha val="10000"/>
              </a:srgbClr>
            </a:outerShdw>
          </a:effectLst>
        </p:spPr>
      </p:sp>
      <p:sp>
        <p:nvSpPr>
          <p:cNvPr id="28" name="Text 26"/>
          <p:cNvSpPr/>
          <p:nvPr/>
        </p:nvSpPr>
        <p:spPr>
          <a:xfrm>
            <a:off x="5559552" y="3163824"/>
            <a:ext cx="1536192" cy="530352"/>
          </a:xfrm>
          <a:prstGeom prst="rect">
            <a:avLst/>
          </a:prstGeom>
          <a:noFill/>
          <a:ln/>
        </p:spPr>
        <p:txBody>
          <a:bodyPr wrap="square" lIns="0" tIns="0" rIns="0" bIns="0" rtlCol="0" anchor="ctr"/>
          <a:lstStyle/>
          <a:p>
            <a:pPr indent="0" marL="0">
              <a:buNone/>
            </a:pPr>
            <a:r>
              <a:rPr lang="en-US" sz="950" dirty="0">
                <a:solidFill>
                  <a:srgbClr val="6B7A7F"/>
                </a:solidFill>
                <a:latin typeface="Courier New" pitchFamily="34" charset="0"/>
                <a:ea typeface="Courier New" pitchFamily="34" charset="-122"/>
                <a:cs typeface="Courier New" pitchFamily="34" charset="-120"/>
              </a:rPr>
              <a:t>STORY-30</a:t>
            </a:r>
            <a:endParaRPr lang="en-US" sz="950" dirty="0"/>
          </a:p>
        </p:txBody>
      </p:sp>
      <p:sp>
        <p:nvSpPr>
          <p:cNvPr id="29" name="Shape 27"/>
          <p:cNvSpPr/>
          <p:nvPr/>
        </p:nvSpPr>
        <p:spPr>
          <a:xfrm>
            <a:off x="5431536" y="3822192"/>
            <a:ext cx="1792224" cy="530352"/>
          </a:xfrm>
          <a:prstGeom prst="roundRect">
            <a:avLst>
              <a:gd name="adj" fmla="val 12069"/>
            </a:avLst>
          </a:prstGeom>
          <a:solidFill>
            <a:srgbClr val="FFFFFF"/>
          </a:solidFill>
          <a:ln/>
          <a:effectLst>
            <a:outerShdw sx="100000" sy="100000" kx="0" ky="0" algn="bl" rotWithShape="0" blurRad="76200" dist="25400" dir="5400000">
              <a:srgbClr val="0B1418">
                <a:alpha val="10000"/>
              </a:srgbClr>
            </a:outerShdw>
          </a:effectLst>
        </p:spPr>
      </p:sp>
      <p:sp>
        <p:nvSpPr>
          <p:cNvPr id="30" name="Text 28"/>
          <p:cNvSpPr/>
          <p:nvPr/>
        </p:nvSpPr>
        <p:spPr>
          <a:xfrm>
            <a:off x="5559552" y="3822192"/>
            <a:ext cx="1536192" cy="530352"/>
          </a:xfrm>
          <a:prstGeom prst="rect">
            <a:avLst/>
          </a:prstGeom>
          <a:noFill/>
          <a:ln/>
        </p:spPr>
        <p:txBody>
          <a:bodyPr wrap="square" lIns="0" tIns="0" rIns="0" bIns="0" rtlCol="0" anchor="ctr"/>
          <a:lstStyle/>
          <a:p>
            <a:pPr indent="0" marL="0">
              <a:buNone/>
            </a:pPr>
            <a:r>
              <a:rPr lang="en-US" sz="950" dirty="0">
                <a:solidFill>
                  <a:srgbClr val="6B7A7F"/>
                </a:solidFill>
                <a:latin typeface="Courier New" pitchFamily="34" charset="0"/>
                <a:ea typeface="Courier New" pitchFamily="34" charset="-122"/>
                <a:cs typeface="Courier New" pitchFamily="34" charset="-120"/>
              </a:rPr>
              <a:t>STORY-31</a:t>
            </a:r>
            <a:endParaRPr lang="en-US" sz="950" dirty="0"/>
          </a:p>
        </p:txBody>
      </p:sp>
      <p:sp>
        <p:nvSpPr>
          <p:cNvPr id="31" name="Text 29"/>
          <p:cNvSpPr/>
          <p:nvPr/>
        </p:nvSpPr>
        <p:spPr>
          <a:xfrm>
            <a:off x="5431536" y="4535424"/>
            <a:ext cx="1792224" cy="274320"/>
          </a:xfrm>
          <a:prstGeom prst="rect">
            <a:avLst/>
          </a:prstGeom>
          <a:noFill/>
          <a:ln/>
        </p:spPr>
        <p:txBody>
          <a:bodyPr wrap="square" lIns="0" tIns="0" rIns="0" bIns="0" rtlCol="0" anchor="ctr"/>
          <a:lstStyle/>
          <a:p>
            <a:pPr indent="0" marL="0">
              <a:buNone/>
            </a:pPr>
            <a:r>
              <a:rPr lang="en-US" sz="850" dirty="0">
                <a:solidFill>
                  <a:srgbClr val="E0512B"/>
                </a:solidFill>
                <a:latin typeface="Courier New" pitchFamily="34" charset="0"/>
                <a:ea typeface="Courier New" pitchFamily="34" charset="-122"/>
                <a:cs typeface="Courier New" pitchFamily="34" charset="-120"/>
              </a:rPr>
              <a:t>FULL — pull nothing new</a:t>
            </a:r>
            <a:endParaRPr lang="en-US" sz="850" dirty="0"/>
          </a:p>
        </p:txBody>
      </p:sp>
      <p:sp>
        <p:nvSpPr>
          <p:cNvPr id="32" name="Shape 30"/>
          <p:cNvSpPr/>
          <p:nvPr/>
        </p:nvSpPr>
        <p:spPr>
          <a:xfrm>
            <a:off x="7644384" y="2249424"/>
            <a:ext cx="2084832" cy="3017520"/>
          </a:xfrm>
          <a:prstGeom prst="roundRect">
            <a:avLst>
              <a:gd name="adj" fmla="val 4386"/>
            </a:avLst>
          </a:prstGeom>
          <a:solidFill>
            <a:srgbClr val="D7E8E2"/>
          </a:solidFill>
          <a:ln w="12700">
            <a:solidFill>
              <a:srgbClr val="C8D4D1"/>
            </a:solidFill>
            <a:prstDash val="solid"/>
          </a:ln>
        </p:spPr>
      </p:sp>
      <p:sp>
        <p:nvSpPr>
          <p:cNvPr id="33" name="Text 31"/>
          <p:cNvSpPr/>
          <p:nvPr/>
        </p:nvSpPr>
        <p:spPr>
          <a:xfrm>
            <a:off x="7790688" y="2359152"/>
            <a:ext cx="1792224" cy="292608"/>
          </a:xfrm>
          <a:prstGeom prst="rect">
            <a:avLst/>
          </a:prstGeom>
          <a:noFill/>
          <a:ln/>
        </p:spPr>
        <p:txBody>
          <a:bodyPr wrap="square" lIns="0" tIns="0" rIns="0" bIns="0" rtlCol="0" anchor="ctr"/>
          <a:lstStyle/>
          <a:p>
            <a:pPr indent="0" marL="0">
              <a:buNone/>
            </a:pPr>
            <a:r>
              <a:rPr lang="en-US" sz="1350" b="1" dirty="0">
                <a:solidFill>
                  <a:srgbClr val="121D24"/>
                </a:solidFill>
                <a:latin typeface="Calibri" pitchFamily="34" charset="0"/>
                <a:ea typeface="Calibri" pitchFamily="34" charset="-122"/>
                <a:cs typeface="Calibri" pitchFamily="34" charset="-120"/>
              </a:rPr>
              <a:t>Review</a:t>
            </a:r>
            <a:endParaRPr lang="en-US" sz="1350" dirty="0"/>
          </a:p>
        </p:txBody>
      </p:sp>
      <p:sp>
        <p:nvSpPr>
          <p:cNvPr id="34" name="Shape 32"/>
          <p:cNvSpPr/>
          <p:nvPr/>
        </p:nvSpPr>
        <p:spPr>
          <a:xfrm>
            <a:off x="7790688" y="2706624"/>
            <a:ext cx="841248" cy="292608"/>
          </a:xfrm>
          <a:prstGeom prst="roundRect">
            <a:avLst>
              <a:gd name="adj" fmla="val 18750"/>
            </a:avLst>
          </a:prstGeom>
          <a:solidFill>
            <a:srgbClr val="E0512B"/>
          </a:solidFill>
          <a:ln/>
        </p:spPr>
      </p:sp>
      <p:sp>
        <p:nvSpPr>
          <p:cNvPr id="35" name="Text 33"/>
          <p:cNvSpPr/>
          <p:nvPr/>
        </p:nvSpPr>
        <p:spPr>
          <a:xfrm>
            <a:off x="7790688" y="2706624"/>
            <a:ext cx="84124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WIP 2</a:t>
            </a:r>
            <a:endParaRPr lang="en-US" sz="1000" dirty="0"/>
          </a:p>
        </p:txBody>
      </p:sp>
      <p:sp>
        <p:nvSpPr>
          <p:cNvPr id="36" name="Shape 34"/>
          <p:cNvSpPr/>
          <p:nvPr/>
        </p:nvSpPr>
        <p:spPr>
          <a:xfrm>
            <a:off x="7790688" y="3163824"/>
            <a:ext cx="1792224" cy="530352"/>
          </a:xfrm>
          <a:prstGeom prst="roundRect">
            <a:avLst>
              <a:gd name="adj" fmla="val 12069"/>
            </a:avLst>
          </a:prstGeom>
          <a:solidFill>
            <a:srgbClr val="FFFFFF"/>
          </a:solidFill>
          <a:ln/>
          <a:effectLst>
            <a:outerShdw sx="100000" sy="100000" kx="0" ky="0" algn="bl" rotWithShape="0" blurRad="76200" dist="25400" dir="5400000">
              <a:srgbClr val="0B1418">
                <a:alpha val="10000"/>
              </a:srgbClr>
            </a:outerShdw>
          </a:effectLst>
        </p:spPr>
      </p:sp>
      <p:sp>
        <p:nvSpPr>
          <p:cNvPr id="37" name="Text 35"/>
          <p:cNvSpPr/>
          <p:nvPr/>
        </p:nvSpPr>
        <p:spPr>
          <a:xfrm>
            <a:off x="7918704" y="3163824"/>
            <a:ext cx="1536192" cy="530352"/>
          </a:xfrm>
          <a:prstGeom prst="rect">
            <a:avLst/>
          </a:prstGeom>
          <a:noFill/>
          <a:ln/>
        </p:spPr>
        <p:txBody>
          <a:bodyPr wrap="square" lIns="0" tIns="0" rIns="0" bIns="0" rtlCol="0" anchor="ctr"/>
          <a:lstStyle/>
          <a:p>
            <a:pPr indent="0" marL="0">
              <a:buNone/>
            </a:pPr>
            <a:r>
              <a:rPr lang="en-US" sz="950" dirty="0">
                <a:solidFill>
                  <a:srgbClr val="6B7A7F"/>
                </a:solidFill>
                <a:latin typeface="Courier New" pitchFamily="34" charset="0"/>
                <a:ea typeface="Courier New" pitchFamily="34" charset="-122"/>
                <a:cs typeface="Courier New" pitchFamily="34" charset="-120"/>
              </a:rPr>
              <a:t>STORY-40</a:t>
            </a:r>
            <a:endParaRPr lang="en-US" sz="950" dirty="0"/>
          </a:p>
        </p:txBody>
      </p:sp>
      <p:sp>
        <p:nvSpPr>
          <p:cNvPr id="38" name="Shape 36"/>
          <p:cNvSpPr/>
          <p:nvPr/>
        </p:nvSpPr>
        <p:spPr>
          <a:xfrm>
            <a:off x="10003536" y="2249424"/>
            <a:ext cx="2084832" cy="3017520"/>
          </a:xfrm>
          <a:prstGeom prst="roundRect">
            <a:avLst>
              <a:gd name="adj" fmla="val 4386"/>
            </a:avLst>
          </a:prstGeom>
          <a:solidFill>
            <a:srgbClr val="EDF1F0"/>
          </a:solidFill>
          <a:ln w="12700">
            <a:solidFill>
              <a:srgbClr val="C8D4D1"/>
            </a:solidFill>
            <a:prstDash val="solid"/>
          </a:ln>
        </p:spPr>
      </p:sp>
      <p:sp>
        <p:nvSpPr>
          <p:cNvPr id="39" name="Text 37"/>
          <p:cNvSpPr/>
          <p:nvPr/>
        </p:nvSpPr>
        <p:spPr>
          <a:xfrm>
            <a:off x="10149840" y="2359152"/>
            <a:ext cx="1792224" cy="292608"/>
          </a:xfrm>
          <a:prstGeom prst="rect">
            <a:avLst/>
          </a:prstGeom>
          <a:noFill/>
          <a:ln/>
        </p:spPr>
        <p:txBody>
          <a:bodyPr wrap="square" lIns="0" tIns="0" rIns="0" bIns="0" rtlCol="0" anchor="ctr"/>
          <a:lstStyle/>
          <a:p>
            <a:pPr indent="0" marL="0">
              <a:buNone/>
            </a:pPr>
            <a:r>
              <a:rPr lang="en-US" sz="1350" b="1" dirty="0">
                <a:solidFill>
                  <a:srgbClr val="121D24"/>
                </a:solidFill>
                <a:latin typeface="Calibri" pitchFamily="34" charset="0"/>
                <a:ea typeface="Calibri" pitchFamily="34" charset="-122"/>
                <a:cs typeface="Calibri" pitchFamily="34" charset="-120"/>
              </a:rPr>
              <a:t>Done</a:t>
            </a:r>
            <a:endParaRPr lang="en-US" sz="1350" dirty="0"/>
          </a:p>
        </p:txBody>
      </p:sp>
      <p:sp>
        <p:nvSpPr>
          <p:cNvPr id="40" name="Shape 38"/>
          <p:cNvSpPr/>
          <p:nvPr/>
        </p:nvSpPr>
        <p:spPr>
          <a:xfrm>
            <a:off x="10149840" y="2706624"/>
            <a:ext cx="841248" cy="292608"/>
          </a:xfrm>
          <a:prstGeom prst="roundRect">
            <a:avLst>
              <a:gd name="adj" fmla="val 18750"/>
            </a:avLst>
          </a:prstGeom>
          <a:solidFill>
            <a:srgbClr val="C8D4D1"/>
          </a:solidFill>
          <a:ln/>
        </p:spPr>
      </p:sp>
      <p:sp>
        <p:nvSpPr>
          <p:cNvPr id="41" name="Text 39"/>
          <p:cNvSpPr/>
          <p:nvPr/>
        </p:nvSpPr>
        <p:spPr>
          <a:xfrm>
            <a:off x="10149840" y="2706624"/>
            <a:ext cx="841248" cy="292608"/>
          </a:xfrm>
          <a:prstGeom prst="rect">
            <a:avLst/>
          </a:prstGeom>
          <a:noFill/>
          <a:ln/>
        </p:spPr>
        <p:txBody>
          <a:bodyPr wrap="square" lIns="0" tIns="0" rIns="0" bIns="0" rtlCol="0" anchor="ctr"/>
          <a:lstStyle/>
          <a:p>
            <a:pPr algn="ctr" indent="0" marL="0">
              <a:buNone/>
            </a:pPr>
            <a:r>
              <a:rPr lang="en-US" sz="1000" b="1" dirty="0">
                <a:solidFill>
                  <a:srgbClr val="4E5D62"/>
                </a:solidFill>
                <a:latin typeface="Courier New" pitchFamily="34" charset="0"/>
                <a:ea typeface="Courier New" pitchFamily="34" charset="-122"/>
                <a:cs typeface="Courier New" pitchFamily="34" charset="-120"/>
              </a:rPr>
              <a:t>∞</a:t>
            </a:r>
            <a:endParaRPr lang="en-US" sz="1000" dirty="0"/>
          </a:p>
        </p:txBody>
      </p:sp>
      <p:sp>
        <p:nvSpPr>
          <p:cNvPr id="42" name="Shape 40"/>
          <p:cNvSpPr/>
          <p:nvPr/>
        </p:nvSpPr>
        <p:spPr>
          <a:xfrm>
            <a:off x="10149840" y="3163824"/>
            <a:ext cx="1792224" cy="530352"/>
          </a:xfrm>
          <a:prstGeom prst="roundRect">
            <a:avLst>
              <a:gd name="adj" fmla="val 12069"/>
            </a:avLst>
          </a:prstGeom>
          <a:solidFill>
            <a:srgbClr val="FFFFFF"/>
          </a:solidFill>
          <a:ln/>
          <a:effectLst>
            <a:outerShdw sx="100000" sy="100000" kx="0" ky="0" algn="bl" rotWithShape="0" blurRad="76200" dist="25400" dir="5400000">
              <a:srgbClr val="0B1418">
                <a:alpha val="10000"/>
              </a:srgbClr>
            </a:outerShdw>
          </a:effectLst>
        </p:spPr>
      </p:sp>
      <p:sp>
        <p:nvSpPr>
          <p:cNvPr id="43" name="Text 41"/>
          <p:cNvSpPr/>
          <p:nvPr/>
        </p:nvSpPr>
        <p:spPr>
          <a:xfrm>
            <a:off x="10277856" y="3163824"/>
            <a:ext cx="1536192" cy="530352"/>
          </a:xfrm>
          <a:prstGeom prst="rect">
            <a:avLst/>
          </a:prstGeom>
          <a:noFill/>
          <a:ln/>
        </p:spPr>
        <p:txBody>
          <a:bodyPr wrap="square" lIns="0" tIns="0" rIns="0" bIns="0" rtlCol="0" anchor="ctr"/>
          <a:lstStyle/>
          <a:p>
            <a:pPr indent="0" marL="0">
              <a:buNone/>
            </a:pPr>
            <a:r>
              <a:rPr lang="en-US" sz="950" dirty="0">
                <a:solidFill>
                  <a:srgbClr val="6B7A7F"/>
                </a:solidFill>
                <a:latin typeface="Courier New" pitchFamily="34" charset="0"/>
                <a:ea typeface="Courier New" pitchFamily="34" charset="-122"/>
                <a:cs typeface="Courier New" pitchFamily="34" charset="-120"/>
              </a:rPr>
              <a:t>STORY-50</a:t>
            </a:r>
            <a:endParaRPr lang="en-US" sz="950" dirty="0"/>
          </a:p>
        </p:txBody>
      </p:sp>
      <p:sp>
        <p:nvSpPr>
          <p:cNvPr id="44" name="Shape 42"/>
          <p:cNvSpPr/>
          <p:nvPr/>
        </p:nvSpPr>
        <p:spPr>
          <a:xfrm>
            <a:off x="10149840" y="3822192"/>
            <a:ext cx="1792224" cy="530352"/>
          </a:xfrm>
          <a:prstGeom prst="roundRect">
            <a:avLst>
              <a:gd name="adj" fmla="val 12069"/>
            </a:avLst>
          </a:prstGeom>
          <a:solidFill>
            <a:srgbClr val="FFFFFF"/>
          </a:solidFill>
          <a:ln/>
          <a:effectLst>
            <a:outerShdw sx="100000" sy="100000" kx="0" ky="0" algn="bl" rotWithShape="0" blurRad="76200" dist="25400" dir="5400000">
              <a:srgbClr val="0B1418">
                <a:alpha val="10000"/>
              </a:srgbClr>
            </a:outerShdw>
          </a:effectLst>
        </p:spPr>
      </p:sp>
      <p:sp>
        <p:nvSpPr>
          <p:cNvPr id="45" name="Text 43"/>
          <p:cNvSpPr/>
          <p:nvPr/>
        </p:nvSpPr>
        <p:spPr>
          <a:xfrm>
            <a:off x="10277856" y="3822192"/>
            <a:ext cx="1536192" cy="530352"/>
          </a:xfrm>
          <a:prstGeom prst="rect">
            <a:avLst/>
          </a:prstGeom>
          <a:noFill/>
          <a:ln/>
        </p:spPr>
        <p:txBody>
          <a:bodyPr wrap="square" lIns="0" tIns="0" rIns="0" bIns="0" rtlCol="0" anchor="ctr"/>
          <a:lstStyle/>
          <a:p>
            <a:pPr indent="0" marL="0">
              <a:buNone/>
            </a:pPr>
            <a:r>
              <a:rPr lang="en-US" sz="950" dirty="0">
                <a:solidFill>
                  <a:srgbClr val="6B7A7F"/>
                </a:solidFill>
                <a:latin typeface="Courier New" pitchFamily="34" charset="0"/>
                <a:ea typeface="Courier New" pitchFamily="34" charset="-122"/>
                <a:cs typeface="Courier New" pitchFamily="34" charset="-120"/>
              </a:rPr>
              <a:t>STORY-51</a:t>
            </a:r>
            <a:endParaRPr lang="en-US" sz="950" dirty="0"/>
          </a:p>
        </p:txBody>
      </p:sp>
      <p:sp>
        <p:nvSpPr>
          <p:cNvPr id="46" name="Shape 44"/>
          <p:cNvSpPr/>
          <p:nvPr/>
        </p:nvSpPr>
        <p:spPr>
          <a:xfrm>
            <a:off x="566928" y="5522976"/>
            <a:ext cx="11057839" cy="786384"/>
          </a:xfrm>
          <a:prstGeom prst="roundRect">
            <a:avLst>
              <a:gd name="adj" fmla="val 11628"/>
            </a:avLst>
          </a:prstGeom>
          <a:solidFill>
            <a:srgbClr val="121D24"/>
          </a:solidFill>
          <a:ln/>
          <a:effectLst>
            <a:outerShdw sx="100000" sy="100000" kx="0" ky="0" algn="bl" rotWithShape="0" blurRad="127000" dist="38100" dir="5400000">
              <a:srgbClr val="0B1418">
                <a:alpha val="13000"/>
              </a:srgbClr>
            </a:outerShdw>
          </a:effectLst>
        </p:spPr>
      </p:sp>
      <p:sp>
        <p:nvSpPr>
          <p:cNvPr id="47" name="Text 45"/>
          <p:cNvSpPr/>
          <p:nvPr/>
        </p:nvSpPr>
        <p:spPr>
          <a:xfrm>
            <a:off x="841248" y="5522976"/>
            <a:ext cx="10509199" cy="786384"/>
          </a:xfrm>
          <a:prstGeom prst="rect">
            <a:avLst/>
          </a:prstGeom>
          <a:noFill/>
          <a:ln/>
        </p:spPr>
        <p:txBody>
          <a:bodyPr wrap="square" lIns="0" tIns="0" rIns="0" bIns="0" rtlCol="0" anchor="ctr"/>
          <a:lstStyle/>
          <a:p>
            <a:pPr indent="0" marL="0">
              <a:lnSpc>
                <a:spcPts val="1900"/>
              </a:lnSpc>
              <a:buNone/>
            </a:pPr>
            <a:r>
              <a:rPr lang="en-US" sz="1350" dirty="0">
                <a:solidFill>
                  <a:srgbClr val="FFFFFF"/>
                </a:solidFill>
                <a:latin typeface="Calibri" pitchFamily="34" charset="0"/>
                <a:ea typeface="Calibri" pitchFamily="34" charset="-122"/>
                <a:cs typeface="Calibri" pitchFamily="34" charset="-120"/>
              </a:rPr>
              <a:t>If "In Progress" is full, you cannot start new work — you must go help finish existing work. That is the entire mechanism, and it optimizes for throughput rather than individual utilization.</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1D24"/>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20" kern="0" dirty="0">
                <a:solidFill>
                  <a:srgbClr val="F0B429"/>
                </a:solidFill>
                <a:latin typeface="Courier New" pitchFamily="34" charset="0"/>
                <a:ea typeface="Courier New" pitchFamily="34" charset="-122"/>
                <a:cs typeface="Courier New" pitchFamily="34" charset="-120"/>
              </a:rPr>
              <a:t>05 / KANBAN</a:t>
            </a:r>
            <a:endParaRPr lang="en-US" sz="1100" dirty="0"/>
          </a:p>
        </p:txBody>
      </p:sp>
      <p:sp>
        <p:nvSpPr>
          <p:cNvPr id="3" name="Text 1"/>
          <p:cNvSpPr/>
          <p:nvPr/>
        </p:nvSpPr>
        <p:spPr>
          <a:xfrm>
            <a:off x="566928" y="676656"/>
            <a:ext cx="11057839" cy="658368"/>
          </a:xfrm>
          <a:prstGeom prst="rect">
            <a:avLst/>
          </a:prstGeom>
          <a:noFill/>
          <a:ln/>
        </p:spPr>
        <p:txBody>
          <a:bodyPr wrap="square" lIns="0" tIns="0" rIns="0" bIns="0" rtlCol="0" anchor="ctr"/>
          <a:lstStyle/>
          <a:p>
            <a:pPr algn="l" indent="0" marL="0">
              <a:buNone/>
            </a:pPr>
            <a:r>
              <a:rPr lang="en-US" sz="3400" b="1" dirty="0">
                <a:solidFill>
                  <a:srgbClr val="FFFFFF"/>
                </a:solidFill>
                <a:latin typeface="Calibri" pitchFamily="34" charset="0"/>
                <a:ea typeface="Calibri" pitchFamily="34" charset="-122"/>
                <a:cs typeface="Calibri" pitchFamily="34" charset="-120"/>
              </a:rPr>
              <a:t>The most counterintuitive true thing in Agile</a:t>
            </a:r>
            <a:endParaRPr lang="en-US" sz="3400" dirty="0"/>
          </a:p>
        </p:txBody>
      </p:sp>
      <p:sp>
        <p:nvSpPr>
          <p:cNvPr id="4" name="Shape 2"/>
          <p:cNvSpPr/>
          <p:nvPr/>
        </p:nvSpPr>
        <p:spPr>
          <a:xfrm>
            <a:off x="566928" y="1828800"/>
            <a:ext cx="6675120" cy="1554480"/>
          </a:xfrm>
          <a:prstGeom prst="roundRect">
            <a:avLst>
              <a:gd name="adj" fmla="val 7059"/>
            </a:avLst>
          </a:prstGeom>
          <a:solidFill>
            <a:srgbClr val="1C2E38"/>
          </a:solidFill>
          <a:ln/>
        </p:spPr>
      </p:sp>
      <p:sp>
        <p:nvSpPr>
          <p:cNvPr id="5" name="Text 3"/>
          <p:cNvSpPr/>
          <p:nvPr/>
        </p:nvSpPr>
        <p:spPr>
          <a:xfrm>
            <a:off x="841248" y="2286000"/>
            <a:ext cx="6126480" cy="1005840"/>
          </a:xfrm>
          <a:prstGeom prst="rect">
            <a:avLst/>
          </a:prstGeom>
          <a:noFill/>
          <a:ln/>
        </p:spPr>
        <p:txBody>
          <a:bodyPr wrap="square" lIns="0" tIns="0" rIns="0" bIns="0" rtlCol="0" anchor="ctr"/>
          <a:lstStyle/>
          <a:p>
            <a:pPr algn="ctr" indent="0" marL="0">
              <a:buNone/>
            </a:pPr>
            <a:r>
              <a:rPr lang="en-US" sz="2000" b="1" dirty="0">
                <a:solidFill>
                  <a:srgbClr val="F0B429"/>
                </a:solidFill>
                <a:latin typeface="Courier New" pitchFamily="34" charset="0"/>
                <a:ea typeface="Courier New" pitchFamily="34" charset="-122"/>
                <a:cs typeface="Courier New" pitchFamily="34" charset="-120"/>
              </a:rPr>
              <a:t>Cycle Time</a:t>
            </a:r>
            <a:pPr algn="ctr" indent="0" marL="0">
              <a:buNone/>
            </a:pPr>
            <a:r>
              <a:rPr lang="en-US" sz="2000" dirty="0">
                <a:solidFill>
                  <a:srgbClr val="8FA3A9"/>
                </a:solidFill>
                <a:latin typeface="Courier New" pitchFamily="34" charset="0"/>
                <a:ea typeface="Courier New" pitchFamily="34" charset="-122"/>
                <a:cs typeface="Courier New" pitchFamily="34" charset="-120"/>
              </a:rPr>
              <a:t>  =  </a:t>
            </a:r>
            <a:pPr algn="ctr" indent="0" marL="0">
              <a:buNone/>
            </a:pPr>
            <a:r>
              <a:rPr lang="en-US" sz="2000" b="1" dirty="0">
                <a:solidFill>
                  <a:srgbClr val="FFFFFF"/>
                </a:solidFill>
                <a:latin typeface="Courier New" pitchFamily="34" charset="0"/>
                <a:ea typeface="Courier New" pitchFamily="34" charset="-122"/>
                <a:cs typeface="Courier New" pitchFamily="34" charset="-120"/>
              </a:rPr>
              <a:t>Work In Progress</a:t>
            </a:r>
            <a:pPr algn="ctr" indent="0" marL="0">
              <a:buNone/>
            </a:pPr>
            <a:r>
              <a:rPr lang="en-US" sz="2000" dirty="0">
                <a:solidFill>
                  <a:srgbClr val="8FA3A9"/>
                </a:solidFill>
                <a:latin typeface="Courier New" pitchFamily="34" charset="0"/>
                <a:ea typeface="Courier New" pitchFamily="34" charset="-122"/>
                <a:cs typeface="Courier New" pitchFamily="34" charset="-120"/>
              </a:rPr>
              <a:t>  ÷  </a:t>
            </a:r>
            <a:pPr algn="ctr" indent="0" marL="0">
              <a:buNone/>
            </a:pPr>
            <a:r>
              <a:rPr lang="en-US" sz="2000" b="1" dirty="0">
                <a:solidFill>
                  <a:srgbClr val="2A8C7A"/>
                </a:solidFill>
                <a:latin typeface="Courier New" pitchFamily="34" charset="0"/>
                <a:ea typeface="Courier New" pitchFamily="34" charset="-122"/>
                <a:cs typeface="Courier New" pitchFamily="34" charset="-120"/>
              </a:rPr>
              <a:t>Throughput</a:t>
            </a:r>
            <a:endParaRPr lang="en-US" sz="2000" dirty="0"/>
          </a:p>
        </p:txBody>
      </p:sp>
      <p:sp>
        <p:nvSpPr>
          <p:cNvPr id="6" name="Text 4"/>
          <p:cNvSpPr/>
          <p:nvPr/>
        </p:nvSpPr>
        <p:spPr>
          <a:xfrm>
            <a:off x="841248" y="1993392"/>
            <a:ext cx="6126480" cy="256032"/>
          </a:xfrm>
          <a:prstGeom prst="rect">
            <a:avLst/>
          </a:prstGeom>
          <a:noFill/>
          <a:ln/>
        </p:spPr>
        <p:txBody>
          <a:bodyPr wrap="square" lIns="0" tIns="0" rIns="0" bIns="0" rtlCol="0" anchor="ctr"/>
          <a:lstStyle/>
          <a:p>
            <a:pPr algn="ctr" indent="0" marL="0">
              <a:buNone/>
            </a:pPr>
            <a:r>
              <a:rPr lang="en-US" sz="1050" b="1" spc="180" kern="0" dirty="0">
                <a:solidFill>
                  <a:srgbClr val="6B7A7F"/>
                </a:solidFill>
                <a:latin typeface="Courier New" pitchFamily="34" charset="0"/>
                <a:ea typeface="Courier New" pitchFamily="34" charset="-122"/>
                <a:cs typeface="Courier New" pitchFamily="34" charset="-120"/>
              </a:rPr>
              <a:t>Little's Law</a:t>
            </a:r>
            <a:endParaRPr lang="en-US" sz="1050" dirty="0"/>
          </a:p>
        </p:txBody>
      </p:sp>
      <p:sp>
        <p:nvSpPr>
          <p:cNvPr id="7" name="Text 5"/>
          <p:cNvSpPr/>
          <p:nvPr/>
        </p:nvSpPr>
        <p:spPr>
          <a:xfrm>
            <a:off x="566928" y="3657600"/>
            <a:ext cx="6675120" cy="4572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Halve your WIP, halve your cycle time.</a:t>
            </a:r>
            <a:endParaRPr lang="en-US" sz="2600" dirty="0"/>
          </a:p>
        </p:txBody>
      </p:sp>
      <p:sp>
        <p:nvSpPr>
          <p:cNvPr id="8" name="Text 6"/>
          <p:cNvSpPr/>
          <p:nvPr/>
        </p:nvSpPr>
        <p:spPr>
          <a:xfrm>
            <a:off x="566928" y="4206240"/>
            <a:ext cx="6675120" cy="1371600"/>
          </a:xfrm>
          <a:prstGeom prst="rect">
            <a:avLst/>
          </a:prstGeom>
          <a:noFill/>
          <a:ln/>
        </p:spPr>
        <p:txBody>
          <a:bodyPr wrap="square" lIns="0" tIns="0" rIns="0" bIns="0" rtlCol="0" anchor="ctr"/>
          <a:lstStyle/>
          <a:p>
            <a:pPr indent="0" marL="0">
              <a:lnSpc>
                <a:spcPts val="2100"/>
              </a:lnSpc>
              <a:buNone/>
            </a:pPr>
            <a:r>
              <a:rPr lang="en-US" sz="1400" dirty="0">
                <a:solidFill>
                  <a:srgbClr val="B9C7CB"/>
                </a:solidFill>
                <a:latin typeface="Calibri" pitchFamily="34" charset="0"/>
                <a:ea typeface="Calibri" pitchFamily="34" charset="-122"/>
                <a:cs typeface="Calibri" pitchFamily="34" charset="-120"/>
              </a:rPr>
              <a:t>Throughput is roughly fixed by team capacity, so the only lever you actually control is how much work is open at once. Teams instinctively start more things when they feel behind, which is exactly backwards: it lengthens every item's cycle time without adding capacity.</a:t>
            </a:r>
            <a:endParaRPr lang="en-US" sz="1400" dirty="0"/>
          </a:p>
        </p:txBody>
      </p:sp>
      <p:sp>
        <p:nvSpPr>
          <p:cNvPr id="9" name="Text 7"/>
          <p:cNvSpPr/>
          <p:nvPr/>
        </p:nvSpPr>
        <p:spPr>
          <a:xfrm>
            <a:off x="7680960" y="2011680"/>
            <a:ext cx="3931920" cy="274320"/>
          </a:xfrm>
          <a:prstGeom prst="rect">
            <a:avLst/>
          </a:prstGeom>
          <a:noFill/>
          <a:ln/>
        </p:spPr>
        <p:txBody>
          <a:bodyPr wrap="square" lIns="0" tIns="0" rIns="0" bIns="0" rtlCol="0" anchor="ctr"/>
          <a:lstStyle/>
          <a:p>
            <a:pPr indent="0" marL="0">
              <a:buNone/>
            </a:pPr>
            <a:r>
              <a:rPr lang="en-US" sz="1200" b="1" spc="140" kern="0" dirty="0">
                <a:solidFill>
                  <a:srgbClr val="E0512B"/>
                </a:solidFill>
                <a:latin typeface="Courier New" pitchFamily="34" charset="0"/>
                <a:ea typeface="Courier New" pitchFamily="34" charset="-122"/>
                <a:cs typeface="Courier New" pitchFamily="34" charset="-120"/>
              </a:rPr>
              <a:t>WIP 8</a:t>
            </a:r>
            <a:endParaRPr lang="en-US" sz="1200" dirty="0"/>
          </a:p>
        </p:txBody>
      </p:sp>
      <p:sp>
        <p:nvSpPr>
          <p:cNvPr id="10" name="Shape 8"/>
          <p:cNvSpPr/>
          <p:nvPr/>
        </p:nvSpPr>
        <p:spPr>
          <a:xfrm>
            <a:off x="7680960" y="2395728"/>
            <a:ext cx="3566160" cy="457200"/>
          </a:xfrm>
          <a:prstGeom prst="roundRect">
            <a:avLst>
              <a:gd name="adj" fmla="val 16000"/>
            </a:avLst>
          </a:prstGeom>
          <a:solidFill>
            <a:srgbClr val="E0512B"/>
          </a:solidFill>
          <a:ln/>
        </p:spPr>
      </p:sp>
      <p:sp>
        <p:nvSpPr>
          <p:cNvPr id="11" name="Text 9"/>
          <p:cNvSpPr/>
          <p:nvPr/>
        </p:nvSpPr>
        <p:spPr>
          <a:xfrm>
            <a:off x="7680960" y="2944368"/>
            <a:ext cx="3931920" cy="2743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cycle time 8 days</a:t>
            </a:r>
            <a:endParaRPr lang="en-US" sz="1300" dirty="0"/>
          </a:p>
        </p:txBody>
      </p:sp>
      <p:sp>
        <p:nvSpPr>
          <p:cNvPr id="12" name="Text 10"/>
          <p:cNvSpPr/>
          <p:nvPr/>
        </p:nvSpPr>
        <p:spPr>
          <a:xfrm>
            <a:off x="7680960" y="3218688"/>
            <a:ext cx="3931920" cy="274320"/>
          </a:xfrm>
          <a:prstGeom prst="rect">
            <a:avLst/>
          </a:prstGeom>
          <a:noFill/>
          <a:ln/>
        </p:spPr>
        <p:txBody>
          <a:bodyPr wrap="square" lIns="0" tIns="0" rIns="0" bIns="0" rtlCol="0" anchor="ctr"/>
          <a:lstStyle/>
          <a:p>
            <a:pPr indent="0" marL="0">
              <a:buNone/>
            </a:pPr>
            <a:r>
              <a:rPr lang="en-US" sz="950" dirty="0">
                <a:solidFill>
                  <a:srgbClr val="6B7A7F"/>
                </a:solidFill>
                <a:latin typeface="Courier New" pitchFamily="34" charset="0"/>
                <a:ea typeface="Courier New" pitchFamily="34" charset="-122"/>
                <a:cs typeface="Courier New" pitchFamily="34" charset="-120"/>
              </a:rPr>
              <a:t>throughput unchanged: 1 item/day</a:t>
            </a:r>
            <a:endParaRPr lang="en-US" sz="950" dirty="0"/>
          </a:p>
        </p:txBody>
      </p:sp>
      <p:sp>
        <p:nvSpPr>
          <p:cNvPr id="13" name="Text 11"/>
          <p:cNvSpPr/>
          <p:nvPr/>
        </p:nvSpPr>
        <p:spPr>
          <a:xfrm>
            <a:off x="7680960" y="3931920"/>
            <a:ext cx="3931920" cy="274320"/>
          </a:xfrm>
          <a:prstGeom prst="rect">
            <a:avLst/>
          </a:prstGeom>
          <a:noFill/>
          <a:ln/>
        </p:spPr>
        <p:txBody>
          <a:bodyPr wrap="square" lIns="0" tIns="0" rIns="0" bIns="0" rtlCol="0" anchor="ctr"/>
          <a:lstStyle/>
          <a:p>
            <a:pPr indent="0" marL="0">
              <a:buNone/>
            </a:pPr>
            <a:r>
              <a:rPr lang="en-US" sz="1200" b="1" spc="140" kern="0" dirty="0">
                <a:solidFill>
                  <a:srgbClr val="2A8C7A"/>
                </a:solidFill>
                <a:latin typeface="Courier New" pitchFamily="34" charset="0"/>
                <a:ea typeface="Courier New" pitchFamily="34" charset="-122"/>
                <a:cs typeface="Courier New" pitchFamily="34" charset="-120"/>
              </a:rPr>
              <a:t>WIP 4</a:t>
            </a:r>
            <a:endParaRPr lang="en-US" sz="1200" dirty="0"/>
          </a:p>
        </p:txBody>
      </p:sp>
      <p:sp>
        <p:nvSpPr>
          <p:cNvPr id="14" name="Shape 12"/>
          <p:cNvSpPr/>
          <p:nvPr/>
        </p:nvSpPr>
        <p:spPr>
          <a:xfrm>
            <a:off x="7680960" y="4315968"/>
            <a:ext cx="1783080" cy="457200"/>
          </a:xfrm>
          <a:prstGeom prst="roundRect">
            <a:avLst>
              <a:gd name="adj" fmla="val 16000"/>
            </a:avLst>
          </a:prstGeom>
          <a:solidFill>
            <a:srgbClr val="2A8C7A"/>
          </a:solidFill>
          <a:ln/>
        </p:spPr>
      </p:sp>
      <p:sp>
        <p:nvSpPr>
          <p:cNvPr id="15" name="Text 13"/>
          <p:cNvSpPr/>
          <p:nvPr/>
        </p:nvSpPr>
        <p:spPr>
          <a:xfrm>
            <a:off x="7680960" y="4864608"/>
            <a:ext cx="3931920" cy="2743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cycle time 4 days</a:t>
            </a:r>
            <a:endParaRPr lang="en-US" sz="1300" dirty="0"/>
          </a:p>
        </p:txBody>
      </p:sp>
      <p:sp>
        <p:nvSpPr>
          <p:cNvPr id="16" name="Text 14"/>
          <p:cNvSpPr/>
          <p:nvPr/>
        </p:nvSpPr>
        <p:spPr>
          <a:xfrm>
            <a:off x="7680960" y="5138928"/>
            <a:ext cx="3931920" cy="274320"/>
          </a:xfrm>
          <a:prstGeom prst="rect">
            <a:avLst/>
          </a:prstGeom>
          <a:noFill/>
          <a:ln/>
        </p:spPr>
        <p:txBody>
          <a:bodyPr wrap="square" lIns="0" tIns="0" rIns="0" bIns="0" rtlCol="0" anchor="ctr"/>
          <a:lstStyle/>
          <a:p>
            <a:pPr indent="0" marL="0">
              <a:buNone/>
            </a:pPr>
            <a:r>
              <a:rPr lang="en-US" sz="950" dirty="0">
                <a:solidFill>
                  <a:srgbClr val="6B7A7F"/>
                </a:solidFill>
                <a:latin typeface="Courier New" pitchFamily="34" charset="0"/>
                <a:ea typeface="Courier New" pitchFamily="34" charset="-122"/>
                <a:cs typeface="Courier New" pitchFamily="34" charset="-120"/>
              </a:rPr>
              <a:t>throughput unchanged: 1 item/day</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20" kern="0" dirty="0">
                <a:solidFill>
                  <a:srgbClr val="E0512B"/>
                </a:solidFill>
                <a:latin typeface="Courier New" pitchFamily="34" charset="0"/>
                <a:ea typeface="Courier New" pitchFamily="34" charset="-122"/>
                <a:cs typeface="Courier New" pitchFamily="34" charset="-120"/>
              </a:rPr>
              <a:t>05 / KANBAN</a:t>
            </a:r>
            <a:endParaRPr lang="en-US" sz="1100" dirty="0"/>
          </a:p>
        </p:txBody>
      </p:sp>
      <p:sp>
        <p:nvSpPr>
          <p:cNvPr id="3" name="Text 1"/>
          <p:cNvSpPr/>
          <p:nvPr/>
        </p:nvSpPr>
        <p:spPr>
          <a:xfrm>
            <a:off x="566928" y="676656"/>
            <a:ext cx="11057839" cy="658368"/>
          </a:xfrm>
          <a:prstGeom prst="rect">
            <a:avLst/>
          </a:prstGeom>
          <a:noFill/>
          <a:ln/>
        </p:spPr>
        <p:txBody>
          <a:bodyPr wrap="square" lIns="0" tIns="0" rIns="0" bIns="0" rtlCol="0" anchor="ctr"/>
          <a:lstStyle/>
          <a:p>
            <a:pPr algn="l" indent="0" marL="0">
              <a:buNone/>
            </a:pPr>
            <a:r>
              <a:rPr lang="en-US" sz="3400" b="1" dirty="0">
                <a:solidFill>
                  <a:srgbClr val="121D24"/>
                </a:solidFill>
                <a:latin typeface="Calibri" pitchFamily="34" charset="0"/>
                <a:ea typeface="Calibri" pitchFamily="34" charset="-122"/>
                <a:cs typeface="Calibri" pitchFamily="34" charset="-120"/>
              </a:rPr>
              <a:t>Scrum or Kanban — pick by inflow, not by fashion</a:t>
            </a:r>
            <a:endParaRPr lang="en-US" sz="3400" dirty="0"/>
          </a:p>
        </p:txBody>
      </p:sp>
      <p:sp>
        <p:nvSpPr>
          <p:cNvPr id="4" name="Text 2"/>
          <p:cNvSpPr/>
          <p:nvPr/>
        </p:nvSpPr>
        <p:spPr>
          <a:xfrm>
            <a:off x="0" y="0"/>
            <a:ext cx="91440" cy="91440"/>
          </a:xfrm>
          <a:prstGeom prst="rect">
            <a:avLst/>
          </a:prstGeom>
          <a:noFill/>
          <a:ln/>
        </p:spPr>
        <p:txBody>
          <a:bodyPr wrap="square" rtlCol="0" anchor="ctr"/>
          <a:lstStyle/>
          <a:p>
            <a:pPr indent="0" marL="0">
              <a:buNone/>
            </a:pPr>
            <a:endParaRPr lang="en-US" dirty="0"/>
          </a:p>
        </p:txBody>
      </p:sp>
      <p:sp>
        <p:nvSpPr>
          <p:cNvPr id="5" name="Shape 3"/>
          <p:cNvSpPr/>
          <p:nvPr/>
        </p:nvSpPr>
        <p:spPr>
          <a:xfrm>
            <a:off x="4114800" y="1700784"/>
            <a:ext cx="3703320" cy="566928"/>
          </a:xfrm>
          <a:prstGeom prst="roundRect">
            <a:avLst>
              <a:gd name="adj" fmla="val 12903"/>
            </a:avLst>
          </a:prstGeom>
          <a:solidFill>
            <a:srgbClr val="0F4C42"/>
          </a:solidFill>
          <a:ln/>
          <a:effectLst>
            <a:outerShdw sx="100000" sy="100000" kx="0" ky="0" algn="bl" rotWithShape="0" blurRad="127000" dist="38100" dir="5400000">
              <a:srgbClr val="0B1418">
                <a:alpha val="13000"/>
              </a:srgbClr>
            </a:outerShdw>
          </a:effectLst>
        </p:spPr>
      </p:sp>
      <p:sp>
        <p:nvSpPr>
          <p:cNvPr id="6" name="Text 4"/>
          <p:cNvSpPr/>
          <p:nvPr/>
        </p:nvSpPr>
        <p:spPr>
          <a:xfrm>
            <a:off x="4114800" y="1700784"/>
            <a:ext cx="3703320" cy="566928"/>
          </a:xfrm>
          <a:prstGeom prst="rect">
            <a:avLst/>
          </a:prstGeom>
          <a:noFill/>
          <a:ln/>
        </p:spPr>
        <p:txBody>
          <a:bodyPr wrap="square" lIns="0" tIns="0" rIns="0" bIns="0" rtlCol="0" anchor="ctr"/>
          <a:lstStyle/>
          <a:p>
            <a:pPr algn="ctr" indent="0" marL="0">
              <a:buNone/>
            </a:pPr>
            <a:r>
              <a:rPr lang="en-US" sz="1300" b="1" spc="200" kern="0" dirty="0">
                <a:solidFill>
                  <a:srgbClr val="FFFFFF"/>
                </a:solidFill>
                <a:latin typeface="Courier New" pitchFamily="34" charset="0"/>
                <a:ea typeface="Courier New" pitchFamily="34" charset="-122"/>
                <a:cs typeface="Courier New" pitchFamily="34" charset="-120"/>
              </a:rPr>
              <a:t>SCRUM</a:t>
            </a:r>
            <a:endParaRPr lang="en-US" sz="1300" dirty="0"/>
          </a:p>
        </p:txBody>
      </p:sp>
      <p:sp>
        <p:nvSpPr>
          <p:cNvPr id="7" name="Shape 5"/>
          <p:cNvSpPr/>
          <p:nvPr/>
        </p:nvSpPr>
        <p:spPr>
          <a:xfrm>
            <a:off x="7936992" y="1700784"/>
            <a:ext cx="3703320" cy="566928"/>
          </a:xfrm>
          <a:prstGeom prst="roundRect">
            <a:avLst>
              <a:gd name="adj" fmla="val 12903"/>
            </a:avLst>
          </a:prstGeom>
          <a:solidFill>
            <a:srgbClr val="2A8C7A"/>
          </a:solidFill>
          <a:ln/>
          <a:effectLst>
            <a:outerShdw sx="100000" sy="100000" kx="0" ky="0" algn="bl" rotWithShape="0" blurRad="127000" dist="38100" dir="5400000">
              <a:srgbClr val="0B1418">
                <a:alpha val="13000"/>
              </a:srgbClr>
            </a:outerShdw>
          </a:effectLst>
        </p:spPr>
      </p:sp>
      <p:sp>
        <p:nvSpPr>
          <p:cNvPr id="8" name="Text 6"/>
          <p:cNvSpPr/>
          <p:nvPr/>
        </p:nvSpPr>
        <p:spPr>
          <a:xfrm>
            <a:off x="7936992" y="1700784"/>
            <a:ext cx="3703320" cy="566928"/>
          </a:xfrm>
          <a:prstGeom prst="rect">
            <a:avLst/>
          </a:prstGeom>
          <a:noFill/>
          <a:ln/>
        </p:spPr>
        <p:txBody>
          <a:bodyPr wrap="square" lIns="0" tIns="0" rIns="0" bIns="0" rtlCol="0" anchor="ctr"/>
          <a:lstStyle/>
          <a:p>
            <a:pPr algn="ctr" indent="0" marL="0">
              <a:buNone/>
            </a:pPr>
            <a:r>
              <a:rPr lang="en-US" sz="1300" b="1" spc="200" kern="0" dirty="0">
                <a:solidFill>
                  <a:srgbClr val="FFFFFF"/>
                </a:solidFill>
                <a:latin typeface="Courier New" pitchFamily="34" charset="0"/>
                <a:ea typeface="Courier New" pitchFamily="34" charset="-122"/>
                <a:cs typeface="Courier New" pitchFamily="34" charset="-120"/>
              </a:rPr>
              <a:t>KANBAN</a:t>
            </a:r>
            <a:endParaRPr lang="en-US" sz="1300" dirty="0"/>
          </a:p>
        </p:txBody>
      </p:sp>
      <p:sp>
        <p:nvSpPr>
          <p:cNvPr id="9" name="Shape 7"/>
          <p:cNvSpPr/>
          <p:nvPr/>
        </p:nvSpPr>
        <p:spPr>
          <a:xfrm>
            <a:off x="566928" y="2395728"/>
            <a:ext cx="11057839" cy="548640"/>
          </a:xfrm>
          <a:prstGeom prst="rect">
            <a:avLst/>
          </a:prstGeom>
          <a:solidFill>
            <a:srgbClr val="EDF1F0"/>
          </a:solidFill>
          <a:ln/>
        </p:spPr>
      </p:sp>
      <p:sp>
        <p:nvSpPr>
          <p:cNvPr id="10" name="Text 8"/>
          <p:cNvSpPr/>
          <p:nvPr/>
        </p:nvSpPr>
        <p:spPr>
          <a:xfrm>
            <a:off x="749808" y="2395728"/>
            <a:ext cx="3291840" cy="548640"/>
          </a:xfrm>
          <a:prstGeom prst="rect">
            <a:avLst/>
          </a:prstGeom>
          <a:noFill/>
          <a:ln/>
        </p:spPr>
        <p:txBody>
          <a:bodyPr wrap="square" lIns="0" tIns="0" rIns="0" bIns="0" rtlCol="0" anchor="ctr"/>
          <a:lstStyle/>
          <a:p>
            <a:pPr indent="0" marL="0">
              <a:buNone/>
            </a:pPr>
            <a:r>
              <a:rPr lang="en-US" sz="1350" b="1" dirty="0">
                <a:solidFill>
                  <a:srgbClr val="121D24"/>
                </a:solidFill>
                <a:latin typeface="Calibri" pitchFamily="34" charset="0"/>
                <a:ea typeface="Calibri" pitchFamily="34" charset="-122"/>
                <a:cs typeface="Calibri" pitchFamily="34" charset="-120"/>
              </a:rPr>
              <a:t>Cadence</a:t>
            </a:r>
            <a:endParaRPr lang="en-US" sz="1350" dirty="0"/>
          </a:p>
        </p:txBody>
      </p:sp>
      <p:sp>
        <p:nvSpPr>
          <p:cNvPr id="11" name="Text 9"/>
          <p:cNvSpPr/>
          <p:nvPr/>
        </p:nvSpPr>
        <p:spPr>
          <a:xfrm>
            <a:off x="4224528" y="2395728"/>
            <a:ext cx="3474720" cy="548640"/>
          </a:xfrm>
          <a:prstGeom prst="rect">
            <a:avLst/>
          </a:prstGeom>
          <a:noFill/>
          <a:ln/>
        </p:spPr>
        <p:txBody>
          <a:bodyPr wrap="square" lIns="0" tIns="0" rIns="0" bIns="0" rtlCol="0" anchor="ctr"/>
          <a:lstStyle/>
          <a:p>
            <a:pPr indent="0" marL="0">
              <a:buNone/>
            </a:pPr>
            <a:r>
              <a:rPr lang="en-US" sz="1300" dirty="0">
                <a:solidFill>
                  <a:srgbClr val="4E5D62"/>
                </a:solidFill>
                <a:latin typeface="Calibri" pitchFamily="34" charset="0"/>
                <a:ea typeface="Calibri" pitchFamily="34" charset="-122"/>
                <a:cs typeface="Calibri" pitchFamily="34" charset="-120"/>
              </a:rPr>
              <a:t>Fixed sprints</a:t>
            </a:r>
            <a:endParaRPr lang="en-US" sz="1300" dirty="0"/>
          </a:p>
        </p:txBody>
      </p:sp>
      <p:sp>
        <p:nvSpPr>
          <p:cNvPr id="12" name="Text 10"/>
          <p:cNvSpPr/>
          <p:nvPr/>
        </p:nvSpPr>
        <p:spPr>
          <a:xfrm>
            <a:off x="8046720" y="2395728"/>
            <a:ext cx="3474720" cy="548640"/>
          </a:xfrm>
          <a:prstGeom prst="rect">
            <a:avLst/>
          </a:prstGeom>
          <a:noFill/>
          <a:ln/>
        </p:spPr>
        <p:txBody>
          <a:bodyPr wrap="square" lIns="0" tIns="0" rIns="0" bIns="0" rtlCol="0" anchor="ctr"/>
          <a:lstStyle/>
          <a:p>
            <a:pPr indent="0" marL="0">
              <a:buNone/>
            </a:pPr>
            <a:r>
              <a:rPr lang="en-US" sz="1300" dirty="0">
                <a:solidFill>
                  <a:srgbClr val="4E5D62"/>
                </a:solidFill>
                <a:latin typeface="Calibri" pitchFamily="34" charset="0"/>
                <a:ea typeface="Calibri" pitchFamily="34" charset="-122"/>
                <a:cs typeface="Calibri" pitchFamily="34" charset="-120"/>
              </a:rPr>
              <a:t>Continuous flow</a:t>
            </a:r>
            <a:endParaRPr lang="en-US" sz="1300" dirty="0"/>
          </a:p>
        </p:txBody>
      </p:sp>
      <p:sp>
        <p:nvSpPr>
          <p:cNvPr id="13" name="Text 11"/>
          <p:cNvSpPr/>
          <p:nvPr/>
        </p:nvSpPr>
        <p:spPr>
          <a:xfrm>
            <a:off x="749808" y="2999232"/>
            <a:ext cx="3291840" cy="548640"/>
          </a:xfrm>
          <a:prstGeom prst="rect">
            <a:avLst/>
          </a:prstGeom>
          <a:noFill/>
          <a:ln/>
        </p:spPr>
        <p:txBody>
          <a:bodyPr wrap="square" lIns="0" tIns="0" rIns="0" bIns="0" rtlCol="0" anchor="ctr"/>
          <a:lstStyle/>
          <a:p>
            <a:pPr indent="0" marL="0">
              <a:buNone/>
            </a:pPr>
            <a:r>
              <a:rPr lang="en-US" sz="1350" b="1" dirty="0">
                <a:solidFill>
                  <a:srgbClr val="121D24"/>
                </a:solidFill>
                <a:latin typeface="Calibri" pitchFamily="34" charset="0"/>
                <a:ea typeface="Calibri" pitchFamily="34" charset="-122"/>
                <a:cs typeface="Calibri" pitchFamily="34" charset="-120"/>
              </a:rPr>
              <a:t>Commitment</a:t>
            </a:r>
            <a:endParaRPr lang="en-US" sz="1350" dirty="0"/>
          </a:p>
        </p:txBody>
      </p:sp>
      <p:sp>
        <p:nvSpPr>
          <p:cNvPr id="14" name="Text 12"/>
          <p:cNvSpPr/>
          <p:nvPr/>
        </p:nvSpPr>
        <p:spPr>
          <a:xfrm>
            <a:off x="4224528" y="2999232"/>
            <a:ext cx="3474720" cy="548640"/>
          </a:xfrm>
          <a:prstGeom prst="rect">
            <a:avLst/>
          </a:prstGeom>
          <a:noFill/>
          <a:ln/>
        </p:spPr>
        <p:txBody>
          <a:bodyPr wrap="square" lIns="0" tIns="0" rIns="0" bIns="0" rtlCol="0" anchor="ctr"/>
          <a:lstStyle/>
          <a:p>
            <a:pPr indent="0" marL="0">
              <a:buNone/>
            </a:pPr>
            <a:r>
              <a:rPr lang="en-US" sz="1300" dirty="0">
                <a:solidFill>
                  <a:srgbClr val="4E5D62"/>
                </a:solidFill>
                <a:latin typeface="Calibri" pitchFamily="34" charset="0"/>
                <a:ea typeface="Calibri" pitchFamily="34" charset="-122"/>
                <a:cs typeface="Calibri" pitchFamily="34" charset="-120"/>
              </a:rPr>
              <a:t>A sprint goal</a:t>
            </a:r>
            <a:endParaRPr lang="en-US" sz="1300" dirty="0"/>
          </a:p>
        </p:txBody>
      </p:sp>
      <p:sp>
        <p:nvSpPr>
          <p:cNvPr id="15" name="Text 13"/>
          <p:cNvSpPr/>
          <p:nvPr/>
        </p:nvSpPr>
        <p:spPr>
          <a:xfrm>
            <a:off x="8046720" y="2999232"/>
            <a:ext cx="3474720" cy="548640"/>
          </a:xfrm>
          <a:prstGeom prst="rect">
            <a:avLst/>
          </a:prstGeom>
          <a:noFill/>
          <a:ln/>
        </p:spPr>
        <p:txBody>
          <a:bodyPr wrap="square" lIns="0" tIns="0" rIns="0" bIns="0" rtlCol="0" anchor="ctr"/>
          <a:lstStyle/>
          <a:p>
            <a:pPr indent="0" marL="0">
              <a:buNone/>
            </a:pPr>
            <a:r>
              <a:rPr lang="en-US" sz="1300" dirty="0">
                <a:solidFill>
                  <a:srgbClr val="4E5D62"/>
                </a:solidFill>
                <a:latin typeface="Calibri" pitchFamily="34" charset="0"/>
                <a:ea typeface="Calibri" pitchFamily="34" charset="-122"/>
                <a:cs typeface="Calibri" pitchFamily="34" charset="-120"/>
              </a:rPr>
              <a:t>None — pull as capacity frees</a:t>
            </a:r>
            <a:endParaRPr lang="en-US" sz="1300" dirty="0"/>
          </a:p>
        </p:txBody>
      </p:sp>
      <p:sp>
        <p:nvSpPr>
          <p:cNvPr id="16" name="Shape 14"/>
          <p:cNvSpPr/>
          <p:nvPr/>
        </p:nvSpPr>
        <p:spPr>
          <a:xfrm>
            <a:off x="566928" y="3602736"/>
            <a:ext cx="11057839" cy="548640"/>
          </a:xfrm>
          <a:prstGeom prst="rect">
            <a:avLst/>
          </a:prstGeom>
          <a:solidFill>
            <a:srgbClr val="EDF1F0"/>
          </a:solidFill>
          <a:ln/>
        </p:spPr>
      </p:sp>
      <p:sp>
        <p:nvSpPr>
          <p:cNvPr id="17" name="Text 15"/>
          <p:cNvSpPr/>
          <p:nvPr/>
        </p:nvSpPr>
        <p:spPr>
          <a:xfrm>
            <a:off x="749808" y="3602736"/>
            <a:ext cx="3291840" cy="548640"/>
          </a:xfrm>
          <a:prstGeom prst="rect">
            <a:avLst/>
          </a:prstGeom>
          <a:noFill/>
          <a:ln/>
        </p:spPr>
        <p:txBody>
          <a:bodyPr wrap="square" lIns="0" tIns="0" rIns="0" bIns="0" rtlCol="0" anchor="ctr"/>
          <a:lstStyle/>
          <a:p>
            <a:pPr indent="0" marL="0">
              <a:buNone/>
            </a:pPr>
            <a:r>
              <a:rPr lang="en-US" sz="1350" b="1" dirty="0">
                <a:solidFill>
                  <a:srgbClr val="121D24"/>
                </a:solidFill>
                <a:latin typeface="Calibri" pitchFamily="34" charset="0"/>
                <a:ea typeface="Calibri" pitchFamily="34" charset="-122"/>
                <a:cs typeface="Calibri" pitchFamily="34" charset="-120"/>
              </a:rPr>
              <a:t>Change mid-cycle</a:t>
            </a:r>
            <a:endParaRPr lang="en-US" sz="1350" dirty="0"/>
          </a:p>
        </p:txBody>
      </p:sp>
      <p:sp>
        <p:nvSpPr>
          <p:cNvPr id="18" name="Text 16"/>
          <p:cNvSpPr/>
          <p:nvPr/>
        </p:nvSpPr>
        <p:spPr>
          <a:xfrm>
            <a:off x="4224528" y="3602736"/>
            <a:ext cx="3474720" cy="548640"/>
          </a:xfrm>
          <a:prstGeom prst="rect">
            <a:avLst/>
          </a:prstGeom>
          <a:noFill/>
          <a:ln/>
        </p:spPr>
        <p:txBody>
          <a:bodyPr wrap="square" lIns="0" tIns="0" rIns="0" bIns="0" rtlCol="0" anchor="ctr"/>
          <a:lstStyle/>
          <a:p>
            <a:pPr indent="0" marL="0">
              <a:buNone/>
            </a:pPr>
            <a:r>
              <a:rPr lang="en-US" sz="1300" dirty="0">
                <a:solidFill>
                  <a:srgbClr val="4E5D62"/>
                </a:solidFill>
                <a:latin typeface="Calibri" pitchFamily="34" charset="0"/>
                <a:ea typeface="Calibri" pitchFamily="34" charset="-122"/>
                <a:cs typeface="Calibri" pitchFamily="34" charset="-120"/>
              </a:rPr>
              <a:t>Discouraged</a:t>
            </a:r>
            <a:endParaRPr lang="en-US" sz="1300" dirty="0"/>
          </a:p>
        </p:txBody>
      </p:sp>
      <p:sp>
        <p:nvSpPr>
          <p:cNvPr id="19" name="Text 17"/>
          <p:cNvSpPr/>
          <p:nvPr/>
        </p:nvSpPr>
        <p:spPr>
          <a:xfrm>
            <a:off x="8046720" y="3602736"/>
            <a:ext cx="3474720" cy="548640"/>
          </a:xfrm>
          <a:prstGeom prst="rect">
            <a:avLst/>
          </a:prstGeom>
          <a:noFill/>
          <a:ln/>
        </p:spPr>
        <p:txBody>
          <a:bodyPr wrap="square" lIns="0" tIns="0" rIns="0" bIns="0" rtlCol="0" anchor="ctr"/>
          <a:lstStyle/>
          <a:p>
            <a:pPr indent="0" marL="0">
              <a:buNone/>
            </a:pPr>
            <a:r>
              <a:rPr lang="en-US" sz="1300" dirty="0">
                <a:solidFill>
                  <a:srgbClr val="4E5D62"/>
                </a:solidFill>
                <a:latin typeface="Calibri" pitchFamily="34" charset="0"/>
                <a:ea typeface="Calibri" pitchFamily="34" charset="-122"/>
                <a:cs typeface="Calibri" pitchFamily="34" charset="-120"/>
              </a:rPr>
              <a:t>Fine, just re-prioritize</a:t>
            </a:r>
            <a:endParaRPr lang="en-US" sz="1300" dirty="0"/>
          </a:p>
        </p:txBody>
      </p:sp>
      <p:sp>
        <p:nvSpPr>
          <p:cNvPr id="20" name="Text 18"/>
          <p:cNvSpPr/>
          <p:nvPr/>
        </p:nvSpPr>
        <p:spPr>
          <a:xfrm>
            <a:off x="749808" y="4206240"/>
            <a:ext cx="3291840" cy="548640"/>
          </a:xfrm>
          <a:prstGeom prst="rect">
            <a:avLst/>
          </a:prstGeom>
          <a:noFill/>
          <a:ln/>
        </p:spPr>
        <p:txBody>
          <a:bodyPr wrap="square" lIns="0" tIns="0" rIns="0" bIns="0" rtlCol="0" anchor="ctr"/>
          <a:lstStyle/>
          <a:p>
            <a:pPr indent="0" marL="0">
              <a:buNone/>
            </a:pPr>
            <a:r>
              <a:rPr lang="en-US" sz="1350" b="1" dirty="0">
                <a:solidFill>
                  <a:srgbClr val="121D24"/>
                </a:solidFill>
                <a:latin typeface="Calibri" pitchFamily="34" charset="0"/>
                <a:ea typeface="Calibri" pitchFamily="34" charset="-122"/>
                <a:cs typeface="Calibri" pitchFamily="34" charset="-120"/>
              </a:rPr>
              <a:t>Key metric</a:t>
            </a:r>
            <a:endParaRPr lang="en-US" sz="1350" dirty="0"/>
          </a:p>
        </p:txBody>
      </p:sp>
      <p:sp>
        <p:nvSpPr>
          <p:cNvPr id="21" name="Text 19"/>
          <p:cNvSpPr/>
          <p:nvPr/>
        </p:nvSpPr>
        <p:spPr>
          <a:xfrm>
            <a:off x="4224528" y="4206240"/>
            <a:ext cx="3474720" cy="548640"/>
          </a:xfrm>
          <a:prstGeom prst="rect">
            <a:avLst/>
          </a:prstGeom>
          <a:noFill/>
          <a:ln/>
        </p:spPr>
        <p:txBody>
          <a:bodyPr wrap="square" lIns="0" tIns="0" rIns="0" bIns="0" rtlCol="0" anchor="ctr"/>
          <a:lstStyle/>
          <a:p>
            <a:pPr indent="0" marL="0">
              <a:buNone/>
            </a:pPr>
            <a:r>
              <a:rPr lang="en-US" sz="1300" dirty="0">
                <a:solidFill>
                  <a:srgbClr val="4E5D62"/>
                </a:solidFill>
                <a:latin typeface="Calibri" pitchFamily="34" charset="0"/>
                <a:ea typeface="Calibri" pitchFamily="34" charset="-122"/>
                <a:cs typeface="Calibri" pitchFamily="34" charset="-120"/>
              </a:rPr>
              <a:t>Velocity</a:t>
            </a:r>
            <a:endParaRPr lang="en-US" sz="1300" dirty="0"/>
          </a:p>
        </p:txBody>
      </p:sp>
      <p:sp>
        <p:nvSpPr>
          <p:cNvPr id="22" name="Text 20"/>
          <p:cNvSpPr/>
          <p:nvPr/>
        </p:nvSpPr>
        <p:spPr>
          <a:xfrm>
            <a:off x="8046720" y="4206240"/>
            <a:ext cx="3474720" cy="548640"/>
          </a:xfrm>
          <a:prstGeom prst="rect">
            <a:avLst/>
          </a:prstGeom>
          <a:noFill/>
          <a:ln/>
        </p:spPr>
        <p:txBody>
          <a:bodyPr wrap="square" lIns="0" tIns="0" rIns="0" bIns="0" rtlCol="0" anchor="ctr"/>
          <a:lstStyle/>
          <a:p>
            <a:pPr indent="0" marL="0">
              <a:buNone/>
            </a:pPr>
            <a:r>
              <a:rPr lang="en-US" sz="1300" dirty="0">
                <a:solidFill>
                  <a:srgbClr val="4E5D62"/>
                </a:solidFill>
                <a:latin typeface="Calibri" pitchFamily="34" charset="0"/>
                <a:ea typeface="Calibri" pitchFamily="34" charset="-122"/>
                <a:cs typeface="Calibri" pitchFamily="34" charset="-120"/>
              </a:rPr>
              <a:t>Cycle time / throughput</a:t>
            </a:r>
            <a:endParaRPr lang="en-US" sz="1300" dirty="0"/>
          </a:p>
        </p:txBody>
      </p:sp>
      <p:sp>
        <p:nvSpPr>
          <p:cNvPr id="23" name="Shape 21"/>
          <p:cNvSpPr/>
          <p:nvPr/>
        </p:nvSpPr>
        <p:spPr>
          <a:xfrm>
            <a:off x="566928" y="4809744"/>
            <a:ext cx="11057839" cy="548640"/>
          </a:xfrm>
          <a:prstGeom prst="rect">
            <a:avLst/>
          </a:prstGeom>
          <a:solidFill>
            <a:srgbClr val="EDF1F0"/>
          </a:solidFill>
          <a:ln/>
        </p:spPr>
      </p:sp>
      <p:sp>
        <p:nvSpPr>
          <p:cNvPr id="24" name="Text 22"/>
          <p:cNvSpPr/>
          <p:nvPr/>
        </p:nvSpPr>
        <p:spPr>
          <a:xfrm>
            <a:off x="749808" y="4809744"/>
            <a:ext cx="3291840" cy="548640"/>
          </a:xfrm>
          <a:prstGeom prst="rect">
            <a:avLst/>
          </a:prstGeom>
          <a:noFill/>
          <a:ln/>
        </p:spPr>
        <p:txBody>
          <a:bodyPr wrap="square" lIns="0" tIns="0" rIns="0" bIns="0" rtlCol="0" anchor="ctr"/>
          <a:lstStyle/>
          <a:p>
            <a:pPr indent="0" marL="0">
              <a:buNone/>
            </a:pPr>
            <a:r>
              <a:rPr lang="en-US" sz="1350" b="1" dirty="0">
                <a:solidFill>
                  <a:srgbClr val="121D24"/>
                </a:solidFill>
                <a:latin typeface="Calibri" pitchFamily="34" charset="0"/>
                <a:ea typeface="Calibri" pitchFamily="34" charset="-122"/>
                <a:cs typeface="Calibri" pitchFamily="34" charset="-120"/>
              </a:rPr>
              <a:t>Roles</a:t>
            </a:r>
            <a:endParaRPr lang="en-US" sz="1350" dirty="0"/>
          </a:p>
        </p:txBody>
      </p:sp>
      <p:sp>
        <p:nvSpPr>
          <p:cNvPr id="25" name="Text 23"/>
          <p:cNvSpPr/>
          <p:nvPr/>
        </p:nvSpPr>
        <p:spPr>
          <a:xfrm>
            <a:off x="4224528" y="4809744"/>
            <a:ext cx="3474720" cy="548640"/>
          </a:xfrm>
          <a:prstGeom prst="rect">
            <a:avLst/>
          </a:prstGeom>
          <a:noFill/>
          <a:ln/>
        </p:spPr>
        <p:txBody>
          <a:bodyPr wrap="square" lIns="0" tIns="0" rIns="0" bIns="0" rtlCol="0" anchor="ctr"/>
          <a:lstStyle/>
          <a:p>
            <a:pPr indent="0" marL="0">
              <a:buNone/>
            </a:pPr>
            <a:r>
              <a:rPr lang="en-US" sz="1300" dirty="0">
                <a:solidFill>
                  <a:srgbClr val="4E5D62"/>
                </a:solidFill>
                <a:latin typeface="Calibri" pitchFamily="34" charset="0"/>
                <a:ea typeface="Calibri" pitchFamily="34" charset="-122"/>
                <a:cs typeface="Calibri" pitchFamily="34" charset="-120"/>
              </a:rPr>
              <a:t>Three, prescribed</a:t>
            </a:r>
            <a:endParaRPr lang="en-US" sz="1300" dirty="0"/>
          </a:p>
        </p:txBody>
      </p:sp>
      <p:sp>
        <p:nvSpPr>
          <p:cNvPr id="26" name="Text 24"/>
          <p:cNvSpPr/>
          <p:nvPr/>
        </p:nvSpPr>
        <p:spPr>
          <a:xfrm>
            <a:off x="8046720" y="4809744"/>
            <a:ext cx="3474720" cy="548640"/>
          </a:xfrm>
          <a:prstGeom prst="rect">
            <a:avLst/>
          </a:prstGeom>
          <a:noFill/>
          <a:ln/>
        </p:spPr>
        <p:txBody>
          <a:bodyPr wrap="square" lIns="0" tIns="0" rIns="0" bIns="0" rtlCol="0" anchor="ctr"/>
          <a:lstStyle/>
          <a:p>
            <a:pPr indent="0" marL="0">
              <a:buNone/>
            </a:pPr>
            <a:r>
              <a:rPr lang="en-US" sz="1300" dirty="0">
                <a:solidFill>
                  <a:srgbClr val="4E5D62"/>
                </a:solidFill>
                <a:latin typeface="Calibri" pitchFamily="34" charset="0"/>
                <a:ea typeface="Calibri" pitchFamily="34" charset="-122"/>
                <a:cs typeface="Calibri" pitchFamily="34" charset="-120"/>
              </a:rPr>
              <a:t>None prescribed</a:t>
            </a:r>
            <a:endParaRPr lang="en-US" sz="1300" dirty="0"/>
          </a:p>
        </p:txBody>
      </p:sp>
      <p:sp>
        <p:nvSpPr>
          <p:cNvPr id="27" name="Text 25"/>
          <p:cNvSpPr/>
          <p:nvPr/>
        </p:nvSpPr>
        <p:spPr>
          <a:xfrm>
            <a:off x="749808" y="5413248"/>
            <a:ext cx="3291840" cy="548640"/>
          </a:xfrm>
          <a:prstGeom prst="rect">
            <a:avLst/>
          </a:prstGeom>
          <a:noFill/>
          <a:ln/>
        </p:spPr>
        <p:txBody>
          <a:bodyPr wrap="square" lIns="0" tIns="0" rIns="0" bIns="0" rtlCol="0" anchor="ctr"/>
          <a:lstStyle/>
          <a:p>
            <a:pPr indent="0" marL="0">
              <a:buNone/>
            </a:pPr>
            <a:r>
              <a:rPr lang="en-US" sz="1350" b="1" dirty="0">
                <a:solidFill>
                  <a:srgbClr val="121D24"/>
                </a:solidFill>
                <a:latin typeface="Calibri" pitchFamily="34" charset="0"/>
                <a:ea typeface="Calibri" pitchFamily="34" charset="-122"/>
                <a:cs typeface="Calibri" pitchFamily="34" charset="-120"/>
              </a:rPr>
              <a:t>Best for</a:t>
            </a:r>
            <a:endParaRPr lang="en-US" sz="1350" dirty="0"/>
          </a:p>
        </p:txBody>
      </p:sp>
      <p:sp>
        <p:nvSpPr>
          <p:cNvPr id="28" name="Text 26"/>
          <p:cNvSpPr/>
          <p:nvPr/>
        </p:nvSpPr>
        <p:spPr>
          <a:xfrm>
            <a:off x="4224528" y="5413248"/>
            <a:ext cx="3474720" cy="548640"/>
          </a:xfrm>
          <a:prstGeom prst="rect">
            <a:avLst/>
          </a:prstGeom>
          <a:noFill/>
          <a:ln/>
        </p:spPr>
        <p:txBody>
          <a:bodyPr wrap="square" lIns="0" tIns="0" rIns="0" bIns="0" rtlCol="0" anchor="ctr"/>
          <a:lstStyle/>
          <a:p>
            <a:pPr indent="0" marL="0">
              <a:buNone/>
            </a:pPr>
            <a:r>
              <a:rPr lang="en-US" sz="1300" dirty="0">
                <a:solidFill>
                  <a:srgbClr val="4E5D62"/>
                </a:solidFill>
                <a:latin typeface="Calibri" pitchFamily="34" charset="0"/>
                <a:ea typeface="Calibri" pitchFamily="34" charset="-122"/>
                <a:cs typeface="Calibri" pitchFamily="34" charset="-120"/>
              </a:rPr>
              <a:t>Feature work needing planning</a:t>
            </a:r>
            <a:endParaRPr lang="en-US" sz="1300" dirty="0"/>
          </a:p>
        </p:txBody>
      </p:sp>
      <p:sp>
        <p:nvSpPr>
          <p:cNvPr id="29" name="Text 27"/>
          <p:cNvSpPr/>
          <p:nvPr/>
        </p:nvSpPr>
        <p:spPr>
          <a:xfrm>
            <a:off x="8046720" y="5413248"/>
            <a:ext cx="3474720" cy="548640"/>
          </a:xfrm>
          <a:prstGeom prst="rect">
            <a:avLst/>
          </a:prstGeom>
          <a:noFill/>
          <a:ln/>
        </p:spPr>
        <p:txBody>
          <a:bodyPr wrap="square" lIns="0" tIns="0" rIns="0" bIns="0" rtlCol="0" anchor="ctr"/>
          <a:lstStyle/>
          <a:p>
            <a:pPr indent="0" marL="0">
              <a:buNone/>
            </a:pPr>
            <a:r>
              <a:rPr lang="en-US" sz="1300" dirty="0">
                <a:solidFill>
                  <a:srgbClr val="4E5D62"/>
                </a:solidFill>
                <a:latin typeface="Calibri" pitchFamily="34" charset="0"/>
                <a:ea typeface="Calibri" pitchFamily="34" charset="-122"/>
                <a:cs typeface="Calibri" pitchFamily="34" charset="-120"/>
              </a:rPr>
              <a:t>Support, ops, unpredictable inflow</a:t>
            </a:r>
            <a:endParaRPr lang="en-US" sz="1300" dirty="0"/>
          </a:p>
        </p:txBody>
      </p:sp>
      <p:sp>
        <p:nvSpPr>
          <p:cNvPr id="30" name="Shape 28"/>
          <p:cNvSpPr/>
          <p:nvPr/>
        </p:nvSpPr>
        <p:spPr>
          <a:xfrm>
            <a:off x="566928" y="5943600"/>
            <a:ext cx="11057839" cy="512064"/>
          </a:xfrm>
          <a:prstGeom prst="roundRect">
            <a:avLst>
              <a:gd name="adj" fmla="val 14286"/>
            </a:avLst>
          </a:prstGeom>
          <a:solidFill>
            <a:srgbClr val="D7E8E2"/>
          </a:solidFill>
          <a:ln/>
        </p:spPr>
      </p:sp>
      <p:sp>
        <p:nvSpPr>
          <p:cNvPr id="31" name="Text 29"/>
          <p:cNvSpPr/>
          <p:nvPr/>
        </p:nvSpPr>
        <p:spPr>
          <a:xfrm>
            <a:off x="822960" y="5943600"/>
            <a:ext cx="10545775" cy="512064"/>
          </a:xfrm>
          <a:prstGeom prst="rect">
            <a:avLst/>
          </a:prstGeom>
          <a:noFill/>
          <a:ln/>
        </p:spPr>
        <p:txBody>
          <a:bodyPr wrap="square" lIns="0" tIns="0" rIns="0" bIns="0" rtlCol="0" anchor="ctr"/>
          <a:lstStyle/>
          <a:p>
            <a:pPr indent="0" marL="0">
              <a:buNone/>
            </a:pPr>
            <a:r>
              <a:rPr lang="en-US" sz="1300" dirty="0">
                <a:solidFill>
                  <a:srgbClr val="27443E"/>
                </a:solidFill>
                <a:latin typeface="Calibri" pitchFamily="34" charset="0"/>
                <a:ea typeface="Calibri" pitchFamily="34" charset="-122"/>
                <a:cs typeface="Calibri" pitchFamily="34" charset="-120"/>
              </a:rPr>
              <a:t>Many teams run Scrumban: sprints for planning cadence, WIP limits for flow control. That is a legitimate answer, not a cop-out.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20" kern="0" dirty="0">
                <a:solidFill>
                  <a:srgbClr val="E0512B"/>
                </a:solidFill>
                <a:latin typeface="Courier New" pitchFamily="34" charset="0"/>
                <a:ea typeface="Courier New" pitchFamily="34" charset="-122"/>
                <a:cs typeface="Courier New" pitchFamily="34" charset="-120"/>
              </a:rPr>
              <a:t>06 / ESTIMATION</a:t>
            </a:r>
            <a:endParaRPr lang="en-US" sz="1100" dirty="0"/>
          </a:p>
        </p:txBody>
      </p:sp>
      <p:sp>
        <p:nvSpPr>
          <p:cNvPr id="3" name="Text 1"/>
          <p:cNvSpPr/>
          <p:nvPr/>
        </p:nvSpPr>
        <p:spPr>
          <a:xfrm>
            <a:off x="566928" y="676656"/>
            <a:ext cx="11057839" cy="658368"/>
          </a:xfrm>
          <a:prstGeom prst="rect">
            <a:avLst/>
          </a:prstGeom>
          <a:noFill/>
          <a:ln/>
        </p:spPr>
        <p:txBody>
          <a:bodyPr wrap="square" lIns="0" tIns="0" rIns="0" bIns="0" rtlCol="0" anchor="ctr"/>
          <a:lstStyle/>
          <a:p>
            <a:pPr algn="l" indent="0" marL="0">
              <a:buNone/>
            </a:pPr>
            <a:r>
              <a:rPr lang="en-US" sz="3400" b="1" dirty="0">
                <a:solidFill>
                  <a:srgbClr val="121D24"/>
                </a:solidFill>
                <a:latin typeface="Calibri" pitchFamily="34" charset="0"/>
                <a:ea typeface="Calibri" pitchFamily="34" charset="-122"/>
                <a:cs typeface="Calibri" pitchFamily="34" charset="-120"/>
              </a:rPr>
              <a:t>Story points measure size, not hours</a:t>
            </a:r>
            <a:endParaRPr lang="en-US" sz="3400" dirty="0"/>
          </a:p>
        </p:txBody>
      </p:sp>
      <p:sp>
        <p:nvSpPr>
          <p:cNvPr id="4" name="Text 2"/>
          <p:cNvSpPr/>
          <p:nvPr/>
        </p:nvSpPr>
        <p:spPr>
          <a:xfrm>
            <a:off x="566928" y="1335024"/>
            <a:ext cx="10515600" cy="457200"/>
          </a:xfrm>
          <a:prstGeom prst="rect">
            <a:avLst/>
          </a:prstGeom>
          <a:noFill/>
          <a:ln/>
        </p:spPr>
        <p:txBody>
          <a:bodyPr wrap="square" lIns="0" tIns="0" rIns="0" bIns="0" rtlCol="0" anchor="t"/>
          <a:lstStyle/>
          <a:p>
            <a:pPr indent="0" marL="0">
              <a:lnSpc>
                <a:spcPts val="1900"/>
              </a:lnSpc>
              <a:buNone/>
            </a:pPr>
            <a:r>
              <a:rPr lang="en-US" sz="1450" dirty="0">
                <a:solidFill>
                  <a:srgbClr val="6B7A7F"/>
                </a:solidFill>
                <a:latin typeface="Calibri" pitchFamily="34" charset="0"/>
                <a:ea typeface="Calibri" pitchFamily="34" charset="-122"/>
                <a:cs typeface="Calibri" pitchFamily="34" charset="-120"/>
              </a:rPr>
              <a:t>Points bundle complexity, uncertainty and effort into one relative number. Humans are bad at absolute duration estimates and good at comparative ones.</a:t>
            </a:r>
            <a:endParaRPr lang="en-US" sz="1450" dirty="0"/>
          </a:p>
        </p:txBody>
      </p:sp>
      <p:sp>
        <p:nvSpPr>
          <p:cNvPr id="5" name="Shape 3"/>
          <p:cNvSpPr/>
          <p:nvPr/>
        </p:nvSpPr>
        <p:spPr>
          <a:xfrm>
            <a:off x="566928" y="2212848"/>
            <a:ext cx="822960" cy="822960"/>
          </a:xfrm>
          <a:prstGeom prst="roundRect">
            <a:avLst>
              <a:gd name="adj" fmla="val 11111"/>
            </a:avLst>
          </a:prstGeom>
          <a:solidFill>
            <a:srgbClr val="0F4C42"/>
          </a:solidFill>
          <a:ln/>
          <a:effectLst>
            <a:outerShdw sx="100000" sy="100000" kx="0" ky="0" algn="bl" rotWithShape="0" blurRad="88900" dist="25400" dir="5400000">
              <a:srgbClr val="0B1418">
                <a:alpha val="14000"/>
              </a:srgbClr>
            </a:outerShdw>
          </a:effectLst>
        </p:spPr>
      </p:sp>
      <p:sp>
        <p:nvSpPr>
          <p:cNvPr id="6" name="Text 4"/>
          <p:cNvSpPr/>
          <p:nvPr/>
        </p:nvSpPr>
        <p:spPr>
          <a:xfrm>
            <a:off x="566928" y="2212848"/>
            <a:ext cx="82296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1</a:t>
            </a:r>
            <a:endParaRPr lang="en-US" sz="2000" dirty="0"/>
          </a:p>
        </p:txBody>
      </p:sp>
      <p:sp>
        <p:nvSpPr>
          <p:cNvPr id="7" name="Shape 5"/>
          <p:cNvSpPr/>
          <p:nvPr/>
        </p:nvSpPr>
        <p:spPr>
          <a:xfrm>
            <a:off x="1536192" y="2212848"/>
            <a:ext cx="822960" cy="822960"/>
          </a:xfrm>
          <a:prstGeom prst="roundRect">
            <a:avLst>
              <a:gd name="adj" fmla="val 11111"/>
            </a:avLst>
          </a:prstGeom>
          <a:solidFill>
            <a:srgbClr val="0F4C42"/>
          </a:solidFill>
          <a:ln/>
          <a:effectLst>
            <a:outerShdw sx="100000" sy="100000" kx="0" ky="0" algn="bl" rotWithShape="0" blurRad="88900" dist="25400" dir="5400000">
              <a:srgbClr val="0B1418">
                <a:alpha val="14000"/>
              </a:srgbClr>
            </a:outerShdw>
          </a:effectLst>
        </p:spPr>
      </p:sp>
      <p:sp>
        <p:nvSpPr>
          <p:cNvPr id="8" name="Text 6"/>
          <p:cNvSpPr/>
          <p:nvPr/>
        </p:nvSpPr>
        <p:spPr>
          <a:xfrm>
            <a:off x="1536192" y="2212848"/>
            <a:ext cx="82296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2</a:t>
            </a:r>
            <a:endParaRPr lang="en-US" sz="2000" dirty="0"/>
          </a:p>
        </p:txBody>
      </p:sp>
      <p:sp>
        <p:nvSpPr>
          <p:cNvPr id="9" name="Shape 7"/>
          <p:cNvSpPr/>
          <p:nvPr/>
        </p:nvSpPr>
        <p:spPr>
          <a:xfrm>
            <a:off x="2505456" y="2212848"/>
            <a:ext cx="822960" cy="822960"/>
          </a:xfrm>
          <a:prstGeom prst="roundRect">
            <a:avLst>
              <a:gd name="adj" fmla="val 11111"/>
            </a:avLst>
          </a:prstGeom>
          <a:solidFill>
            <a:srgbClr val="0F4C42"/>
          </a:solidFill>
          <a:ln/>
          <a:effectLst>
            <a:outerShdw sx="100000" sy="100000" kx="0" ky="0" algn="bl" rotWithShape="0" blurRad="88900" dist="25400" dir="5400000">
              <a:srgbClr val="0B1418">
                <a:alpha val="14000"/>
              </a:srgbClr>
            </a:outerShdw>
          </a:effectLst>
        </p:spPr>
      </p:sp>
      <p:sp>
        <p:nvSpPr>
          <p:cNvPr id="10" name="Text 8"/>
          <p:cNvSpPr/>
          <p:nvPr/>
        </p:nvSpPr>
        <p:spPr>
          <a:xfrm>
            <a:off x="2505456" y="2212848"/>
            <a:ext cx="82296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3</a:t>
            </a:r>
            <a:endParaRPr lang="en-US" sz="2000" dirty="0"/>
          </a:p>
        </p:txBody>
      </p:sp>
      <p:sp>
        <p:nvSpPr>
          <p:cNvPr id="11" name="Shape 9"/>
          <p:cNvSpPr/>
          <p:nvPr/>
        </p:nvSpPr>
        <p:spPr>
          <a:xfrm>
            <a:off x="3474720" y="2212848"/>
            <a:ext cx="822960" cy="822960"/>
          </a:xfrm>
          <a:prstGeom prst="roundRect">
            <a:avLst>
              <a:gd name="adj" fmla="val 11111"/>
            </a:avLst>
          </a:prstGeom>
          <a:solidFill>
            <a:srgbClr val="0F4C42"/>
          </a:solidFill>
          <a:ln/>
          <a:effectLst>
            <a:outerShdw sx="100000" sy="100000" kx="0" ky="0" algn="bl" rotWithShape="0" blurRad="88900" dist="25400" dir="5400000">
              <a:srgbClr val="0B1418">
                <a:alpha val="14000"/>
              </a:srgbClr>
            </a:outerShdw>
          </a:effectLst>
        </p:spPr>
      </p:sp>
      <p:sp>
        <p:nvSpPr>
          <p:cNvPr id="12" name="Text 10"/>
          <p:cNvSpPr/>
          <p:nvPr/>
        </p:nvSpPr>
        <p:spPr>
          <a:xfrm>
            <a:off x="3474720" y="2212848"/>
            <a:ext cx="82296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5</a:t>
            </a:r>
            <a:endParaRPr lang="en-US" sz="2000" dirty="0"/>
          </a:p>
        </p:txBody>
      </p:sp>
      <p:sp>
        <p:nvSpPr>
          <p:cNvPr id="13" name="Shape 11"/>
          <p:cNvSpPr/>
          <p:nvPr/>
        </p:nvSpPr>
        <p:spPr>
          <a:xfrm>
            <a:off x="4443984" y="2212848"/>
            <a:ext cx="822960" cy="822960"/>
          </a:xfrm>
          <a:prstGeom prst="roundRect">
            <a:avLst>
              <a:gd name="adj" fmla="val 11111"/>
            </a:avLst>
          </a:prstGeom>
          <a:solidFill>
            <a:srgbClr val="0F4C42"/>
          </a:solidFill>
          <a:ln/>
          <a:effectLst>
            <a:outerShdw sx="100000" sy="100000" kx="0" ky="0" algn="bl" rotWithShape="0" blurRad="88900" dist="25400" dir="5400000">
              <a:srgbClr val="0B1418">
                <a:alpha val="14000"/>
              </a:srgbClr>
            </a:outerShdw>
          </a:effectLst>
        </p:spPr>
      </p:sp>
      <p:sp>
        <p:nvSpPr>
          <p:cNvPr id="14" name="Text 12"/>
          <p:cNvSpPr/>
          <p:nvPr/>
        </p:nvSpPr>
        <p:spPr>
          <a:xfrm>
            <a:off x="4443984" y="2212848"/>
            <a:ext cx="82296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8</a:t>
            </a:r>
            <a:endParaRPr lang="en-US" sz="2000" dirty="0"/>
          </a:p>
        </p:txBody>
      </p:sp>
      <p:sp>
        <p:nvSpPr>
          <p:cNvPr id="15" name="Shape 13"/>
          <p:cNvSpPr/>
          <p:nvPr/>
        </p:nvSpPr>
        <p:spPr>
          <a:xfrm>
            <a:off x="5413248" y="2212848"/>
            <a:ext cx="822960" cy="822960"/>
          </a:xfrm>
          <a:prstGeom prst="roundRect">
            <a:avLst>
              <a:gd name="adj" fmla="val 11111"/>
            </a:avLst>
          </a:prstGeom>
          <a:solidFill>
            <a:srgbClr val="E0512B"/>
          </a:solidFill>
          <a:ln/>
          <a:effectLst>
            <a:outerShdw sx="100000" sy="100000" kx="0" ky="0" algn="bl" rotWithShape="0" blurRad="88900" dist="25400" dir="5400000">
              <a:srgbClr val="0B1418">
                <a:alpha val="14000"/>
              </a:srgbClr>
            </a:outerShdw>
          </a:effectLst>
        </p:spPr>
      </p:sp>
      <p:sp>
        <p:nvSpPr>
          <p:cNvPr id="16" name="Text 14"/>
          <p:cNvSpPr/>
          <p:nvPr/>
        </p:nvSpPr>
        <p:spPr>
          <a:xfrm>
            <a:off x="5413248" y="2212848"/>
            <a:ext cx="82296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13</a:t>
            </a:r>
            <a:endParaRPr lang="en-US" sz="2000" dirty="0"/>
          </a:p>
        </p:txBody>
      </p:sp>
      <p:sp>
        <p:nvSpPr>
          <p:cNvPr id="17" name="Shape 15"/>
          <p:cNvSpPr/>
          <p:nvPr/>
        </p:nvSpPr>
        <p:spPr>
          <a:xfrm>
            <a:off x="6382512" y="2212848"/>
            <a:ext cx="822960" cy="822960"/>
          </a:xfrm>
          <a:prstGeom prst="roundRect">
            <a:avLst>
              <a:gd name="adj" fmla="val 11111"/>
            </a:avLst>
          </a:prstGeom>
          <a:solidFill>
            <a:srgbClr val="E0512B"/>
          </a:solidFill>
          <a:ln/>
          <a:effectLst>
            <a:outerShdw sx="100000" sy="100000" kx="0" ky="0" algn="bl" rotWithShape="0" blurRad="88900" dist="25400" dir="5400000">
              <a:srgbClr val="0B1418">
                <a:alpha val="14000"/>
              </a:srgbClr>
            </a:outerShdw>
          </a:effectLst>
        </p:spPr>
      </p:sp>
      <p:sp>
        <p:nvSpPr>
          <p:cNvPr id="18" name="Text 16"/>
          <p:cNvSpPr/>
          <p:nvPr/>
        </p:nvSpPr>
        <p:spPr>
          <a:xfrm>
            <a:off x="6382512" y="2212848"/>
            <a:ext cx="82296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21</a:t>
            </a:r>
            <a:endParaRPr lang="en-US" sz="2000" dirty="0"/>
          </a:p>
        </p:txBody>
      </p:sp>
      <p:sp>
        <p:nvSpPr>
          <p:cNvPr id="19" name="Text 17"/>
          <p:cNvSpPr/>
          <p:nvPr/>
        </p:nvSpPr>
        <p:spPr>
          <a:xfrm>
            <a:off x="7589520" y="2212848"/>
            <a:ext cx="4023360" cy="822960"/>
          </a:xfrm>
          <a:prstGeom prst="rect">
            <a:avLst/>
          </a:prstGeom>
          <a:noFill/>
          <a:ln/>
        </p:spPr>
        <p:txBody>
          <a:bodyPr wrap="square" lIns="0" tIns="0" rIns="0" bIns="0" rtlCol="0" anchor="ctr"/>
          <a:lstStyle/>
          <a:p>
            <a:pPr indent="0" marL="0">
              <a:lnSpc>
                <a:spcPts val="1600"/>
              </a:lnSpc>
              <a:buNone/>
            </a:pPr>
            <a:r>
              <a:rPr lang="en-US" sz="1200" dirty="0">
                <a:solidFill>
                  <a:srgbClr val="6B7A7F"/>
                </a:solidFill>
                <a:latin typeface="Calibri" pitchFamily="34" charset="0"/>
                <a:ea typeface="Calibri" pitchFamily="34" charset="-122"/>
                <a:cs typeface="Calibri" pitchFamily="34" charset="-120"/>
              </a:rPr>
              <a:t>↑ gaps widen because certainty falls — a 13 is not "13 ones", it is "we are guessing"</a:t>
            </a:r>
            <a:endParaRPr lang="en-US" sz="1200" dirty="0"/>
          </a:p>
        </p:txBody>
      </p:sp>
      <p:sp>
        <p:nvSpPr>
          <p:cNvPr id="20" name="Shape 18"/>
          <p:cNvSpPr/>
          <p:nvPr/>
        </p:nvSpPr>
        <p:spPr>
          <a:xfrm>
            <a:off x="566928" y="3346704"/>
            <a:ext cx="5486400" cy="2157984"/>
          </a:xfrm>
          <a:prstGeom prst="roundRect">
            <a:avLst>
              <a:gd name="adj" fmla="val 5085"/>
            </a:avLst>
          </a:prstGeom>
          <a:solidFill>
            <a:srgbClr val="EDF1F0"/>
          </a:solidFill>
          <a:ln/>
          <a:effectLst>
            <a:outerShdw sx="100000" sy="100000" kx="0" ky="0" algn="bl" rotWithShape="0" blurRad="127000" dist="38100" dir="5400000">
              <a:srgbClr val="0B1418">
                <a:alpha val="13000"/>
              </a:srgbClr>
            </a:outerShdw>
          </a:effectLst>
        </p:spPr>
      </p:sp>
      <p:sp>
        <p:nvSpPr>
          <p:cNvPr id="21" name="Text 19"/>
          <p:cNvSpPr/>
          <p:nvPr/>
        </p:nvSpPr>
        <p:spPr>
          <a:xfrm>
            <a:off x="877824" y="3566160"/>
            <a:ext cx="4846320" cy="329184"/>
          </a:xfrm>
          <a:prstGeom prst="rect">
            <a:avLst/>
          </a:prstGeom>
          <a:noFill/>
          <a:ln/>
        </p:spPr>
        <p:txBody>
          <a:bodyPr wrap="square" lIns="0" tIns="0" rIns="0" bIns="0" rtlCol="0" anchor="ctr"/>
          <a:lstStyle/>
          <a:p>
            <a:pPr indent="0" marL="0">
              <a:buNone/>
            </a:pPr>
            <a:r>
              <a:rPr lang="en-US" sz="1800" b="1" dirty="0">
                <a:solidFill>
                  <a:srgbClr val="121D24"/>
                </a:solidFill>
                <a:latin typeface="Calibri" pitchFamily="34" charset="0"/>
                <a:ea typeface="Calibri" pitchFamily="34" charset="-122"/>
                <a:cs typeface="Calibri" pitchFamily="34" charset="-120"/>
              </a:rPr>
              <a:t>Planning Poker</a:t>
            </a:r>
            <a:endParaRPr lang="en-US" sz="1800" dirty="0"/>
          </a:p>
        </p:txBody>
      </p:sp>
      <p:sp>
        <p:nvSpPr>
          <p:cNvPr id="22" name="Text 20"/>
          <p:cNvSpPr/>
          <p:nvPr/>
        </p:nvSpPr>
        <p:spPr>
          <a:xfrm>
            <a:off x="877824" y="3968496"/>
            <a:ext cx="4846320" cy="1371600"/>
          </a:xfrm>
          <a:prstGeom prst="rect">
            <a:avLst/>
          </a:prstGeom>
          <a:noFill/>
          <a:ln/>
        </p:spPr>
        <p:txBody>
          <a:bodyPr wrap="square" lIns="0" tIns="0" rIns="0" bIns="0" rtlCol="0" anchor="ctr"/>
          <a:lstStyle/>
          <a:p>
            <a:pPr indent="0" marL="0">
              <a:lnSpc>
                <a:spcPts val="1800"/>
              </a:lnSpc>
              <a:buNone/>
            </a:pPr>
            <a:r>
              <a:rPr lang="en-US" sz="1300" dirty="0">
                <a:solidFill>
                  <a:srgbClr val="4E5D62"/>
                </a:solidFill>
                <a:latin typeface="Calibri" pitchFamily="34" charset="0"/>
                <a:ea typeface="Calibri" pitchFamily="34" charset="-122"/>
                <a:cs typeface="Calibri" pitchFamily="34" charset="-120"/>
              </a:rPr>
              <a:t>Everyone estimates simultaneously and privately, then reveals at once. Simultaneity prevents anchoring on the loudest voice in the room.</a:t>
            </a:r>
            <a:endParaRPr lang="en-US" sz="1300" dirty="0"/>
          </a:p>
          <a:p>
            <a:pPr indent="0" marL="0">
              <a:lnSpc>
                <a:spcPts val="1800"/>
              </a:lnSpc>
              <a:buNone/>
            </a:pPr>
            <a:endParaRPr lang="en-US" sz="1300" dirty="0"/>
          </a:p>
          <a:p>
            <a:pPr indent="0" marL="0">
              <a:lnSpc>
                <a:spcPts val="1800"/>
              </a:lnSpc>
              <a:buNone/>
            </a:pPr>
            <a:r>
              <a:rPr lang="en-US" sz="1300" dirty="0">
                <a:solidFill>
                  <a:srgbClr val="4E5D62"/>
                </a:solidFill>
                <a:latin typeface="Calibri" pitchFamily="34" charset="0"/>
                <a:ea typeface="Calibri" pitchFamily="34" charset="-122"/>
                <a:cs typeface="Calibri" pitchFamily="34" charset="-120"/>
              </a:rPr>
              <a:t>Divergence means people understand the story differently. That conversation is the actual value — the number is a by-product.</a:t>
            </a:r>
            <a:endParaRPr lang="en-US" sz="1300" dirty="0"/>
          </a:p>
        </p:txBody>
      </p:sp>
      <p:sp>
        <p:nvSpPr>
          <p:cNvPr id="23" name="Shape 21"/>
          <p:cNvSpPr/>
          <p:nvPr/>
        </p:nvSpPr>
        <p:spPr>
          <a:xfrm>
            <a:off x="6309360" y="3346704"/>
            <a:ext cx="5330952" cy="2157984"/>
          </a:xfrm>
          <a:prstGeom prst="roundRect">
            <a:avLst>
              <a:gd name="adj" fmla="val 5085"/>
            </a:avLst>
          </a:prstGeom>
          <a:solidFill>
            <a:srgbClr val="121D24"/>
          </a:solidFill>
          <a:ln/>
          <a:effectLst>
            <a:outerShdw sx="100000" sy="100000" kx="0" ky="0" algn="bl" rotWithShape="0" blurRad="127000" dist="38100" dir="5400000">
              <a:srgbClr val="0B1418">
                <a:alpha val="13000"/>
              </a:srgbClr>
            </a:outerShdw>
          </a:effectLst>
        </p:spPr>
      </p:sp>
      <p:sp>
        <p:nvSpPr>
          <p:cNvPr id="24" name="Shape 22"/>
          <p:cNvSpPr/>
          <p:nvPr/>
        </p:nvSpPr>
        <p:spPr>
          <a:xfrm>
            <a:off x="6601968" y="3602736"/>
            <a:ext cx="603504" cy="603504"/>
          </a:xfrm>
          <a:prstGeom prst="ellipse">
            <a:avLst/>
          </a:prstGeom>
          <a:solidFill>
            <a:srgbClr val="E0512B"/>
          </a:solidFill>
          <a:ln/>
        </p:spPr>
      </p:sp>
      <p:pic>
        <p:nvPicPr>
          <p:cNvPr id="25" name="Image 0" descr="/home/claude/agile/icons/warn.png">    </p:cNvPr>
          <p:cNvPicPr>
            <a:picLocks noChangeAspect="1"/>
          </p:cNvPicPr>
          <p:nvPr/>
        </p:nvPicPr>
        <p:blipFill>
          <a:blip r:embed="rId1"/>
          <a:stretch>
            <a:fillRect/>
          </a:stretch>
        </p:blipFill>
        <p:spPr>
          <a:xfrm>
            <a:off x="6770949" y="3771717"/>
            <a:ext cx="265542" cy="265542"/>
          </a:xfrm>
          <a:prstGeom prst="rect">
            <a:avLst/>
          </a:prstGeom>
        </p:spPr>
      </p:pic>
      <p:sp>
        <p:nvSpPr>
          <p:cNvPr id="26" name="Text 23"/>
          <p:cNvSpPr/>
          <p:nvPr/>
        </p:nvSpPr>
        <p:spPr>
          <a:xfrm>
            <a:off x="7370064" y="3566160"/>
            <a:ext cx="4023360" cy="676656"/>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Velocity is not a performance metric</a:t>
            </a:r>
            <a:endParaRPr lang="en-US" sz="1700" dirty="0"/>
          </a:p>
        </p:txBody>
      </p:sp>
      <p:sp>
        <p:nvSpPr>
          <p:cNvPr id="27" name="Text 24"/>
          <p:cNvSpPr/>
          <p:nvPr/>
        </p:nvSpPr>
        <p:spPr>
          <a:xfrm>
            <a:off x="6601968" y="4352544"/>
            <a:ext cx="4754880" cy="1005840"/>
          </a:xfrm>
          <a:prstGeom prst="rect">
            <a:avLst/>
          </a:prstGeom>
          <a:noFill/>
          <a:ln/>
        </p:spPr>
        <p:txBody>
          <a:bodyPr wrap="square" lIns="0" tIns="0" rIns="0" bIns="0" rtlCol="0" anchor="ctr"/>
          <a:lstStyle/>
          <a:p>
            <a:pPr indent="0" marL="0">
              <a:lnSpc>
                <a:spcPts val="1800"/>
              </a:lnSpc>
              <a:buNone/>
            </a:pPr>
            <a:r>
              <a:rPr lang="en-US" sz="1300" dirty="0">
                <a:solidFill>
                  <a:srgbClr val="B9C7CB"/>
                </a:solidFill>
                <a:latin typeface="Calibri" pitchFamily="34" charset="0"/>
                <a:ea typeface="Calibri" pitchFamily="34" charset="-122"/>
                <a:cs typeface="Calibri" pitchFamily="34" charset="-120"/>
              </a:rPr>
              <a:t>It is a forecasting tool the team uses on itself. The moment velocity becomes a target, teams inflate estimates and the number stops meaning anything. This is Goodhart's Law and it happens with near-total reliability.</a:t>
            </a:r>
            <a:endParaRPr lang="en-US" sz="1300" dirty="0"/>
          </a:p>
        </p:txBody>
      </p:sp>
      <p:sp>
        <p:nvSpPr>
          <p:cNvPr id="28" name="Text 25"/>
          <p:cNvSpPr/>
          <p:nvPr/>
        </p:nvSpPr>
        <p:spPr>
          <a:xfrm>
            <a:off x="566928" y="6108192"/>
            <a:ext cx="11057839" cy="438912"/>
          </a:xfrm>
          <a:prstGeom prst="rect">
            <a:avLst/>
          </a:prstGeom>
          <a:noFill/>
          <a:ln/>
        </p:spPr>
        <p:txBody>
          <a:bodyPr wrap="square" lIns="0" tIns="0" rIns="0" bIns="0" rtlCol="0" anchor="ctr"/>
          <a:lstStyle/>
          <a:p>
            <a:pPr indent="0" marL="0">
              <a:lnSpc>
                <a:spcPts val="1500"/>
              </a:lnSpc>
              <a:buNone/>
            </a:pPr>
            <a:r>
              <a:rPr lang="en-US" sz="1050" dirty="0">
                <a:solidFill>
                  <a:srgbClr val="6B7A7F"/>
                </a:solidFill>
                <a:latin typeface="Courier New" pitchFamily="34" charset="0"/>
                <a:ea typeface="Courier New" pitchFamily="34" charset="-122"/>
                <a:cs typeface="Courier New" pitchFamily="34" charset="-120"/>
              </a:rPr>
              <a:t>Never compare velocity across teams. Points are a private unit — one team's 5 has no relationship to another's.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20" kern="0" dirty="0">
                <a:solidFill>
                  <a:srgbClr val="E0512B"/>
                </a:solidFill>
                <a:latin typeface="Courier New" pitchFamily="34" charset="0"/>
                <a:ea typeface="Courier New" pitchFamily="34" charset="-122"/>
                <a:cs typeface="Courier New" pitchFamily="34" charset="-120"/>
              </a:rPr>
              <a:t>06 / ESTIMATION</a:t>
            </a:r>
            <a:endParaRPr lang="en-US" sz="1100" dirty="0"/>
          </a:p>
        </p:txBody>
      </p:sp>
      <p:sp>
        <p:nvSpPr>
          <p:cNvPr id="3" name="Text 1"/>
          <p:cNvSpPr/>
          <p:nvPr/>
        </p:nvSpPr>
        <p:spPr>
          <a:xfrm>
            <a:off x="566928" y="676656"/>
            <a:ext cx="11057839" cy="658368"/>
          </a:xfrm>
          <a:prstGeom prst="rect">
            <a:avLst/>
          </a:prstGeom>
          <a:noFill/>
          <a:ln/>
        </p:spPr>
        <p:txBody>
          <a:bodyPr wrap="square" lIns="0" tIns="0" rIns="0" bIns="0" rtlCol="0" anchor="ctr"/>
          <a:lstStyle/>
          <a:p>
            <a:pPr algn="l" indent="0" marL="0">
              <a:buNone/>
            </a:pPr>
            <a:r>
              <a:rPr lang="en-US" sz="3400" b="1" dirty="0">
                <a:solidFill>
                  <a:srgbClr val="121D24"/>
                </a:solidFill>
                <a:latin typeface="Calibri" pitchFamily="34" charset="0"/>
                <a:ea typeface="Calibri" pitchFamily="34" charset="-122"/>
                <a:cs typeface="Calibri" pitchFamily="34" charset="-120"/>
              </a:rPr>
              <a:t>Velocity: what a healthy team looks like</a:t>
            </a:r>
            <a:endParaRPr lang="en-US" sz="3400" dirty="0"/>
          </a:p>
        </p:txBody>
      </p:sp>
      <p:graphicFrame>
        <p:nvGraphicFramePr>
          <p:cNvPr id="4" name="Chart 0" descr=""/>
          <p:cNvGraphicFramePr/>
          <p:nvPr/>
        </p:nvGraphicFramePr>
        <p:xfrm>
          <a:off x="566928" y="1572768"/>
          <a:ext cx="6949440" cy="38404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772400" y="1572768"/>
            <a:ext cx="3858768" cy="1828800"/>
          </a:xfrm>
          <a:prstGeom prst="roundRect">
            <a:avLst>
              <a:gd name="adj" fmla="val 6000"/>
            </a:avLst>
          </a:prstGeom>
          <a:solidFill>
            <a:srgbClr val="D7E8E2"/>
          </a:solidFill>
          <a:ln/>
          <a:effectLst>
            <a:outerShdw sx="100000" sy="100000" kx="0" ky="0" algn="bl" rotWithShape="0" blurRad="127000" dist="38100" dir="5400000">
              <a:srgbClr val="0B1418">
                <a:alpha val="13000"/>
              </a:srgbClr>
            </a:outerShdw>
          </a:effectLst>
        </p:spPr>
      </p:sp>
      <p:sp>
        <p:nvSpPr>
          <p:cNvPr id="6" name="Text 3"/>
          <p:cNvSpPr/>
          <p:nvPr/>
        </p:nvSpPr>
        <p:spPr>
          <a:xfrm>
            <a:off x="8065008" y="1792224"/>
            <a:ext cx="3291840" cy="292608"/>
          </a:xfrm>
          <a:prstGeom prst="rect">
            <a:avLst/>
          </a:prstGeom>
          <a:noFill/>
          <a:ln/>
        </p:spPr>
        <p:txBody>
          <a:bodyPr wrap="square" lIns="0" tIns="0" rIns="0" bIns="0" rtlCol="0" anchor="ctr"/>
          <a:lstStyle/>
          <a:p>
            <a:pPr indent="0" marL="0">
              <a:buNone/>
            </a:pPr>
            <a:r>
              <a:rPr lang="en-US" sz="1600" b="1" dirty="0">
                <a:solidFill>
                  <a:srgbClr val="0F4C42"/>
                </a:solidFill>
                <a:latin typeface="Calibri" pitchFamily="34" charset="0"/>
                <a:ea typeface="Calibri" pitchFamily="34" charset="-122"/>
                <a:cs typeface="Calibri" pitchFamily="34" charset="-120"/>
              </a:rPr>
              <a:t>Read it as a range</a:t>
            </a:r>
            <a:endParaRPr lang="en-US" sz="1600" dirty="0"/>
          </a:p>
        </p:txBody>
      </p:sp>
      <p:sp>
        <p:nvSpPr>
          <p:cNvPr id="7" name="Text 4"/>
          <p:cNvSpPr/>
          <p:nvPr/>
        </p:nvSpPr>
        <p:spPr>
          <a:xfrm>
            <a:off x="8065008" y="2157984"/>
            <a:ext cx="3291840" cy="1060704"/>
          </a:xfrm>
          <a:prstGeom prst="rect">
            <a:avLst/>
          </a:prstGeom>
          <a:noFill/>
          <a:ln/>
        </p:spPr>
        <p:txBody>
          <a:bodyPr wrap="square" lIns="0" tIns="0" rIns="0" bIns="0" rtlCol="0" anchor="ctr"/>
          <a:lstStyle/>
          <a:p>
            <a:pPr indent="0" marL="0">
              <a:lnSpc>
                <a:spcPts val="1700"/>
              </a:lnSpc>
              <a:buNone/>
            </a:pPr>
            <a:r>
              <a:rPr lang="en-US" sz="1250" dirty="0">
                <a:solidFill>
                  <a:srgbClr val="27443E"/>
                </a:solidFill>
                <a:latin typeface="Calibri" pitchFamily="34" charset="0"/>
                <a:ea typeface="Calibri" pitchFamily="34" charset="-122"/>
                <a:cs typeface="Calibri" pitchFamily="34" charset="-120"/>
              </a:rPr>
              <a:t>Forecast with the last 3–5 sprints as a band (here: 33–38), not with a single average. The variance is information, not noise.</a:t>
            </a:r>
            <a:endParaRPr lang="en-US" sz="1250" dirty="0"/>
          </a:p>
        </p:txBody>
      </p:sp>
      <p:sp>
        <p:nvSpPr>
          <p:cNvPr id="8" name="Shape 5"/>
          <p:cNvSpPr/>
          <p:nvPr/>
        </p:nvSpPr>
        <p:spPr>
          <a:xfrm>
            <a:off x="7772400" y="3584448"/>
            <a:ext cx="3858768" cy="1828800"/>
          </a:xfrm>
          <a:prstGeom prst="roundRect">
            <a:avLst>
              <a:gd name="adj" fmla="val 6000"/>
            </a:avLst>
          </a:prstGeom>
          <a:solidFill>
            <a:srgbClr val="EDF1F0"/>
          </a:solidFill>
          <a:ln/>
          <a:effectLst>
            <a:outerShdw sx="100000" sy="100000" kx="0" ky="0" algn="bl" rotWithShape="0" blurRad="127000" dist="38100" dir="5400000">
              <a:srgbClr val="0B1418">
                <a:alpha val="13000"/>
              </a:srgbClr>
            </a:outerShdw>
          </a:effectLst>
        </p:spPr>
      </p:sp>
      <p:sp>
        <p:nvSpPr>
          <p:cNvPr id="9" name="Text 6"/>
          <p:cNvSpPr/>
          <p:nvPr/>
        </p:nvSpPr>
        <p:spPr>
          <a:xfrm>
            <a:off x="8065008" y="3803904"/>
            <a:ext cx="3291840" cy="292608"/>
          </a:xfrm>
          <a:prstGeom prst="rect">
            <a:avLst/>
          </a:prstGeom>
          <a:noFill/>
          <a:ln/>
        </p:spPr>
        <p:txBody>
          <a:bodyPr wrap="square" lIns="0" tIns="0" rIns="0" bIns="0" rtlCol="0" anchor="ctr"/>
          <a:lstStyle/>
          <a:p>
            <a:pPr indent="0" marL="0">
              <a:buNone/>
            </a:pPr>
            <a:r>
              <a:rPr lang="en-US" sz="1600" b="1" dirty="0">
                <a:solidFill>
                  <a:srgbClr val="121D24"/>
                </a:solidFill>
                <a:latin typeface="Calibri" pitchFamily="34" charset="0"/>
                <a:ea typeface="Calibri" pitchFamily="34" charset="-122"/>
                <a:cs typeface="Calibri" pitchFamily="34" charset="-120"/>
              </a:rPr>
              <a:t>Ramp is normal</a:t>
            </a:r>
            <a:endParaRPr lang="en-US" sz="1600" dirty="0"/>
          </a:p>
        </p:txBody>
      </p:sp>
      <p:sp>
        <p:nvSpPr>
          <p:cNvPr id="10" name="Text 7"/>
          <p:cNvSpPr/>
          <p:nvPr/>
        </p:nvSpPr>
        <p:spPr>
          <a:xfrm>
            <a:off x="8065008" y="4169664"/>
            <a:ext cx="3291840" cy="1060704"/>
          </a:xfrm>
          <a:prstGeom prst="rect">
            <a:avLst/>
          </a:prstGeom>
          <a:noFill/>
          <a:ln/>
        </p:spPr>
        <p:txBody>
          <a:bodyPr wrap="square" lIns="0" tIns="0" rIns="0" bIns="0" rtlCol="0" anchor="ctr"/>
          <a:lstStyle/>
          <a:p>
            <a:pPr indent="0" marL="0">
              <a:lnSpc>
                <a:spcPts val="1700"/>
              </a:lnSpc>
              <a:buNone/>
            </a:pPr>
            <a:r>
              <a:rPr lang="en-US" sz="1250" dirty="0">
                <a:solidFill>
                  <a:srgbClr val="4E5D62"/>
                </a:solidFill>
                <a:latin typeface="Calibri" pitchFamily="34" charset="0"/>
                <a:ea typeface="Calibri" pitchFamily="34" charset="-122"/>
                <a:cs typeface="Calibri" pitchFamily="34" charset="-120"/>
              </a:rPr>
              <a:t>New teams take 3–4 sprints to stabilise. Judging a team on sprint 1 velocity tells you nothing except that they are new.</a:t>
            </a:r>
            <a:endParaRPr lang="en-US" sz="1250" dirty="0"/>
          </a:p>
        </p:txBody>
      </p:sp>
      <p:sp>
        <p:nvSpPr>
          <p:cNvPr id="11" name="Text 8"/>
          <p:cNvSpPr/>
          <p:nvPr/>
        </p:nvSpPr>
        <p:spPr>
          <a:xfrm>
            <a:off x="566928" y="6108192"/>
            <a:ext cx="11057839" cy="438912"/>
          </a:xfrm>
          <a:prstGeom prst="rect">
            <a:avLst/>
          </a:prstGeom>
          <a:noFill/>
          <a:ln/>
        </p:spPr>
        <p:txBody>
          <a:bodyPr wrap="square" lIns="0" tIns="0" rIns="0" bIns="0" rtlCol="0" anchor="ctr"/>
          <a:lstStyle/>
          <a:p>
            <a:pPr indent="0" marL="0">
              <a:lnSpc>
                <a:spcPts val="1500"/>
              </a:lnSpc>
              <a:buNone/>
            </a:pPr>
            <a:r>
              <a:rPr lang="en-US" sz="1050" dirty="0">
                <a:solidFill>
                  <a:srgbClr val="6B7A7F"/>
                </a:solidFill>
                <a:latin typeface="Courier New" pitchFamily="34" charset="0"/>
                <a:ea typeface="Courier New" pitchFamily="34" charset="-122"/>
                <a:cs typeface="Courier New" pitchFamily="34" charset="-120"/>
              </a:rPr>
              <a:t>A perfectly flat velocity line is usually a sign of estimate-padding, not of stability.</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20" kern="0" dirty="0">
                <a:solidFill>
                  <a:srgbClr val="E0512B"/>
                </a:solidFill>
                <a:latin typeface="Courier New" pitchFamily="34" charset="0"/>
                <a:ea typeface="Courier New" pitchFamily="34" charset="-122"/>
                <a:cs typeface="Courier New" pitchFamily="34" charset="-120"/>
              </a:rPr>
              <a:t>06 / ESTIMATION</a:t>
            </a:r>
            <a:endParaRPr lang="en-US" sz="1100" dirty="0"/>
          </a:p>
        </p:txBody>
      </p:sp>
      <p:sp>
        <p:nvSpPr>
          <p:cNvPr id="3" name="Text 1"/>
          <p:cNvSpPr/>
          <p:nvPr/>
        </p:nvSpPr>
        <p:spPr>
          <a:xfrm>
            <a:off x="566928" y="676656"/>
            <a:ext cx="11057839" cy="658368"/>
          </a:xfrm>
          <a:prstGeom prst="rect">
            <a:avLst/>
          </a:prstGeom>
          <a:noFill/>
          <a:ln/>
        </p:spPr>
        <p:txBody>
          <a:bodyPr wrap="square" lIns="0" tIns="0" rIns="0" bIns="0" rtlCol="0" anchor="ctr"/>
          <a:lstStyle/>
          <a:p>
            <a:pPr algn="l" indent="0" marL="0">
              <a:buNone/>
            </a:pPr>
            <a:r>
              <a:rPr lang="en-US" sz="3400" b="1" dirty="0">
                <a:solidFill>
                  <a:srgbClr val="121D24"/>
                </a:solidFill>
                <a:latin typeface="Calibri" pitchFamily="34" charset="0"/>
                <a:ea typeface="Calibri" pitchFamily="34" charset="-122"/>
                <a:cs typeface="Calibri" pitchFamily="34" charset="-120"/>
              </a:rPr>
              <a:t>Burndown: the shape matters more than the endpoint</a:t>
            </a:r>
            <a:endParaRPr lang="en-US" sz="3400" dirty="0"/>
          </a:p>
        </p:txBody>
      </p:sp>
      <p:graphicFrame>
        <p:nvGraphicFramePr>
          <p:cNvPr id="4" name="Chart 0" descr=""/>
          <p:cNvGraphicFramePr/>
          <p:nvPr/>
        </p:nvGraphicFramePr>
        <p:xfrm>
          <a:off x="566928" y="1572768"/>
          <a:ext cx="7315200" cy="39319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138160" y="1737360"/>
            <a:ext cx="3502152" cy="1737360"/>
          </a:xfrm>
          <a:prstGeom prst="roundRect">
            <a:avLst>
              <a:gd name="adj" fmla="val 6316"/>
            </a:avLst>
          </a:prstGeom>
          <a:solidFill>
            <a:srgbClr val="EDF1F0"/>
          </a:solidFill>
          <a:ln/>
          <a:effectLst>
            <a:outerShdw sx="100000" sy="100000" kx="0" ky="0" algn="bl" rotWithShape="0" blurRad="127000" dist="38100" dir="5400000">
              <a:srgbClr val="0B1418">
                <a:alpha val="13000"/>
              </a:srgbClr>
            </a:outerShdw>
          </a:effectLst>
        </p:spPr>
      </p:sp>
      <p:sp>
        <p:nvSpPr>
          <p:cNvPr id="6" name="Text 3"/>
          <p:cNvSpPr/>
          <p:nvPr/>
        </p:nvSpPr>
        <p:spPr>
          <a:xfrm>
            <a:off x="8412480" y="1938528"/>
            <a:ext cx="2926080" cy="292608"/>
          </a:xfrm>
          <a:prstGeom prst="rect">
            <a:avLst/>
          </a:prstGeom>
          <a:noFill/>
          <a:ln/>
        </p:spPr>
        <p:txBody>
          <a:bodyPr wrap="square" lIns="0" tIns="0" rIns="0" bIns="0" rtlCol="0" anchor="ctr"/>
          <a:lstStyle/>
          <a:p>
            <a:pPr indent="0" marL="0">
              <a:buNone/>
            </a:pPr>
            <a:r>
              <a:rPr lang="en-US" sz="1600" b="1" dirty="0">
                <a:solidFill>
                  <a:srgbClr val="0F4C42"/>
                </a:solidFill>
                <a:latin typeface="Calibri" pitchFamily="34" charset="0"/>
                <a:ea typeface="Calibri" pitchFamily="34" charset="-122"/>
                <a:cs typeface="Calibri" pitchFamily="34" charset="-120"/>
              </a:rPr>
              <a:t>Healthy</a:t>
            </a:r>
            <a:endParaRPr lang="en-US" sz="1600" dirty="0"/>
          </a:p>
        </p:txBody>
      </p:sp>
      <p:sp>
        <p:nvSpPr>
          <p:cNvPr id="7" name="Text 4"/>
          <p:cNvSpPr/>
          <p:nvPr/>
        </p:nvSpPr>
        <p:spPr>
          <a:xfrm>
            <a:off x="8412480" y="2286000"/>
            <a:ext cx="2926080" cy="1060704"/>
          </a:xfrm>
          <a:prstGeom prst="rect">
            <a:avLst/>
          </a:prstGeom>
          <a:noFill/>
          <a:ln/>
        </p:spPr>
        <p:txBody>
          <a:bodyPr wrap="square" lIns="0" tIns="0" rIns="0" bIns="0" rtlCol="0" anchor="ctr"/>
          <a:lstStyle/>
          <a:p>
            <a:pPr indent="0" marL="0">
              <a:lnSpc>
                <a:spcPts val="1700"/>
              </a:lnSpc>
              <a:buNone/>
            </a:pPr>
            <a:r>
              <a:rPr lang="en-US" sz="1250" dirty="0">
                <a:solidFill>
                  <a:srgbClr val="4E5D62"/>
                </a:solidFill>
                <a:latin typeface="Calibri" pitchFamily="34" charset="0"/>
                <a:ea typeface="Calibri" pitchFamily="34" charset="-122"/>
                <a:cs typeface="Calibri" pitchFamily="34" charset="-120"/>
              </a:rPr>
              <a:t>Work comes off steadily, roughly tracking the ideal line, with small plateaus where reviews and testing happen.</a:t>
            </a:r>
            <a:endParaRPr lang="en-US" sz="1250" dirty="0"/>
          </a:p>
        </p:txBody>
      </p:sp>
      <p:sp>
        <p:nvSpPr>
          <p:cNvPr id="8" name="Shape 5"/>
          <p:cNvSpPr/>
          <p:nvPr/>
        </p:nvSpPr>
        <p:spPr>
          <a:xfrm>
            <a:off x="8138160" y="3657600"/>
            <a:ext cx="3502152" cy="1828800"/>
          </a:xfrm>
          <a:prstGeom prst="roundRect">
            <a:avLst>
              <a:gd name="adj" fmla="val 6000"/>
            </a:avLst>
          </a:prstGeom>
          <a:solidFill>
            <a:srgbClr val="E0512B"/>
          </a:solidFill>
          <a:ln/>
          <a:effectLst>
            <a:outerShdw sx="100000" sy="100000" kx="0" ky="0" algn="bl" rotWithShape="0" blurRad="127000" dist="38100" dir="5400000">
              <a:srgbClr val="0B1418">
                <a:alpha val="13000"/>
              </a:srgbClr>
            </a:outerShdw>
          </a:effectLst>
        </p:spPr>
      </p:sp>
      <p:sp>
        <p:nvSpPr>
          <p:cNvPr id="9" name="Text 6"/>
          <p:cNvSpPr/>
          <p:nvPr/>
        </p:nvSpPr>
        <p:spPr>
          <a:xfrm>
            <a:off x="8412480" y="3858768"/>
            <a:ext cx="2926080" cy="29260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The cliff</a:t>
            </a:r>
            <a:endParaRPr lang="en-US" sz="1600" dirty="0"/>
          </a:p>
        </p:txBody>
      </p:sp>
      <p:sp>
        <p:nvSpPr>
          <p:cNvPr id="10" name="Text 7"/>
          <p:cNvSpPr/>
          <p:nvPr/>
        </p:nvSpPr>
        <p:spPr>
          <a:xfrm>
            <a:off x="8412480" y="4206240"/>
            <a:ext cx="2926080" cy="1188720"/>
          </a:xfrm>
          <a:prstGeom prst="rect">
            <a:avLst/>
          </a:prstGeom>
          <a:noFill/>
          <a:ln/>
        </p:spPr>
        <p:txBody>
          <a:bodyPr wrap="square" lIns="0" tIns="0" rIns="0" bIns="0" rtlCol="0" anchor="ctr"/>
          <a:lstStyle/>
          <a:p>
            <a:pPr indent="0" marL="0">
              <a:lnSpc>
                <a:spcPts val="1700"/>
              </a:lnSpc>
              <a:buNone/>
            </a:pPr>
            <a:r>
              <a:rPr lang="en-US" sz="1250" dirty="0">
                <a:solidFill>
                  <a:srgbClr val="FFE2D9"/>
                </a:solidFill>
                <a:latin typeface="Calibri" pitchFamily="34" charset="0"/>
                <a:ea typeface="Calibri" pitchFamily="34" charset="-122"/>
                <a:cs typeface="Calibri" pitchFamily="34" charset="-120"/>
              </a:rPr>
              <a:t>Flat early, vertical at the end. The team worked in parallel and integrated late. It is a smell, not a success — nothing was truly done until the last day.</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20" kern="0" dirty="0">
                <a:solidFill>
                  <a:srgbClr val="E0512B"/>
                </a:solidFill>
                <a:latin typeface="Courier New" pitchFamily="34" charset="0"/>
                <a:ea typeface="Courier New" pitchFamily="34" charset="-122"/>
                <a:cs typeface="Courier New" pitchFamily="34" charset="-120"/>
              </a:rPr>
              <a:t>07 / ENGINEERING PRACTICES</a:t>
            </a:r>
            <a:endParaRPr lang="en-US" sz="1100" dirty="0"/>
          </a:p>
        </p:txBody>
      </p:sp>
      <p:sp>
        <p:nvSpPr>
          <p:cNvPr id="3" name="Text 1"/>
          <p:cNvSpPr/>
          <p:nvPr/>
        </p:nvSpPr>
        <p:spPr>
          <a:xfrm>
            <a:off x="566928" y="676656"/>
            <a:ext cx="11057839" cy="658368"/>
          </a:xfrm>
          <a:prstGeom prst="rect">
            <a:avLst/>
          </a:prstGeom>
          <a:noFill/>
          <a:ln/>
        </p:spPr>
        <p:txBody>
          <a:bodyPr wrap="square" lIns="0" tIns="0" rIns="0" bIns="0" rtlCol="0" anchor="ctr"/>
          <a:lstStyle/>
          <a:p>
            <a:pPr algn="l" indent="0" marL="0">
              <a:buNone/>
            </a:pPr>
            <a:r>
              <a:rPr lang="en-US" sz="3400" b="1" dirty="0">
                <a:solidFill>
                  <a:srgbClr val="121D24"/>
                </a:solidFill>
                <a:latin typeface="Calibri" pitchFamily="34" charset="0"/>
                <a:ea typeface="Calibri" pitchFamily="34" charset="-122"/>
                <a:cs typeface="Calibri" pitchFamily="34" charset="-120"/>
              </a:rPr>
              <a:t>Without these, Agile becomes short waterfalls with more meetings</a:t>
            </a:r>
            <a:endParaRPr lang="en-US" sz="3400" dirty="0"/>
          </a:p>
        </p:txBody>
      </p:sp>
      <p:sp>
        <p:nvSpPr>
          <p:cNvPr id="4" name="Text 2"/>
          <p:cNvSpPr/>
          <p:nvPr/>
        </p:nvSpPr>
        <p:spPr>
          <a:xfrm>
            <a:off x="566928" y="1335024"/>
            <a:ext cx="10515600" cy="457200"/>
          </a:xfrm>
          <a:prstGeom prst="rect">
            <a:avLst/>
          </a:prstGeom>
          <a:noFill/>
          <a:ln/>
        </p:spPr>
        <p:txBody>
          <a:bodyPr wrap="square" lIns="0" tIns="0" rIns="0" bIns="0" rtlCol="0" anchor="t"/>
          <a:lstStyle/>
          <a:p>
            <a:pPr indent="0" marL="0">
              <a:lnSpc>
                <a:spcPts val="1900"/>
              </a:lnSpc>
              <a:buNone/>
            </a:pPr>
            <a:r>
              <a:rPr lang="en-US" sz="1450" dirty="0">
                <a:solidFill>
                  <a:srgbClr val="6B7A7F"/>
                </a:solidFill>
                <a:latin typeface="Calibri" pitchFamily="34" charset="0"/>
                <a:ea typeface="Calibri" pitchFamily="34" charset="-122"/>
                <a:cs typeface="Calibri" pitchFamily="34" charset="-120"/>
              </a:rPr>
              <a:t>Most of these come from Extreme Programming. They are what make a two-week feedback loop physically possible.</a:t>
            </a:r>
            <a:endParaRPr lang="en-US" sz="1450" dirty="0"/>
          </a:p>
        </p:txBody>
      </p:sp>
      <p:sp>
        <p:nvSpPr>
          <p:cNvPr id="5" name="Shape 3"/>
          <p:cNvSpPr/>
          <p:nvPr/>
        </p:nvSpPr>
        <p:spPr>
          <a:xfrm>
            <a:off x="566928" y="2194560"/>
            <a:ext cx="3529584" cy="1700784"/>
          </a:xfrm>
          <a:prstGeom prst="roundRect">
            <a:avLst>
              <a:gd name="adj" fmla="val 5914"/>
            </a:avLst>
          </a:prstGeom>
          <a:solidFill>
            <a:srgbClr val="EDF1F0"/>
          </a:solidFill>
          <a:ln/>
          <a:effectLst>
            <a:outerShdw sx="100000" sy="100000" kx="0" ky="0" algn="bl" rotWithShape="0" blurRad="127000" dist="38100" dir="5400000">
              <a:srgbClr val="0B1418">
                <a:alpha val="13000"/>
              </a:srgbClr>
            </a:outerShdw>
          </a:effectLst>
        </p:spPr>
      </p:sp>
      <p:sp>
        <p:nvSpPr>
          <p:cNvPr id="6" name="Shape 4"/>
          <p:cNvSpPr/>
          <p:nvPr/>
        </p:nvSpPr>
        <p:spPr>
          <a:xfrm>
            <a:off x="822960" y="2432304"/>
            <a:ext cx="548640" cy="548640"/>
          </a:xfrm>
          <a:prstGeom prst="ellipse">
            <a:avLst/>
          </a:prstGeom>
          <a:solidFill>
            <a:srgbClr val="0F4C42"/>
          </a:solidFill>
          <a:ln/>
        </p:spPr>
      </p:sp>
      <p:pic>
        <p:nvPicPr>
          <p:cNvPr id="7" name="Image 0" descr="/home/claude/agile/icons/ci.png">    </p:cNvPr>
          <p:cNvPicPr>
            <a:picLocks noChangeAspect="1"/>
          </p:cNvPicPr>
          <p:nvPr/>
        </p:nvPicPr>
        <p:blipFill>
          <a:blip r:embed="rId1"/>
          <a:stretch>
            <a:fillRect/>
          </a:stretch>
        </p:blipFill>
        <p:spPr>
          <a:xfrm>
            <a:off x="976579" y="2585923"/>
            <a:ext cx="241402" cy="241402"/>
          </a:xfrm>
          <a:prstGeom prst="rect">
            <a:avLst/>
          </a:prstGeom>
        </p:spPr>
      </p:pic>
      <p:sp>
        <p:nvSpPr>
          <p:cNvPr id="8" name="Text 5"/>
          <p:cNvSpPr/>
          <p:nvPr/>
        </p:nvSpPr>
        <p:spPr>
          <a:xfrm>
            <a:off x="1481328" y="2450592"/>
            <a:ext cx="2359152" cy="512064"/>
          </a:xfrm>
          <a:prstGeom prst="rect">
            <a:avLst/>
          </a:prstGeom>
          <a:noFill/>
          <a:ln/>
        </p:spPr>
        <p:txBody>
          <a:bodyPr wrap="square" lIns="0" tIns="0" rIns="0" bIns="0" rtlCol="0" anchor="ctr"/>
          <a:lstStyle/>
          <a:p>
            <a:pPr indent="0" marL="0">
              <a:buNone/>
            </a:pPr>
            <a:r>
              <a:rPr lang="en-US" sz="1450" b="1" dirty="0">
                <a:solidFill>
                  <a:srgbClr val="121D24"/>
                </a:solidFill>
                <a:latin typeface="Calibri" pitchFamily="34" charset="0"/>
                <a:ea typeface="Calibri" pitchFamily="34" charset="-122"/>
                <a:cs typeface="Calibri" pitchFamily="34" charset="-120"/>
              </a:rPr>
              <a:t>Continuous Integration</a:t>
            </a:r>
            <a:endParaRPr lang="en-US" sz="1450" dirty="0"/>
          </a:p>
        </p:txBody>
      </p:sp>
      <p:sp>
        <p:nvSpPr>
          <p:cNvPr id="9" name="Text 6"/>
          <p:cNvSpPr/>
          <p:nvPr/>
        </p:nvSpPr>
        <p:spPr>
          <a:xfrm>
            <a:off x="822960" y="3090672"/>
            <a:ext cx="3017520" cy="676656"/>
          </a:xfrm>
          <a:prstGeom prst="rect">
            <a:avLst/>
          </a:prstGeom>
          <a:noFill/>
          <a:ln/>
        </p:spPr>
        <p:txBody>
          <a:bodyPr wrap="square" lIns="0" tIns="0" rIns="0" bIns="0" rtlCol="0" anchor="ctr"/>
          <a:lstStyle/>
          <a:p>
            <a:pPr indent="0" marL="0">
              <a:lnSpc>
                <a:spcPts val="1600"/>
              </a:lnSpc>
              <a:buNone/>
            </a:pPr>
            <a:r>
              <a:rPr lang="en-US" sz="1200" dirty="0">
                <a:solidFill>
                  <a:srgbClr val="4E5D62"/>
                </a:solidFill>
                <a:latin typeface="Calibri" pitchFamily="34" charset="0"/>
                <a:ea typeface="Calibri" pitchFamily="34" charset="-122"/>
                <a:cs typeface="Calibri" pitchFamily="34" charset="-120"/>
              </a:rPr>
              <a:t>Merge to main frequently. Automated build and test on every push, and a red pipeline stops the line.</a:t>
            </a:r>
            <a:endParaRPr lang="en-US" sz="1200" dirty="0"/>
          </a:p>
        </p:txBody>
      </p:sp>
      <p:sp>
        <p:nvSpPr>
          <p:cNvPr id="10" name="Shape 7"/>
          <p:cNvSpPr/>
          <p:nvPr/>
        </p:nvSpPr>
        <p:spPr>
          <a:xfrm>
            <a:off x="4425696" y="2194560"/>
            <a:ext cx="3529584" cy="1700784"/>
          </a:xfrm>
          <a:prstGeom prst="roundRect">
            <a:avLst>
              <a:gd name="adj" fmla="val 5914"/>
            </a:avLst>
          </a:prstGeom>
          <a:solidFill>
            <a:srgbClr val="EDF1F0"/>
          </a:solidFill>
          <a:ln/>
          <a:effectLst>
            <a:outerShdw sx="100000" sy="100000" kx="0" ky="0" algn="bl" rotWithShape="0" blurRad="127000" dist="38100" dir="5400000">
              <a:srgbClr val="0B1418">
                <a:alpha val="13000"/>
              </a:srgbClr>
            </a:outerShdw>
          </a:effectLst>
        </p:spPr>
      </p:sp>
      <p:sp>
        <p:nvSpPr>
          <p:cNvPr id="11" name="Shape 8"/>
          <p:cNvSpPr/>
          <p:nvPr/>
        </p:nvSpPr>
        <p:spPr>
          <a:xfrm>
            <a:off x="4681728" y="2432304"/>
            <a:ext cx="548640" cy="548640"/>
          </a:xfrm>
          <a:prstGeom prst="ellipse">
            <a:avLst/>
          </a:prstGeom>
          <a:solidFill>
            <a:srgbClr val="2A8C7A"/>
          </a:solidFill>
          <a:ln/>
        </p:spPr>
      </p:sp>
      <p:pic>
        <p:nvPicPr>
          <p:cNvPr id="12" name="Image 1" descr="/home/claude/agile/icons/tests.png">    </p:cNvPr>
          <p:cNvPicPr>
            <a:picLocks noChangeAspect="1"/>
          </p:cNvPicPr>
          <p:nvPr/>
        </p:nvPicPr>
        <p:blipFill>
          <a:blip r:embed="rId2"/>
          <a:stretch>
            <a:fillRect/>
          </a:stretch>
        </p:blipFill>
        <p:spPr>
          <a:xfrm>
            <a:off x="4835347" y="2585923"/>
            <a:ext cx="241402" cy="241402"/>
          </a:xfrm>
          <a:prstGeom prst="rect">
            <a:avLst/>
          </a:prstGeom>
        </p:spPr>
      </p:pic>
      <p:sp>
        <p:nvSpPr>
          <p:cNvPr id="13" name="Text 9"/>
          <p:cNvSpPr/>
          <p:nvPr/>
        </p:nvSpPr>
        <p:spPr>
          <a:xfrm>
            <a:off x="5340096" y="2450592"/>
            <a:ext cx="2359152" cy="512064"/>
          </a:xfrm>
          <a:prstGeom prst="rect">
            <a:avLst/>
          </a:prstGeom>
          <a:noFill/>
          <a:ln/>
        </p:spPr>
        <p:txBody>
          <a:bodyPr wrap="square" lIns="0" tIns="0" rIns="0" bIns="0" rtlCol="0" anchor="ctr"/>
          <a:lstStyle/>
          <a:p>
            <a:pPr indent="0" marL="0">
              <a:buNone/>
            </a:pPr>
            <a:r>
              <a:rPr lang="en-US" sz="1450" b="1" dirty="0">
                <a:solidFill>
                  <a:srgbClr val="121D24"/>
                </a:solidFill>
                <a:latin typeface="Calibri" pitchFamily="34" charset="0"/>
                <a:ea typeface="Calibri" pitchFamily="34" charset="-122"/>
                <a:cs typeface="Calibri" pitchFamily="34" charset="-120"/>
              </a:rPr>
              <a:t>Automated testing</a:t>
            </a:r>
            <a:endParaRPr lang="en-US" sz="1450" dirty="0"/>
          </a:p>
        </p:txBody>
      </p:sp>
      <p:sp>
        <p:nvSpPr>
          <p:cNvPr id="14" name="Text 10"/>
          <p:cNvSpPr/>
          <p:nvPr/>
        </p:nvSpPr>
        <p:spPr>
          <a:xfrm>
            <a:off x="4681728" y="3090672"/>
            <a:ext cx="3017520" cy="676656"/>
          </a:xfrm>
          <a:prstGeom prst="rect">
            <a:avLst/>
          </a:prstGeom>
          <a:noFill/>
          <a:ln/>
        </p:spPr>
        <p:txBody>
          <a:bodyPr wrap="square" lIns="0" tIns="0" rIns="0" bIns="0" rtlCol="0" anchor="ctr"/>
          <a:lstStyle/>
          <a:p>
            <a:pPr indent="0" marL="0">
              <a:lnSpc>
                <a:spcPts val="1600"/>
              </a:lnSpc>
              <a:buNone/>
            </a:pPr>
            <a:r>
              <a:rPr lang="en-US" sz="1200" dirty="0">
                <a:solidFill>
                  <a:srgbClr val="4E5D62"/>
                </a:solidFill>
                <a:latin typeface="Calibri" pitchFamily="34" charset="0"/>
                <a:ea typeface="Calibri" pitchFamily="34" charset="-122"/>
                <a:cs typeface="Calibri" pitchFamily="34" charset="-120"/>
              </a:rPr>
              <a:t>You cannot iterate quickly on code you are afraid to change. Tests buy the courage to refactor.</a:t>
            </a:r>
            <a:endParaRPr lang="en-US" sz="1200" dirty="0"/>
          </a:p>
        </p:txBody>
      </p:sp>
      <p:sp>
        <p:nvSpPr>
          <p:cNvPr id="15" name="Shape 11"/>
          <p:cNvSpPr/>
          <p:nvPr/>
        </p:nvSpPr>
        <p:spPr>
          <a:xfrm>
            <a:off x="8284464" y="2194560"/>
            <a:ext cx="3529584" cy="1700784"/>
          </a:xfrm>
          <a:prstGeom prst="roundRect">
            <a:avLst>
              <a:gd name="adj" fmla="val 5914"/>
            </a:avLst>
          </a:prstGeom>
          <a:solidFill>
            <a:srgbClr val="EDF1F0"/>
          </a:solidFill>
          <a:ln/>
          <a:effectLst>
            <a:outerShdw sx="100000" sy="100000" kx="0" ky="0" algn="bl" rotWithShape="0" blurRad="127000" dist="38100" dir="5400000">
              <a:srgbClr val="0B1418">
                <a:alpha val="13000"/>
              </a:srgbClr>
            </a:outerShdw>
          </a:effectLst>
        </p:spPr>
      </p:sp>
      <p:sp>
        <p:nvSpPr>
          <p:cNvPr id="16" name="Shape 12"/>
          <p:cNvSpPr/>
          <p:nvPr/>
        </p:nvSpPr>
        <p:spPr>
          <a:xfrm>
            <a:off x="8540496" y="2432304"/>
            <a:ext cx="548640" cy="548640"/>
          </a:xfrm>
          <a:prstGeom prst="ellipse">
            <a:avLst/>
          </a:prstGeom>
          <a:solidFill>
            <a:srgbClr val="0F4C42"/>
          </a:solidFill>
          <a:ln/>
        </p:spPr>
      </p:sp>
      <p:pic>
        <p:nvPicPr>
          <p:cNvPr id="17" name="Image 2" descr="/home/claude/agile/icons/refactor.png">    </p:cNvPr>
          <p:cNvPicPr>
            <a:picLocks noChangeAspect="1"/>
          </p:cNvPicPr>
          <p:nvPr/>
        </p:nvPicPr>
        <p:blipFill>
          <a:blip r:embed="rId3"/>
          <a:stretch>
            <a:fillRect/>
          </a:stretch>
        </p:blipFill>
        <p:spPr>
          <a:xfrm>
            <a:off x="8694115" y="2585923"/>
            <a:ext cx="241402" cy="241402"/>
          </a:xfrm>
          <a:prstGeom prst="rect">
            <a:avLst/>
          </a:prstGeom>
        </p:spPr>
      </p:pic>
      <p:sp>
        <p:nvSpPr>
          <p:cNvPr id="18" name="Text 13"/>
          <p:cNvSpPr/>
          <p:nvPr/>
        </p:nvSpPr>
        <p:spPr>
          <a:xfrm>
            <a:off x="9198864" y="2450592"/>
            <a:ext cx="2359152" cy="512064"/>
          </a:xfrm>
          <a:prstGeom prst="rect">
            <a:avLst/>
          </a:prstGeom>
          <a:noFill/>
          <a:ln/>
        </p:spPr>
        <p:txBody>
          <a:bodyPr wrap="square" lIns="0" tIns="0" rIns="0" bIns="0" rtlCol="0" anchor="ctr"/>
          <a:lstStyle/>
          <a:p>
            <a:pPr indent="0" marL="0">
              <a:buNone/>
            </a:pPr>
            <a:r>
              <a:rPr lang="en-US" sz="1450" b="1" dirty="0">
                <a:solidFill>
                  <a:srgbClr val="121D24"/>
                </a:solidFill>
                <a:latin typeface="Calibri" pitchFamily="34" charset="0"/>
                <a:ea typeface="Calibri" pitchFamily="34" charset="-122"/>
                <a:cs typeface="Calibri" pitchFamily="34" charset="-120"/>
              </a:rPr>
              <a:t>Continuous refactoring</a:t>
            </a:r>
            <a:endParaRPr lang="en-US" sz="1450" dirty="0"/>
          </a:p>
        </p:txBody>
      </p:sp>
      <p:sp>
        <p:nvSpPr>
          <p:cNvPr id="19" name="Text 14"/>
          <p:cNvSpPr/>
          <p:nvPr/>
        </p:nvSpPr>
        <p:spPr>
          <a:xfrm>
            <a:off x="8540496" y="3090672"/>
            <a:ext cx="3017520" cy="676656"/>
          </a:xfrm>
          <a:prstGeom prst="rect">
            <a:avLst/>
          </a:prstGeom>
          <a:noFill/>
          <a:ln/>
        </p:spPr>
        <p:txBody>
          <a:bodyPr wrap="square" lIns="0" tIns="0" rIns="0" bIns="0" rtlCol="0" anchor="ctr"/>
          <a:lstStyle/>
          <a:p>
            <a:pPr indent="0" marL="0">
              <a:lnSpc>
                <a:spcPts val="1600"/>
              </a:lnSpc>
              <a:buNone/>
            </a:pPr>
            <a:r>
              <a:rPr lang="en-US" sz="1200" dirty="0">
                <a:solidFill>
                  <a:srgbClr val="4E5D62"/>
                </a:solidFill>
                <a:latin typeface="Calibri" pitchFamily="34" charset="0"/>
                <a:ea typeface="Calibri" pitchFamily="34" charset="-122"/>
                <a:cs typeface="Calibri" pitchFamily="34" charset="-120"/>
              </a:rPr>
              <a:t>Small, safe, constant — not a "refactoring sprint" scheduled for never.</a:t>
            </a:r>
            <a:endParaRPr lang="en-US" sz="1200" dirty="0"/>
          </a:p>
        </p:txBody>
      </p:sp>
      <p:sp>
        <p:nvSpPr>
          <p:cNvPr id="20" name="Shape 15"/>
          <p:cNvSpPr/>
          <p:nvPr/>
        </p:nvSpPr>
        <p:spPr>
          <a:xfrm>
            <a:off x="566928" y="4169664"/>
            <a:ext cx="3529584" cy="1700784"/>
          </a:xfrm>
          <a:prstGeom prst="roundRect">
            <a:avLst>
              <a:gd name="adj" fmla="val 5914"/>
            </a:avLst>
          </a:prstGeom>
          <a:solidFill>
            <a:srgbClr val="EDF1F0"/>
          </a:solidFill>
          <a:ln/>
          <a:effectLst>
            <a:outerShdw sx="100000" sy="100000" kx="0" ky="0" algn="bl" rotWithShape="0" blurRad="127000" dist="38100" dir="5400000">
              <a:srgbClr val="0B1418">
                <a:alpha val="13000"/>
              </a:srgbClr>
            </a:outerShdw>
          </a:effectLst>
        </p:spPr>
      </p:sp>
      <p:sp>
        <p:nvSpPr>
          <p:cNvPr id="21" name="Shape 16"/>
          <p:cNvSpPr/>
          <p:nvPr/>
        </p:nvSpPr>
        <p:spPr>
          <a:xfrm>
            <a:off x="822960" y="4407408"/>
            <a:ext cx="548640" cy="548640"/>
          </a:xfrm>
          <a:prstGeom prst="ellipse">
            <a:avLst/>
          </a:prstGeom>
          <a:solidFill>
            <a:srgbClr val="2A8C7A"/>
          </a:solidFill>
          <a:ln/>
        </p:spPr>
      </p:sp>
      <p:pic>
        <p:nvPicPr>
          <p:cNvPr id="22" name="Image 3" descr="/home/claude/agile/icons/trunk.png">    </p:cNvPr>
          <p:cNvPicPr>
            <a:picLocks noChangeAspect="1"/>
          </p:cNvPicPr>
          <p:nvPr/>
        </p:nvPicPr>
        <p:blipFill>
          <a:blip r:embed="rId4"/>
          <a:stretch>
            <a:fillRect/>
          </a:stretch>
        </p:blipFill>
        <p:spPr>
          <a:xfrm>
            <a:off x="976579" y="4561027"/>
            <a:ext cx="241402" cy="241402"/>
          </a:xfrm>
          <a:prstGeom prst="rect">
            <a:avLst/>
          </a:prstGeom>
        </p:spPr>
      </p:pic>
      <p:sp>
        <p:nvSpPr>
          <p:cNvPr id="23" name="Text 17"/>
          <p:cNvSpPr/>
          <p:nvPr/>
        </p:nvSpPr>
        <p:spPr>
          <a:xfrm>
            <a:off x="1481328" y="4425696"/>
            <a:ext cx="2359152" cy="512064"/>
          </a:xfrm>
          <a:prstGeom prst="rect">
            <a:avLst/>
          </a:prstGeom>
          <a:noFill/>
          <a:ln/>
        </p:spPr>
        <p:txBody>
          <a:bodyPr wrap="square" lIns="0" tIns="0" rIns="0" bIns="0" rtlCol="0" anchor="ctr"/>
          <a:lstStyle/>
          <a:p>
            <a:pPr indent="0" marL="0">
              <a:buNone/>
            </a:pPr>
            <a:r>
              <a:rPr lang="en-US" sz="1450" b="1" dirty="0">
                <a:solidFill>
                  <a:srgbClr val="121D24"/>
                </a:solidFill>
                <a:latin typeface="Calibri" pitchFamily="34" charset="0"/>
                <a:ea typeface="Calibri" pitchFamily="34" charset="-122"/>
                <a:cs typeface="Calibri" pitchFamily="34" charset="-120"/>
              </a:rPr>
              <a:t>Short-lived branches</a:t>
            </a:r>
            <a:endParaRPr lang="en-US" sz="1450" dirty="0"/>
          </a:p>
        </p:txBody>
      </p:sp>
      <p:sp>
        <p:nvSpPr>
          <p:cNvPr id="24" name="Text 18"/>
          <p:cNvSpPr/>
          <p:nvPr/>
        </p:nvSpPr>
        <p:spPr>
          <a:xfrm>
            <a:off x="822960" y="5065776"/>
            <a:ext cx="3017520" cy="676656"/>
          </a:xfrm>
          <a:prstGeom prst="rect">
            <a:avLst/>
          </a:prstGeom>
          <a:noFill/>
          <a:ln/>
        </p:spPr>
        <p:txBody>
          <a:bodyPr wrap="square" lIns="0" tIns="0" rIns="0" bIns="0" rtlCol="0" anchor="ctr"/>
          <a:lstStyle/>
          <a:p>
            <a:pPr indent="0" marL="0">
              <a:lnSpc>
                <a:spcPts val="1600"/>
              </a:lnSpc>
              <a:buNone/>
            </a:pPr>
            <a:r>
              <a:rPr lang="en-US" sz="1200" dirty="0">
                <a:solidFill>
                  <a:srgbClr val="4E5D62"/>
                </a:solidFill>
                <a:latin typeface="Calibri" pitchFamily="34" charset="0"/>
                <a:ea typeface="Calibri" pitchFamily="34" charset="-122"/>
                <a:cs typeface="Calibri" pitchFamily="34" charset="-120"/>
              </a:rPr>
              <a:t>Long branches recreate the integration problem Agile was invented to solve.</a:t>
            </a:r>
            <a:endParaRPr lang="en-US" sz="1200" dirty="0"/>
          </a:p>
        </p:txBody>
      </p:sp>
      <p:sp>
        <p:nvSpPr>
          <p:cNvPr id="25" name="Shape 19"/>
          <p:cNvSpPr/>
          <p:nvPr/>
        </p:nvSpPr>
        <p:spPr>
          <a:xfrm>
            <a:off x="4425696" y="4169664"/>
            <a:ext cx="3529584" cy="1700784"/>
          </a:xfrm>
          <a:prstGeom prst="roundRect">
            <a:avLst>
              <a:gd name="adj" fmla="val 5914"/>
            </a:avLst>
          </a:prstGeom>
          <a:solidFill>
            <a:srgbClr val="EDF1F0"/>
          </a:solidFill>
          <a:ln/>
          <a:effectLst>
            <a:outerShdw sx="100000" sy="100000" kx="0" ky="0" algn="bl" rotWithShape="0" blurRad="127000" dist="38100" dir="5400000">
              <a:srgbClr val="0B1418">
                <a:alpha val="13000"/>
              </a:srgbClr>
            </a:outerShdw>
          </a:effectLst>
        </p:spPr>
      </p:sp>
      <p:sp>
        <p:nvSpPr>
          <p:cNvPr id="26" name="Shape 20"/>
          <p:cNvSpPr/>
          <p:nvPr/>
        </p:nvSpPr>
        <p:spPr>
          <a:xfrm>
            <a:off x="4681728" y="4407408"/>
            <a:ext cx="548640" cy="548640"/>
          </a:xfrm>
          <a:prstGeom prst="ellipse">
            <a:avLst/>
          </a:prstGeom>
          <a:solidFill>
            <a:srgbClr val="0F4C42"/>
          </a:solidFill>
          <a:ln/>
        </p:spPr>
      </p:sp>
      <p:pic>
        <p:nvPicPr>
          <p:cNvPr id="27" name="Image 4" descr="/home/claude/agile/icons/flag.png">    </p:cNvPr>
          <p:cNvPicPr>
            <a:picLocks noChangeAspect="1"/>
          </p:cNvPicPr>
          <p:nvPr/>
        </p:nvPicPr>
        <p:blipFill>
          <a:blip r:embed="rId5"/>
          <a:stretch>
            <a:fillRect/>
          </a:stretch>
        </p:blipFill>
        <p:spPr>
          <a:xfrm>
            <a:off x="4835347" y="4561027"/>
            <a:ext cx="241402" cy="241402"/>
          </a:xfrm>
          <a:prstGeom prst="rect">
            <a:avLst/>
          </a:prstGeom>
        </p:spPr>
      </p:pic>
      <p:sp>
        <p:nvSpPr>
          <p:cNvPr id="28" name="Text 21"/>
          <p:cNvSpPr/>
          <p:nvPr/>
        </p:nvSpPr>
        <p:spPr>
          <a:xfrm>
            <a:off x="5340096" y="4425696"/>
            <a:ext cx="2359152" cy="512064"/>
          </a:xfrm>
          <a:prstGeom prst="rect">
            <a:avLst/>
          </a:prstGeom>
          <a:noFill/>
          <a:ln/>
        </p:spPr>
        <p:txBody>
          <a:bodyPr wrap="square" lIns="0" tIns="0" rIns="0" bIns="0" rtlCol="0" anchor="ctr"/>
          <a:lstStyle/>
          <a:p>
            <a:pPr indent="0" marL="0">
              <a:buNone/>
            </a:pPr>
            <a:r>
              <a:rPr lang="en-US" sz="1450" b="1" dirty="0">
                <a:solidFill>
                  <a:srgbClr val="121D24"/>
                </a:solidFill>
                <a:latin typeface="Calibri" pitchFamily="34" charset="0"/>
                <a:ea typeface="Calibri" pitchFamily="34" charset="-122"/>
                <a:cs typeface="Calibri" pitchFamily="34" charset="-120"/>
              </a:rPr>
              <a:t>Feature flags</a:t>
            </a:r>
            <a:endParaRPr lang="en-US" sz="1450" dirty="0"/>
          </a:p>
        </p:txBody>
      </p:sp>
      <p:sp>
        <p:nvSpPr>
          <p:cNvPr id="29" name="Text 22"/>
          <p:cNvSpPr/>
          <p:nvPr/>
        </p:nvSpPr>
        <p:spPr>
          <a:xfrm>
            <a:off x="4681728" y="5065776"/>
            <a:ext cx="3017520" cy="676656"/>
          </a:xfrm>
          <a:prstGeom prst="rect">
            <a:avLst/>
          </a:prstGeom>
          <a:noFill/>
          <a:ln/>
        </p:spPr>
        <p:txBody>
          <a:bodyPr wrap="square" lIns="0" tIns="0" rIns="0" bIns="0" rtlCol="0" anchor="ctr"/>
          <a:lstStyle/>
          <a:p>
            <a:pPr indent="0" marL="0">
              <a:lnSpc>
                <a:spcPts val="1600"/>
              </a:lnSpc>
              <a:buNone/>
            </a:pPr>
            <a:r>
              <a:rPr lang="en-US" sz="1200" dirty="0">
                <a:solidFill>
                  <a:srgbClr val="4E5D62"/>
                </a:solidFill>
                <a:latin typeface="Calibri" pitchFamily="34" charset="0"/>
                <a:ea typeface="Calibri" pitchFamily="34" charset="-122"/>
                <a:cs typeface="Calibri" pitchFamily="34" charset="-120"/>
              </a:rPr>
              <a:t>Decouple deploy from release so unfinished work can ship dark and be turned on later.</a:t>
            </a:r>
            <a:endParaRPr lang="en-US" sz="1200" dirty="0"/>
          </a:p>
        </p:txBody>
      </p:sp>
      <p:sp>
        <p:nvSpPr>
          <p:cNvPr id="30" name="Shape 23"/>
          <p:cNvSpPr/>
          <p:nvPr/>
        </p:nvSpPr>
        <p:spPr>
          <a:xfrm>
            <a:off x="8284464" y="4169664"/>
            <a:ext cx="3529584" cy="1700784"/>
          </a:xfrm>
          <a:prstGeom prst="roundRect">
            <a:avLst>
              <a:gd name="adj" fmla="val 5914"/>
            </a:avLst>
          </a:prstGeom>
          <a:solidFill>
            <a:srgbClr val="EDF1F0"/>
          </a:solidFill>
          <a:ln/>
          <a:effectLst>
            <a:outerShdw sx="100000" sy="100000" kx="0" ky="0" algn="bl" rotWithShape="0" blurRad="127000" dist="38100" dir="5400000">
              <a:srgbClr val="0B1418">
                <a:alpha val="13000"/>
              </a:srgbClr>
            </a:outerShdw>
          </a:effectLst>
        </p:spPr>
      </p:sp>
      <p:sp>
        <p:nvSpPr>
          <p:cNvPr id="31" name="Shape 24"/>
          <p:cNvSpPr/>
          <p:nvPr/>
        </p:nvSpPr>
        <p:spPr>
          <a:xfrm>
            <a:off x="8540496" y="4407408"/>
            <a:ext cx="548640" cy="548640"/>
          </a:xfrm>
          <a:prstGeom prst="ellipse">
            <a:avLst/>
          </a:prstGeom>
          <a:solidFill>
            <a:srgbClr val="2A8C7A"/>
          </a:solidFill>
          <a:ln/>
        </p:spPr>
      </p:sp>
      <p:pic>
        <p:nvPicPr>
          <p:cNvPr id="32" name="Image 5" descr="/home/claude/agile/icons/dod.png">    </p:cNvPr>
          <p:cNvPicPr>
            <a:picLocks noChangeAspect="1"/>
          </p:cNvPicPr>
          <p:nvPr/>
        </p:nvPicPr>
        <p:blipFill>
          <a:blip r:embed="rId6"/>
          <a:stretch>
            <a:fillRect/>
          </a:stretch>
        </p:blipFill>
        <p:spPr>
          <a:xfrm>
            <a:off x="8694115" y="4561027"/>
            <a:ext cx="241402" cy="241402"/>
          </a:xfrm>
          <a:prstGeom prst="rect">
            <a:avLst/>
          </a:prstGeom>
        </p:spPr>
      </p:pic>
      <p:sp>
        <p:nvSpPr>
          <p:cNvPr id="33" name="Text 25"/>
          <p:cNvSpPr/>
          <p:nvPr/>
        </p:nvSpPr>
        <p:spPr>
          <a:xfrm>
            <a:off x="9198864" y="4425696"/>
            <a:ext cx="2359152" cy="512064"/>
          </a:xfrm>
          <a:prstGeom prst="rect">
            <a:avLst/>
          </a:prstGeom>
          <a:noFill/>
          <a:ln/>
        </p:spPr>
        <p:txBody>
          <a:bodyPr wrap="square" lIns="0" tIns="0" rIns="0" bIns="0" rtlCol="0" anchor="ctr"/>
          <a:lstStyle/>
          <a:p>
            <a:pPr indent="0" marL="0">
              <a:buNone/>
            </a:pPr>
            <a:r>
              <a:rPr lang="en-US" sz="1450" b="1" dirty="0">
                <a:solidFill>
                  <a:srgbClr val="121D24"/>
                </a:solidFill>
                <a:latin typeface="Calibri" pitchFamily="34" charset="0"/>
                <a:ea typeface="Calibri" pitchFamily="34" charset="-122"/>
                <a:cs typeface="Calibri" pitchFamily="34" charset="-120"/>
              </a:rPr>
              <a:t>Definition of Done</a:t>
            </a:r>
            <a:endParaRPr lang="en-US" sz="1450" dirty="0"/>
          </a:p>
        </p:txBody>
      </p:sp>
      <p:sp>
        <p:nvSpPr>
          <p:cNvPr id="34" name="Text 26"/>
          <p:cNvSpPr/>
          <p:nvPr/>
        </p:nvSpPr>
        <p:spPr>
          <a:xfrm>
            <a:off x="8540496" y="5065776"/>
            <a:ext cx="3017520" cy="676656"/>
          </a:xfrm>
          <a:prstGeom prst="rect">
            <a:avLst/>
          </a:prstGeom>
          <a:noFill/>
          <a:ln/>
        </p:spPr>
        <p:txBody>
          <a:bodyPr wrap="square" lIns="0" tIns="0" rIns="0" bIns="0" rtlCol="0" anchor="ctr"/>
          <a:lstStyle/>
          <a:p>
            <a:pPr indent="0" marL="0">
              <a:lnSpc>
                <a:spcPts val="1600"/>
              </a:lnSpc>
              <a:buNone/>
            </a:pPr>
            <a:r>
              <a:rPr lang="en-US" sz="1200" dirty="0">
                <a:solidFill>
                  <a:srgbClr val="4E5D62"/>
                </a:solidFill>
                <a:latin typeface="Calibri" pitchFamily="34" charset="0"/>
                <a:ea typeface="Calibri" pitchFamily="34" charset="-122"/>
                <a:cs typeface="Calibri" pitchFamily="34" charset="-120"/>
              </a:rPr>
              <a:t>Explicit, shared, includes tests plus review plus deployable. Otherwise "done" is an opinion.</a:t>
            </a:r>
            <a:endParaRPr lang="en-US" sz="1200" dirty="0"/>
          </a:p>
        </p:txBody>
      </p:sp>
      <p:sp>
        <p:nvSpPr>
          <p:cNvPr id="35" name="Text 27"/>
          <p:cNvSpPr/>
          <p:nvPr/>
        </p:nvSpPr>
        <p:spPr>
          <a:xfrm>
            <a:off x="566928" y="6108192"/>
            <a:ext cx="11057839" cy="438912"/>
          </a:xfrm>
          <a:prstGeom prst="rect">
            <a:avLst/>
          </a:prstGeom>
          <a:noFill/>
          <a:ln/>
        </p:spPr>
        <p:txBody>
          <a:bodyPr wrap="square" lIns="0" tIns="0" rIns="0" bIns="0" rtlCol="0" anchor="ctr"/>
          <a:lstStyle/>
          <a:p>
            <a:pPr indent="0" marL="0">
              <a:lnSpc>
                <a:spcPts val="1500"/>
              </a:lnSpc>
              <a:buNone/>
            </a:pPr>
            <a:r>
              <a:rPr lang="en-US" sz="1050" dirty="0">
                <a:solidFill>
                  <a:srgbClr val="6B7A7F"/>
                </a:solidFill>
                <a:latin typeface="Courier New" pitchFamily="34" charset="0"/>
                <a:ea typeface="Courier New" pitchFamily="34" charset="-122"/>
                <a:cs typeface="Courier New" pitchFamily="34" charset="-120"/>
              </a:rPr>
              <a:t>Ceremonies without engineering practices is the single most common way an "Agile transformation" fails.</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21D24"/>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20" kern="0" dirty="0">
                <a:solidFill>
                  <a:srgbClr val="F0B429"/>
                </a:solidFill>
                <a:latin typeface="Courier New" pitchFamily="34" charset="0"/>
                <a:ea typeface="Courier New" pitchFamily="34" charset="-122"/>
                <a:cs typeface="Courier New" pitchFamily="34" charset="-120"/>
              </a:rPr>
              <a:t>08 / WHAT GOES WRONG</a:t>
            </a:r>
            <a:endParaRPr lang="en-US" sz="1100" dirty="0"/>
          </a:p>
        </p:txBody>
      </p:sp>
      <p:sp>
        <p:nvSpPr>
          <p:cNvPr id="3" name="Text 1"/>
          <p:cNvSpPr/>
          <p:nvPr/>
        </p:nvSpPr>
        <p:spPr>
          <a:xfrm>
            <a:off x="566928" y="676656"/>
            <a:ext cx="11057839" cy="658368"/>
          </a:xfrm>
          <a:prstGeom prst="rect">
            <a:avLst/>
          </a:prstGeom>
          <a:noFill/>
          <a:ln/>
        </p:spPr>
        <p:txBody>
          <a:bodyPr wrap="square" lIns="0" tIns="0" rIns="0" bIns="0" rtlCol="0" anchor="ctr"/>
          <a:lstStyle/>
          <a:p>
            <a:pPr algn="l" indent="0" marL="0">
              <a:buNone/>
            </a:pPr>
            <a:r>
              <a:rPr lang="en-US" sz="3400" b="1" dirty="0">
                <a:solidFill>
                  <a:srgbClr val="FFFFFF"/>
                </a:solidFill>
                <a:latin typeface="Calibri" pitchFamily="34" charset="0"/>
                <a:ea typeface="Calibri" pitchFamily="34" charset="-122"/>
                <a:cs typeface="Calibri" pitchFamily="34" charset="-120"/>
              </a:rPr>
              <a:t>Eight ways Agile turns into theatre</a:t>
            </a:r>
            <a:endParaRPr lang="en-US" sz="3400" dirty="0"/>
          </a:p>
        </p:txBody>
      </p:sp>
      <p:sp>
        <p:nvSpPr>
          <p:cNvPr id="4" name="Shape 2"/>
          <p:cNvSpPr/>
          <p:nvPr/>
        </p:nvSpPr>
        <p:spPr>
          <a:xfrm>
            <a:off x="566928" y="1700784"/>
            <a:ext cx="2724912" cy="1207008"/>
          </a:xfrm>
          <a:prstGeom prst="roundRect">
            <a:avLst>
              <a:gd name="adj" fmla="val 7576"/>
            </a:avLst>
          </a:prstGeom>
          <a:solidFill>
            <a:srgbClr val="1C2E38"/>
          </a:solidFill>
          <a:ln/>
        </p:spPr>
      </p:sp>
      <p:sp>
        <p:nvSpPr>
          <p:cNvPr id="5" name="Text 3"/>
          <p:cNvSpPr/>
          <p:nvPr/>
        </p:nvSpPr>
        <p:spPr>
          <a:xfrm>
            <a:off x="786384" y="1847088"/>
            <a:ext cx="2286000" cy="310896"/>
          </a:xfrm>
          <a:prstGeom prst="rect">
            <a:avLst/>
          </a:prstGeom>
          <a:noFill/>
          <a:ln/>
        </p:spPr>
        <p:txBody>
          <a:bodyPr wrap="square" lIns="0" tIns="0" rIns="0" bIns="0" rtlCol="0" anchor="ctr"/>
          <a:lstStyle/>
          <a:p>
            <a:pPr indent="0" marL="0">
              <a:buNone/>
            </a:pPr>
            <a:r>
              <a:rPr lang="en-US" sz="1400" b="1" dirty="0">
                <a:solidFill>
                  <a:srgbClr val="F0B429"/>
                </a:solidFill>
                <a:latin typeface="Calibri" pitchFamily="34" charset="0"/>
                <a:ea typeface="Calibri" pitchFamily="34" charset="-122"/>
                <a:cs typeface="Calibri" pitchFamily="34" charset="-120"/>
              </a:rPr>
              <a:t>Water-Scrum-Fall</a:t>
            </a:r>
            <a:endParaRPr lang="en-US" sz="1400" dirty="0"/>
          </a:p>
        </p:txBody>
      </p:sp>
      <p:sp>
        <p:nvSpPr>
          <p:cNvPr id="6" name="Text 4"/>
          <p:cNvSpPr/>
          <p:nvPr/>
        </p:nvSpPr>
        <p:spPr>
          <a:xfrm>
            <a:off x="786384" y="2176272"/>
            <a:ext cx="2286000" cy="621792"/>
          </a:xfrm>
          <a:prstGeom prst="rect">
            <a:avLst/>
          </a:prstGeom>
          <a:noFill/>
          <a:ln/>
        </p:spPr>
        <p:txBody>
          <a:bodyPr wrap="square" lIns="0" tIns="0" rIns="0" bIns="0" rtlCol="0" anchor="ctr"/>
          <a:lstStyle/>
          <a:p>
            <a:pPr indent="0" marL="0">
              <a:lnSpc>
                <a:spcPts val="1500"/>
              </a:lnSpc>
              <a:buNone/>
            </a:pPr>
            <a:r>
              <a:rPr lang="en-US" sz="1150" dirty="0">
                <a:solidFill>
                  <a:srgbClr val="B9C7CB"/>
                </a:solidFill>
                <a:latin typeface="Calibri" pitchFamily="34" charset="0"/>
                <a:ea typeface="Calibri" pitchFamily="34" charset="-122"/>
                <a:cs typeface="Calibri" pitchFamily="34" charset="-120"/>
              </a:rPr>
              <a:t>Big upfront requirements, sprints in the middle, one release at the end.</a:t>
            </a:r>
            <a:endParaRPr lang="en-US" sz="1150" dirty="0"/>
          </a:p>
        </p:txBody>
      </p:sp>
      <p:sp>
        <p:nvSpPr>
          <p:cNvPr id="7" name="Shape 5"/>
          <p:cNvSpPr/>
          <p:nvPr/>
        </p:nvSpPr>
        <p:spPr>
          <a:xfrm>
            <a:off x="3557016" y="1700784"/>
            <a:ext cx="2724912" cy="1207008"/>
          </a:xfrm>
          <a:prstGeom prst="roundRect">
            <a:avLst>
              <a:gd name="adj" fmla="val 7576"/>
            </a:avLst>
          </a:prstGeom>
          <a:solidFill>
            <a:srgbClr val="1C2E38"/>
          </a:solidFill>
          <a:ln/>
        </p:spPr>
      </p:sp>
      <p:sp>
        <p:nvSpPr>
          <p:cNvPr id="8" name="Text 6"/>
          <p:cNvSpPr/>
          <p:nvPr/>
        </p:nvSpPr>
        <p:spPr>
          <a:xfrm>
            <a:off x="3776472" y="1847088"/>
            <a:ext cx="2286000" cy="310896"/>
          </a:xfrm>
          <a:prstGeom prst="rect">
            <a:avLst/>
          </a:prstGeom>
          <a:noFill/>
          <a:ln/>
        </p:spPr>
        <p:txBody>
          <a:bodyPr wrap="square" lIns="0" tIns="0" rIns="0" bIns="0" rtlCol="0" anchor="ctr"/>
          <a:lstStyle/>
          <a:p>
            <a:pPr indent="0" marL="0">
              <a:buNone/>
            </a:pPr>
            <a:r>
              <a:rPr lang="en-US" sz="1400" b="1" dirty="0">
                <a:solidFill>
                  <a:srgbClr val="F0B429"/>
                </a:solidFill>
                <a:latin typeface="Calibri" pitchFamily="34" charset="0"/>
                <a:ea typeface="Calibri" pitchFamily="34" charset="-122"/>
                <a:cs typeface="Calibri" pitchFamily="34" charset="-120"/>
              </a:rPr>
              <a:t>Zombie standups</a:t>
            </a:r>
            <a:endParaRPr lang="en-US" sz="1400" dirty="0"/>
          </a:p>
        </p:txBody>
      </p:sp>
      <p:sp>
        <p:nvSpPr>
          <p:cNvPr id="9" name="Text 7"/>
          <p:cNvSpPr/>
          <p:nvPr/>
        </p:nvSpPr>
        <p:spPr>
          <a:xfrm>
            <a:off x="3776472" y="2176272"/>
            <a:ext cx="2286000" cy="621792"/>
          </a:xfrm>
          <a:prstGeom prst="rect">
            <a:avLst/>
          </a:prstGeom>
          <a:noFill/>
          <a:ln/>
        </p:spPr>
        <p:txBody>
          <a:bodyPr wrap="square" lIns="0" tIns="0" rIns="0" bIns="0" rtlCol="0" anchor="ctr"/>
          <a:lstStyle/>
          <a:p>
            <a:pPr indent="0" marL="0">
              <a:lnSpc>
                <a:spcPts val="1500"/>
              </a:lnSpc>
              <a:buNone/>
            </a:pPr>
            <a:r>
              <a:rPr lang="en-US" sz="1150" dirty="0">
                <a:solidFill>
                  <a:srgbClr val="B9C7CB"/>
                </a:solidFill>
                <a:latin typeface="Calibri" pitchFamily="34" charset="0"/>
                <a:ea typeface="Calibri" pitchFamily="34" charset="-122"/>
                <a:cs typeface="Calibri" pitchFamily="34" charset="-120"/>
              </a:rPr>
              <a:t>Round-robin status reports delivered to the Scrum Master.</a:t>
            </a:r>
            <a:endParaRPr lang="en-US" sz="1150" dirty="0"/>
          </a:p>
        </p:txBody>
      </p:sp>
      <p:sp>
        <p:nvSpPr>
          <p:cNvPr id="10" name="Shape 8"/>
          <p:cNvSpPr/>
          <p:nvPr/>
        </p:nvSpPr>
        <p:spPr>
          <a:xfrm>
            <a:off x="6547104" y="1700784"/>
            <a:ext cx="2724912" cy="1207008"/>
          </a:xfrm>
          <a:prstGeom prst="roundRect">
            <a:avLst>
              <a:gd name="adj" fmla="val 7576"/>
            </a:avLst>
          </a:prstGeom>
          <a:solidFill>
            <a:srgbClr val="1C2E38"/>
          </a:solidFill>
          <a:ln/>
        </p:spPr>
      </p:sp>
      <p:sp>
        <p:nvSpPr>
          <p:cNvPr id="11" name="Text 9"/>
          <p:cNvSpPr/>
          <p:nvPr/>
        </p:nvSpPr>
        <p:spPr>
          <a:xfrm>
            <a:off x="6766560" y="1847088"/>
            <a:ext cx="2286000" cy="310896"/>
          </a:xfrm>
          <a:prstGeom prst="rect">
            <a:avLst/>
          </a:prstGeom>
          <a:noFill/>
          <a:ln/>
        </p:spPr>
        <p:txBody>
          <a:bodyPr wrap="square" lIns="0" tIns="0" rIns="0" bIns="0" rtlCol="0" anchor="ctr"/>
          <a:lstStyle/>
          <a:p>
            <a:pPr indent="0" marL="0">
              <a:buNone/>
            </a:pPr>
            <a:r>
              <a:rPr lang="en-US" sz="1400" b="1" dirty="0">
                <a:solidFill>
                  <a:srgbClr val="F0B429"/>
                </a:solidFill>
                <a:latin typeface="Calibri" pitchFamily="34" charset="0"/>
                <a:ea typeface="Calibri" pitchFamily="34" charset="-122"/>
                <a:cs typeface="Calibri" pitchFamily="34" charset="-120"/>
              </a:rPr>
              <a:t>Velocity as a KPI</a:t>
            </a:r>
            <a:endParaRPr lang="en-US" sz="1400" dirty="0"/>
          </a:p>
        </p:txBody>
      </p:sp>
      <p:sp>
        <p:nvSpPr>
          <p:cNvPr id="12" name="Text 10"/>
          <p:cNvSpPr/>
          <p:nvPr/>
        </p:nvSpPr>
        <p:spPr>
          <a:xfrm>
            <a:off x="6766560" y="2176272"/>
            <a:ext cx="2286000" cy="621792"/>
          </a:xfrm>
          <a:prstGeom prst="rect">
            <a:avLst/>
          </a:prstGeom>
          <a:noFill/>
          <a:ln/>
        </p:spPr>
        <p:txBody>
          <a:bodyPr wrap="square" lIns="0" tIns="0" rIns="0" bIns="0" rtlCol="0" anchor="ctr"/>
          <a:lstStyle/>
          <a:p>
            <a:pPr indent="0" marL="0">
              <a:lnSpc>
                <a:spcPts val="1500"/>
              </a:lnSpc>
              <a:buNone/>
            </a:pPr>
            <a:r>
              <a:rPr lang="en-US" sz="1150" dirty="0">
                <a:solidFill>
                  <a:srgbClr val="B9C7CB"/>
                </a:solidFill>
                <a:latin typeface="Calibri" pitchFamily="34" charset="0"/>
                <a:ea typeface="Calibri" pitchFamily="34" charset="-122"/>
                <a:cs typeface="Calibri" pitchFamily="34" charset="-120"/>
              </a:rPr>
              <a:t>Management tracks points per person. Estimates inflate immediately.</a:t>
            </a:r>
            <a:endParaRPr lang="en-US" sz="1150" dirty="0"/>
          </a:p>
        </p:txBody>
      </p:sp>
      <p:sp>
        <p:nvSpPr>
          <p:cNvPr id="13" name="Shape 11"/>
          <p:cNvSpPr/>
          <p:nvPr/>
        </p:nvSpPr>
        <p:spPr>
          <a:xfrm>
            <a:off x="9537192" y="1700784"/>
            <a:ext cx="2724912" cy="1207008"/>
          </a:xfrm>
          <a:prstGeom prst="roundRect">
            <a:avLst>
              <a:gd name="adj" fmla="val 7576"/>
            </a:avLst>
          </a:prstGeom>
          <a:solidFill>
            <a:srgbClr val="1C2E38"/>
          </a:solidFill>
          <a:ln/>
        </p:spPr>
      </p:sp>
      <p:sp>
        <p:nvSpPr>
          <p:cNvPr id="14" name="Text 12"/>
          <p:cNvSpPr/>
          <p:nvPr/>
        </p:nvSpPr>
        <p:spPr>
          <a:xfrm>
            <a:off x="9756648" y="1847088"/>
            <a:ext cx="2286000" cy="310896"/>
          </a:xfrm>
          <a:prstGeom prst="rect">
            <a:avLst/>
          </a:prstGeom>
          <a:noFill/>
          <a:ln/>
        </p:spPr>
        <p:txBody>
          <a:bodyPr wrap="square" lIns="0" tIns="0" rIns="0" bIns="0" rtlCol="0" anchor="ctr"/>
          <a:lstStyle/>
          <a:p>
            <a:pPr indent="0" marL="0">
              <a:buNone/>
            </a:pPr>
            <a:r>
              <a:rPr lang="en-US" sz="1400" b="1" dirty="0">
                <a:solidFill>
                  <a:srgbClr val="F0B429"/>
                </a:solidFill>
                <a:latin typeface="Calibri" pitchFamily="34" charset="0"/>
                <a:ea typeface="Calibri" pitchFamily="34" charset="-122"/>
                <a:cs typeface="Calibri" pitchFamily="34" charset="-120"/>
              </a:rPr>
              <a:t>No Definition of Done</a:t>
            </a:r>
            <a:endParaRPr lang="en-US" sz="1400" dirty="0"/>
          </a:p>
        </p:txBody>
      </p:sp>
      <p:sp>
        <p:nvSpPr>
          <p:cNvPr id="15" name="Text 13"/>
          <p:cNvSpPr/>
          <p:nvPr/>
        </p:nvSpPr>
        <p:spPr>
          <a:xfrm>
            <a:off x="9756648" y="2176272"/>
            <a:ext cx="2286000" cy="621792"/>
          </a:xfrm>
          <a:prstGeom prst="rect">
            <a:avLst/>
          </a:prstGeom>
          <a:noFill/>
          <a:ln/>
        </p:spPr>
        <p:txBody>
          <a:bodyPr wrap="square" lIns="0" tIns="0" rIns="0" bIns="0" rtlCol="0" anchor="ctr"/>
          <a:lstStyle/>
          <a:p>
            <a:pPr indent="0" marL="0">
              <a:lnSpc>
                <a:spcPts val="1500"/>
              </a:lnSpc>
              <a:buNone/>
            </a:pPr>
            <a:r>
              <a:rPr lang="en-US" sz="1150" dirty="0">
                <a:solidFill>
                  <a:srgbClr val="B9C7CB"/>
                </a:solidFill>
                <a:latin typeface="Calibri" pitchFamily="34" charset="0"/>
                <a:ea typeface="Calibri" pitchFamily="34" charset="-122"/>
                <a:cs typeface="Calibri" pitchFamily="34" charset="-120"/>
              </a:rPr>
              <a:t>"Done" means merged; QA finds the truth three sprints later.</a:t>
            </a:r>
            <a:endParaRPr lang="en-US" sz="1150" dirty="0"/>
          </a:p>
        </p:txBody>
      </p:sp>
      <p:sp>
        <p:nvSpPr>
          <p:cNvPr id="16" name="Shape 14"/>
          <p:cNvSpPr/>
          <p:nvPr/>
        </p:nvSpPr>
        <p:spPr>
          <a:xfrm>
            <a:off x="566928" y="3145536"/>
            <a:ext cx="2724912" cy="1207008"/>
          </a:xfrm>
          <a:prstGeom prst="roundRect">
            <a:avLst>
              <a:gd name="adj" fmla="val 7576"/>
            </a:avLst>
          </a:prstGeom>
          <a:solidFill>
            <a:srgbClr val="1C2E38"/>
          </a:solidFill>
          <a:ln/>
        </p:spPr>
      </p:sp>
      <p:sp>
        <p:nvSpPr>
          <p:cNvPr id="17" name="Text 15"/>
          <p:cNvSpPr/>
          <p:nvPr/>
        </p:nvSpPr>
        <p:spPr>
          <a:xfrm>
            <a:off x="786384" y="3291840"/>
            <a:ext cx="2286000" cy="310896"/>
          </a:xfrm>
          <a:prstGeom prst="rect">
            <a:avLst/>
          </a:prstGeom>
          <a:noFill/>
          <a:ln/>
        </p:spPr>
        <p:txBody>
          <a:bodyPr wrap="square" lIns="0" tIns="0" rIns="0" bIns="0" rtlCol="0" anchor="ctr"/>
          <a:lstStyle/>
          <a:p>
            <a:pPr indent="0" marL="0">
              <a:buNone/>
            </a:pPr>
            <a:r>
              <a:rPr lang="en-US" sz="1400" b="1" dirty="0">
                <a:solidFill>
                  <a:srgbClr val="F0B429"/>
                </a:solidFill>
                <a:latin typeface="Calibri" pitchFamily="34" charset="0"/>
                <a:ea typeface="Calibri" pitchFamily="34" charset="-122"/>
                <a:cs typeface="Calibri" pitchFamily="34" charset="-120"/>
              </a:rPr>
              <a:t>Retro theatre</a:t>
            </a:r>
            <a:endParaRPr lang="en-US" sz="1400" dirty="0"/>
          </a:p>
        </p:txBody>
      </p:sp>
      <p:sp>
        <p:nvSpPr>
          <p:cNvPr id="18" name="Text 16"/>
          <p:cNvSpPr/>
          <p:nvPr/>
        </p:nvSpPr>
        <p:spPr>
          <a:xfrm>
            <a:off x="786384" y="3621024"/>
            <a:ext cx="2286000" cy="621792"/>
          </a:xfrm>
          <a:prstGeom prst="rect">
            <a:avLst/>
          </a:prstGeom>
          <a:noFill/>
          <a:ln/>
        </p:spPr>
        <p:txBody>
          <a:bodyPr wrap="square" lIns="0" tIns="0" rIns="0" bIns="0" rtlCol="0" anchor="ctr"/>
          <a:lstStyle/>
          <a:p>
            <a:pPr indent="0" marL="0">
              <a:lnSpc>
                <a:spcPts val="1500"/>
              </a:lnSpc>
              <a:buNone/>
            </a:pPr>
            <a:r>
              <a:rPr lang="en-US" sz="1150" dirty="0">
                <a:solidFill>
                  <a:srgbClr val="B9C7CB"/>
                </a:solidFill>
                <a:latin typeface="Calibri" pitchFamily="34" charset="0"/>
                <a:ea typeface="Calibri" pitchFamily="34" charset="-122"/>
                <a:cs typeface="Calibri" pitchFamily="34" charset="-120"/>
              </a:rPr>
              <a:t>Same issues raised every sprint, no owners, nothing changes.</a:t>
            </a:r>
            <a:endParaRPr lang="en-US" sz="1150" dirty="0"/>
          </a:p>
        </p:txBody>
      </p:sp>
      <p:sp>
        <p:nvSpPr>
          <p:cNvPr id="19" name="Shape 17"/>
          <p:cNvSpPr/>
          <p:nvPr/>
        </p:nvSpPr>
        <p:spPr>
          <a:xfrm>
            <a:off x="3557016" y="3145536"/>
            <a:ext cx="2724912" cy="1207008"/>
          </a:xfrm>
          <a:prstGeom prst="roundRect">
            <a:avLst>
              <a:gd name="adj" fmla="val 7576"/>
            </a:avLst>
          </a:prstGeom>
          <a:solidFill>
            <a:srgbClr val="1C2E38"/>
          </a:solidFill>
          <a:ln/>
        </p:spPr>
      </p:sp>
      <p:sp>
        <p:nvSpPr>
          <p:cNvPr id="20" name="Text 18"/>
          <p:cNvSpPr/>
          <p:nvPr/>
        </p:nvSpPr>
        <p:spPr>
          <a:xfrm>
            <a:off x="3776472" y="3291840"/>
            <a:ext cx="2286000" cy="310896"/>
          </a:xfrm>
          <a:prstGeom prst="rect">
            <a:avLst/>
          </a:prstGeom>
          <a:noFill/>
          <a:ln/>
        </p:spPr>
        <p:txBody>
          <a:bodyPr wrap="square" lIns="0" tIns="0" rIns="0" bIns="0" rtlCol="0" anchor="ctr"/>
          <a:lstStyle/>
          <a:p>
            <a:pPr indent="0" marL="0">
              <a:buNone/>
            </a:pPr>
            <a:r>
              <a:rPr lang="en-US" sz="1400" b="1" dirty="0">
                <a:solidFill>
                  <a:srgbClr val="F0B429"/>
                </a:solidFill>
                <a:latin typeface="Calibri" pitchFamily="34" charset="0"/>
                <a:ea typeface="Calibri" pitchFamily="34" charset="-122"/>
                <a:cs typeface="Calibri" pitchFamily="34" charset="-120"/>
              </a:rPr>
              <a:t>Backlog as a landfill</a:t>
            </a:r>
            <a:endParaRPr lang="en-US" sz="1400" dirty="0"/>
          </a:p>
        </p:txBody>
      </p:sp>
      <p:sp>
        <p:nvSpPr>
          <p:cNvPr id="21" name="Text 19"/>
          <p:cNvSpPr/>
          <p:nvPr/>
        </p:nvSpPr>
        <p:spPr>
          <a:xfrm>
            <a:off x="3776472" y="3621024"/>
            <a:ext cx="2286000" cy="621792"/>
          </a:xfrm>
          <a:prstGeom prst="rect">
            <a:avLst/>
          </a:prstGeom>
          <a:noFill/>
          <a:ln/>
        </p:spPr>
        <p:txBody>
          <a:bodyPr wrap="square" lIns="0" tIns="0" rIns="0" bIns="0" rtlCol="0" anchor="ctr"/>
          <a:lstStyle/>
          <a:p>
            <a:pPr indent="0" marL="0">
              <a:lnSpc>
                <a:spcPts val="1500"/>
              </a:lnSpc>
              <a:buNone/>
            </a:pPr>
            <a:r>
              <a:rPr lang="en-US" sz="1150" dirty="0">
                <a:solidFill>
                  <a:srgbClr val="B9C7CB"/>
                </a:solidFill>
                <a:latin typeface="Calibri" pitchFamily="34" charset="0"/>
                <a:ea typeface="Calibri" pitchFamily="34" charset="-122"/>
                <a:cs typeface="Calibri" pitchFamily="34" charset="-120"/>
              </a:rPr>
              <a:t>800 items, nothing pruned, priority order meaningless.</a:t>
            </a:r>
            <a:endParaRPr lang="en-US" sz="1150" dirty="0"/>
          </a:p>
        </p:txBody>
      </p:sp>
      <p:sp>
        <p:nvSpPr>
          <p:cNvPr id="22" name="Shape 20"/>
          <p:cNvSpPr/>
          <p:nvPr/>
        </p:nvSpPr>
        <p:spPr>
          <a:xfrm>
            <a:off x="6547104" y="3145536"/>
            <a:ext cx="2724912" cy="1207008"/>
          </a:xfrm>
          <a:prstGeom prst="roundRect">
            <a:avLst>
              <a:gd name="adj" fmla="val 7576"/>
            </a:avLst>
          </a:prstGeom>
          <a:solidFill>
            <a:srgbClr val="1C2E38"/>
          </a:solidFill>
          <a:ln/>
        </p:spPr>
      </p:sp>
      <p:sp>
        <p:nvSpPr>
          <p:cNvPr id="23" name="Text 21"/>
          <p:cNvSpPr/>
          <p:nvPr/>
        </p:nvSpPr>
        <p:spPr>
          <a:xfrm>
            <a:off x="6766560" y="3291840"/>
            <a:ext cx="2286000" cy="310896"/>
          </a:xfrm>
          <a:prstGeom prst="rect">
            <a:avLst/>
          </a:prstGeom>
          <a:noFill/>
          <a:ln/>
        </p:spPr>
        <p:txBody>
          <a:bodyPr wrap="square" lIns="0" tIns="0" rIns="0" bIns="0" rtlCol="0" anchor="ctr"/>
          <a:lstStyle/>
          <a:p>
            <a:pPr indent="0" marL="0">
              <a:buNone/>
            </a:pPr>
            <a:r>
              <a:rPr lang="en-US" sz="1400" b="1" dirty="0">
                <a:solidFill>
                  <a:srgbClr val="F0B429"/>
                </a:solidFill>
                <a:latin typeface="Calibri" pitchFamily="34" charset="0"/>
                <a:ea typeface="Calibri" pitchFamily="34" charset="-122"/>
                <a:cs typeface="Calibri" pitchFamily="34" charset="-120"/>
              </a:rPr>
              <a:t>Scope injection</a:t>
            </a:r>
            <a:endParaRPr lang="en-US" sz="1400" dirty="0"/>
          </a:p>
        </p:txBody>
      </p:sp>
      <p:sp>
        <p:nvSpPr>
          <p:cNvPr id="24" name="Text 22"/>
          <p:cNvSpPr/>
          <p:nvPr/>
        </p:nvSpPr>
        <p:spPr>
          <a:xfrm>
            <a:off x="6766560" y="3621024"/>
            <a:ext cx="2286000" cy="621792"/>
          </a:xfrm>
          <a:prstGeom prst="rect">
            <a:avLst/>
          </a:prstGeom>
          <a:noFill/>
          <a:ln/>
        </p:spPr>
        <p:txBody>
          <a:bodyPr wrap="square" lIns="0" tIns="0" rIns="0" bIns="0" rtlCol="0" anchor="ctr"/>
          <a:lstStyle/>
          <a:p>
            <a:pPr indent="0" marL="0">
              <a:lnSpc>
                <a:spcPts val="1500"/>
              </a:lnSpc>
              <a:buNone/>
            </a:pPr>
            <a:r>
              <a:rPr lang="en-US" sz="1150" dirty="0">
                <a:solidFill>
                  <a:srgbClr val="B9C7CB"/>
                </a:solidFill>
                <a:latin typeface="Calibri" pitchFamily="34" charset="0"/>
                <a:ea typeface="Calibri" pitchFamily="34" charset="-122"/>
                <a:cs typeface="Calibri" pitchFamily="34" charset="-120"/>
              </a:rPr>
              <a:t>The PO adds work mid-sprint and nobody stops them.</a:t>
            </a:r>
            <a:endParaRPr lang="en-US" sz="1150" dirty="0"/>
          </a:p>
        </p:txBody>
      </p:sp>
      <p:sp>
        <p:nvSpPr>
          <p:cNvPr id="25" name="Shape 23"/>
          <p:cNvSpPr/>
          <p:nvPr/>
        </p:nvSpPr>
        <p:spPr>
          <a:xfrm>
            <a:off x="9537192" y="3145536"/>
            <a:ext cx="2724912" cy="1207008"/>
          </a:xfrm>
          <a:prstGeom prst="roundRect">
            <a:avLst>
              <a:gd name="adj" fmla="val 7576"/>
            </a:avLst>
          </a:prstGeom>
          <a:solidFill>
            <a:srgbClr val="1C2E38"/>
          </a:solidFill>
          <a:ln/>
        </p:spPr>
      </p:sp>
      <p:sp>
        <p:nvSpPr>
          <p:cNvPr id="26" name="Text 24"/>
          <p:cNvSpPr/>
          <p:nvPr/>
        </p:nvSpPr>
        <p:spPr>
          <a:xfrm>
            <a:off x="9756648" y="3291840"/>
            <a:ext cx="2286000" cy="310896"/>
          </a:xfrm>
          <a:prstGeom prst="rect">
            <a:avLst/>
          </a:prstGeom>
          <a:noFill/>
          <a:ln/>
        </p:spPr>
        <p:txBody>
          <a:bodyPr wrap="square" lIns="0" tIns="0" rIns="0" bIns="0" rtlCol="0" anchor="ctr"/>
          <a:lstStyle/>
          <a:p>
            <a:pPr indent="0" marL="0">
              <a:buNone/>
            </a:pPr>
            <a:r>
              <a:rPr lang="en-US" sz="1400" b="1" dirty="0">
                <a:solidFill>
                  <a:srgbClr val="F0B429"/>
                </a:solidFill>
                <a:latin typeface="Calibri" pitchFamily="34" charset="0"/>
                <a:ea typeface="Calibri" pitchFamily="34" charset="-122"/>
                <a:cs typeface="Calibri" pitchFamily="34" charset="-120"/>
              </a:rPr>
              <a:t>Absentee Product Owner</a:t>
            </a:r>
            <a:endParaRPr lang="en-US" sz="1400" dirty="0"/>
          </a:p>
        </p:txBody>
      </p:sp>
      <p:sp>
        <p:nvSpPr>
          <p:cNvPr id="27" name="Text 25"/>
          <p:cNvSpPr/>
          <p:nvPr/>
        </p:nvSpPr>
        <p:spPr>
          <a:xfrm>
            <a:off x="9756648" y="3621024"/>
            <a:ext cx="2286000" cy="621792"/>
          </a:xfrm>
          <a:prstGeom prst="rect">
            <a:avLst/>
          </a:prstGeom>
          <a:noFill/>
          <a:ln/>
        </p:spPr>
        <p:txBody>
          <a:bodyPr wrap="square" lIns="0" tIns="0" rIns="0" bIns="0" rtlCol="0" anchor="ctr"/>
          <a:lstStyle/>
          <a:p>
            <a:pPr indent="0" marL="0">
              <a:lnSpc>
                <a:spcPts val="1500"/>
              </a:lnSpc>
              <a:buNone/>
            </a:pPr>
            <a:r>
              <a:rPr lang="en-US" sz="1150" dirty="0">
                <a:solidFill>
                  <a:srgbClr val="B9C7CB"/>
                </a:solidFill>
                <a:latin typeface="Calibri" pitchFamily="34" charset="0"/>
                <a:ea typeface="Calibri" pitchFamily="34" charset="-122"/>
                <a:cs typeface="Calibri" pitchFamily="34" charset="-120"/>
              </a:rPr>
              <a:t>Devs guess at requirements. The role was given to someone with no time.</a:t>
            </a:r>
            <a:endParaRPr lang="en-US" sz="1150" dirty="0"/>
          </a:p>
        </p:txBody>
      </p:sp>
      <p:sp>
        <p:nvSpPr>
          <p:cNvPr id="28" name="Shape 26"/>
          <p:cNvSpPr/>
          <p:nvPr/>
        </p:nvSpPr>
        <p:spPr>
          <a:xfrm>
            <a:off x="566928" y="4517136"/>
            <a:ext cx="11057839" cy="1463040"/>
          </a:xfrm>
          <a:prstGeom prst="roundRect">
            <a:avLst>
              <a:gd name="adj" fmla="val 7500"/>
            </a:avLst>
          </a:prstGeom>
          <a:solidFill>
            <a:srgbClr val="E0512B"/>
          </a:solidFill>
          <a:ln/>
        </p:spPr>
      </p:sp>
      <p:sp>
        <p:nvSpPr>
          <p:cNvPr id="29" name="Text 27"/>
          <p:cNvSpPr/>
          <p:nvPr/>
        </p:nvSpPr>
        <p:spPr>
          <a:xfrm>
            <a:off x="896112" y="4700016"/>
            <a:ext cx="4206240" cy="310896"/>
          </a:xfrm>
          <a:prstGeom prst="rect">
            <a:avLst/>
          </a:prstGeom>
          <a:noFill/>
          <a:ln/>
        </p:spPr>
        <p:txBody>
          <a:bodyPr wrap="square" lIns="0" tIns="0" rIns="0" bIns="0" rtlCol="0" anchor="ctr"/>
          <a:lstStyle/>
          <a:p>
            <a:pPr indent="0" marL="0">
              <a:buNone/>
            </a:pPr>
            <a:r>
              <a:rPr lang="en-US" sz="1100" b="1" spc="160" kern="0" dirty="0">
                <a:solidFill>
                  <a:srgbClr val="FFD9CD"/>
                </a:solidFill>
                <a:latin typeface="Courier New" pitchFamily="34" charset="0"/>
                <a:ea typeface="Courier New" pitchFamily="34" charset="-122"/>
                <a:cs typeface="Courier New" pitchFamily="34" charset="-120"/>
              </a:rPr>
              <a:t>The common root cause</a:t>
            </a:r>
            <a:endParaRPr lang="en-US" sz="1100" dirty="0"/>
          </a:p>
        </p:txBody>
      </p:sp>
      <p:sp>
        <p:nvSpPr>
          <p:cNvPr id="30" name="Text 28"/>
          <p:cNvSpPr/>
          <p:nvPr/>
        </p:nvSpPr>
        <p:spPr>
          <a:xfrm>
            <a:off x="896112" y="5029200"/>
            <a:ext cx="10399471" cy="822960"/>
          </a:xfrm>
          <a:prstGeom prst="rect">
            <a:avLst/>
          </a:prstGeom>
          <a:noFill/>
          <a:ln/>
        </p:spPr>
        <p:txBody>
          <a:bodyPr wrap="square" lIns="0" tIns="0" rIns="0" bIns="0" rtlCol="0" anchor="ctr"/>
          <a:lstStyle/>
          <a:p>
            <a:pPr indent="0" marL="0">
              <a:lnSpc>
                <a:spcPts val="2000"/>
              </a:lnSpc>
              <a:buNone/>
            </a:pPr>
            <a:r>
              <a:rPr lang="en-US" sz="1400" dirty="0">
                <a:solidFill>
                  <a:srgbClr val="FFFFFF"/>
                </a:solidFill>
                <a:latin typeface="Calibri" pitchFamily="34" charset="0"/>
                <a:ea typeface="Calibri" pitchFamily="34" charset="-122"/>
                <a:cs typeface="Calibri" pitchFamily="34" charset="-120"/>
              </a:rPr>
              <a:t>Almost every item above is the same failure wearing a different hat: the organisation kept its old decision-making structure and asked only the development team to change. Agile is a change to who decides what, and when — if that does not move, nothing does.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20" kern="0" dirty="0">
                <a:solidFill>
                  <a:srgbClr val="E0512B"/>
                </a:solidFill>
                <a:latin typeface="Courier New" pitchFamily="34" charset="0"/>
                <a:ea typeface="Courier New" pitchFamily="34" charset="-122"/>
                <a:cs typeface="Courier New" pitchFamily="34" charset="-120"/>
              </a:rPr>
              <a:t>09 / LIMITS</a:t>
            </a:r>
            <a:endParaRPr lang="en-US" sz="1100" dirty="0"/>
          </a:p>
        </p:txBody>
      </p:sp>
      <p:sp>
        <p:nvSpPr>
          <p:cNvPr id="3" name="Text 1"/>
          <p:cNvSpPr/>
          <p:nvPr/>
        </p:nvSpPr>
        <p:spPr>
          <a:xfrm>
            <a:off x="566928" y="676656"/>
            <a:ext cx="11057839" cy="658368"/>
          </a:xfrm>
          <a:prstGeom prst="rect">
            <a:avLst/>
          </a:prstGeom>
          <a:noFill/>
          <a:ln/>
        </p:spPr>
        <p:txBody>
          <a:bodyPr wrap="square" lIns="0" tIns="0" rIns="0" bIns="0" rtlCol="0" anchor="ctr"/>
          <a:lstStyle/>
          <a:p>
            <a:pPr algn="l" indent="0" marL="0">
              <a:buNone/>
            </a:pPr>
            <a:r>
              <a:rPr lang="en-US" sz="3400" b="1" dirty="0">
                <a:solidFill>
                  <a:srgbClr val="121D24"/>
                </a:solidFill>
                <a:latin typeface="Calibri" pitchFamily="34" charset="0"/>
                <a:ea typeface="Calibri" pitchFamily="34" charset="-122"/>
                <a:cs typeface="Calibri" pitchFamily="34" charset="-120"/>
              </a:rPr>
              <a:t>When Agile is the wrong choice</a:t>
            </a:r>
            <a:endParaRPr lang="en-US" sz="3400" dirty="0"/>
          </a:p>
        </p:txBody>
      </p:sp>
      <p:sp>
        <p:nvSpPr>
          <p:cNvPr id="4" name="Text 2"/>
          <p:cNvSpPr/>
          <p:nvPr/>
        </p:nvSpPr>
        <p:spPr>
          <a:xfrm>
            <a:off x="566928" y="1335024"/>
            <a:ext cx="10515600" cy="457200"/>
          </a:xfrm>
          <a:prstGeom prst="rect">
            <a:avLst/>
          </a:prstGeom>
          <a:noFill/>
          <a:ln/>
        </p:spPr>
        <p:txBody>
          <a:bodyPr wrap="square" lIns="0" tIns="0" rIns="0" bIns="0" rtlCol="0" anchor="t"/>
          <a:lstStyle/>
          <a:p>
            <a:pPr indent="0" marL="0">
              <a:lnSpc>
                <a:spcPts val="1900"/>
              </a:lnSpc>
              <a:buNone/>
            </a:pPr>
            <a:r>
              <a:rPr lang="en-US" sz="1450" dirty="0">
                <a:solidFill>
                  <a:srgbClr val="6B7A7F"/>
                </a:solidFill>
                <a:latin typeface="Calibri" pitchFamily="34" charset="0"/>
                <a:ea typeface="Calibri" pitchFamily="34" charset="-122"/>
                <a:cs typeface="Calibri" pitchFamily="34" charset="-120"/>
              </a:rPr>
              <a:t>Agile assumes requirements are uncertain and iteration is cheap. Where neither holds, it fits badly — and saying so is not heresy.</a:t>
            </a:r>
            <a:endParaRPr lang="en-US" sz="1450" dirty="0"/>
          </a:p>
        </p:txBody>
      </p:sp>
      <p:sp>
        <p:nvSpPr>
          <p:cNvPr id="5" name="Shape 3"/>
          <p:cNvSpPr/>
          <p:nvPr/>
        </p:nvSpPr>
        <p:spPr>
          <a:xfrm>
            <a:off x="566928" y="2194560"/>
            <a:ext cx="5532120" cy="1773936"/>
          </a:xfrm>
          <a:prstGeom prst="roundRect">
            <a:avLst>
              <a:gd name="adj" fmla="val 5670"/>
            </a:avLst>
          </a:prstGeom>
          <a:solidFill>
            <a:srgbClr val="EDF1F0"/>
          </a:solidFill>
          <a:ln/>
          <a:effectLst>
            <a:outerShdw sx="100000" sy="100000" kx="0" ky="0" algn="bl" rotWithShape="0" blurRad="127000" dist="38100" dir="5400000">
              <a:srgbClr val="0B1418">
                <a:alpha val="13000"/>
              </a:srgbClr>
            </a:outerShdw>
          </a:effectLst>
        </p:spPr>
      </p:sp>
      <p:sp>
        <p:nvSpPr>
          <p:cNvPr id="6" name="Shape 4"/>
          <p:cNvSpPr/>
          <p:nvPr/>
        </p:nvSpPr>
        <p:spPr>
          <a:xfrm>
            <a:off x="859536" y="2487168"/>
            <a:ext cx="566928" cy="566928"/>
          </a:xfrm>
          <a:prstGeom prst="ellipse">
            <a:avLst/>
          </a:prstGeom>
          <a:solidFill>
            <a:srgbClr val="E0512B"/>
          </a:solidFill>
          <a:ln/>
        </p:spPr>
      </p:sp>
      <p:pic>
        <p:nvPicPr>
          <p:cNvPr id="7" name="Image 0" descr="/home/claude/agile/icons/stop.png">    </p:cNvPr>
          <p:cNvPicPr>
            <a:picLocks noChangeAspect="1"/>
          </p:cNvPicPr>
          <p:nvPr/>
        </p:nvPicPr>
        <p:blipFill>
          <a:blip r:embed="rId1"/>
          <a:stretch>
            <a:fillRect/>
          </a:stretch>
        </p:blipFill>
        <p:spPr>
          <a:xfrm>
            <a:off x="1018276" y="2645908"/>
            <a:ext cx="249448" cy="249448"/>
          </a:xfrm>
          <a:prstGeom prst="rect">
            <a:avLst/>
          </a:prstGeom>
        </p:spPr>
      </p:pic>
      <p:sp>
        <p:nvSpPr>
          <p:cNvPr id="8" name="Text 5"/>
          <p:cNvSpPr/>
          <p:nvPr/>
        </p:nvSpPr>
        <p:spPr>
          <a:xfrm>
            <a:off x="1572768" y="2468880"/>
            <a:ext cx="4233672" cy="603504"/>
          </a:xfrm>
          <a:prstGeom prst="rect">
            <a:avLst/>
          </a:prstGeom>
          <a:noFill/>
          <a:ln/>
        </p:spPr>
        <p:txBody>
          <a:bodyPr wrap="square" lIns="0" tIns="0" rIns="0" bIns="0" rtlCol="0" anchor="ctr"/>
          <a:lstStyle/>
          <a:p>
            <a:pPr indent="0" marL="0">
              <a:buNone/>
            </a:pPr>
            <a:r>
              <a:rPr lang="en-US" sz="1650" b="1" dirty="0">
                <a:solidFill>
                  <a:srgbClr val="121D24"/>
                </a:solidFill>
                <a:latin typeface="Calibri" pitchFamily="34" charset="0"/>
                <a:ea typeface="Calibri" pitchFamily="34" charset="-122"/>
                <a:cs typeface="Calibri" pitchFamily="34" charset="-120"/>
              </a:rPr>
              <a:t>Safety-critical &amp; regulated</a:t>
            </a:r>
            <a:endParaRPr lang="en-US" sz="1650" dirty="0"/>
          </a:p>
        </p:txBody>
      </p:sp>
      <p:sp>
        <p:nvSpPr>
          <p:cNvPr id="9" name="Text 6"/>
          <p:cNvSpPr/>
          <p:nvPr/>
        </p:nvSpPr>
        <p:spPr>
          <a:xfrm>
            <a:off x="859536" y="3163824"/>
            <a:ext cx="4946904" cy="694944"/>
          </a:xfrm>
          <a:prstGeom prst="rect">
            <a:avLst/>
          </a:prstGeom>
          <a:noFill/>
          <a:ln/>
        </p:spPr>
        <p:txBody>
          <a:bodyPr wrap="square" lIns="0" tIns="0" rIns="0" bIns="0" rtlCol="0" anchor="ctr"/>
          <a:lstStyle/>
          <a:p>
            <a:pPr indent="0" marL="0">
              <a:lnSpc>
                <a:spcPts val="1700"/>
              </a:lnSpc>
              <a:buNone/>
            </a:pPr>
            <a:r>
              <a:rPr lang="en-US" sz="1250" dirty="0">
                <a:solidFill>
                  <a:srgbClr val="4E5D62"/>
                </a:solidFill>
                <a:latin typeface="Calibri" pitchFamily="34" charset="0"/>
                <a:ea typeface="Calibri" pitchFamily="34" charset="-122"/>
                <a:cs typeface="Calibri" pitchFamily="34" charset="-120"/>
              </a:rPr>
              <a:t>Avionics, medical devices, anything where upfront verification is a legal requirement rather than a preference.</a:t>
            </a:r>
            <a:endParaRPr lang="en-US" sz="1250" dirty="0"/>
          </a:p>
        </p:txBody>
      </p:sp>
      <p:sp>
        <p:nvSpPr>
          <p:cNvPr id="10" name="Shape 7"/>
          <p:cNvSpPr/>
          <p:nvPr/>
        </p:nvSpPr>
        <p:spPr>
          <a:xfrm>
            <a:off x="6419088" y="2194560"/>
            <a:ext cx="5532120" cy="1773936"/>
          </a:xfrm>
          <a:prstGeom prst="roundRect">
            <a:avLst>
              <a:gd name="adj" fmla="val 5670"/>
            </a:avLst>
          </a:prstGeom>
          <a:solidFill>
            <a:srgbClr val="EDF1F0"/>
          </a:solidFill>
          <a:ln/>
          <a:effectLst>
            <a:outerShdw sx="100000" sy="100000" kx="0" ky="0" algn="bl" rotWithShape="0" blurRad="127000" dist="38100" dir="5400000">
              <a:srgbClr val="0B1418">
                <a:alpha val="13000"/>
              </a:srgbClr>
            </a:outerShdw>
          </a:effectLst>
        </p:spPr>
      </p:sp>
      <p:sp>
        <p:nvSpPr>
          <p:cNvPr id="11" name="Shape 8"/>
          <p:cNvSpPr/>
          <p:nvPr/>
        </p:nvSpPr>
        <p:spPr>
          <a:xfrm>
            <a:off x="6711696" y="2487168"/>
            <a:ext cx="566928" cy="566928"/>
          </a:xfrm>
          <a:prstGeom prst="ellipse">
            <a:avLst/>
          </a:prstGeom>
          <a:solidFill>
            <a:srgbClr val="E0512B"/>
          </a:solidFill>
          <a:ln/>
        </p:spPr>
      </p:sp>
      <p:pic>
        <p:nvPicPr>
          <p:cNvPr id="12" name="Image 1" descr="/home/claude/agile/icons/stop.png">    </p:cNvPr>
          <p:cNvPicPr>
            <a:picLocks noChangeAspect="1"/>
          </p:cNvPicPr>
          <p:nvPr/>
        </p:nvPicPr>
        <p:blipFill>
          <a:blip r:embed="rId2"/>
          <a:stretch>
            <a:fillRect/>
          </a:stretch>
        </p:blipFill>
        <p:spPr>
          <a:xfrm>
            <a:off x="6870436" y="2645908"/>
            <a:ext cx="249448" cy="249448"/>
          </a:xfrm>
          <a:prstGeom prst="rect">
            <a:avLst/>
          </a:prstGeom>
        </p:spPr>
      </p:pic>
      <p:sp>
        <p:nvSpPr>
          <p:cNvPr id="13" name="Text 9"/>
          <p:cNvSpPr/>
          <p:nvPr/>
        </p:nvSpPr>
        <p:spPr>
          <a:xfrm>
            <a:off x="7424928" y="2468880"/>
            <a:ext cx="4233672" cy="603504"/>
          </a:xfrm>
          <a:prstGeom prst="rect">
            <a:avLst/>
          </a:prstGeom>
          <a:noFill/>
          <a:ln/>
        </p:spPr>
        <p:txBody>
          <a:bodyPr wrap="square" lIns="0" tIns="0" rIns="0" bIns="0" rtlCol="0" anchor="ctr"/>
          <a:lstStyle/>
          <a:p>
            <a:pPr indent="0" marL="0">
              <a:buNone/>
            </a:pPr>
            <a:r>
              <a:rPr lang="en-US" sz="1650" b="1" dirty="0">
                <a:solidFill>
                  <a:srgbClr val="121D24"/>
                </a:solidFill>
                <a:latin typeface="Calibri" pitchFamily="34" charset="0"/>
                <a:ea typeface="Calibri" pitchFamily="34" charset="-122"/>
                <a:cs typeface="Calibri" pitchFamily="34" charset="-120"/>
              </a:rPr>
              <a:t>Fixed-scope fixed-price contracts</a:t>
            </a:r>
            <a:endParaRPr lang="en-US" sz="1650" dirty="0"/>
          </a:p>
        </p:txBody>
      </p:sp>
      <p:sp>
        <p:nvSpPr>
          <p:cNvPr id="14" name="Text 10"/>
          <p:cNvSpPr/>
          <p:nvPr/>
        </p:nvSpPr>
        <p:spPr>
          <a:xfrm>
            <a:off x="6711696" y="3163824"/>
            <a:ext cx="4946904" cy="694944"/>
          </a:xfrm>
          <a:prstGeom prst="rect">
            <a:avLst/>
          </a:prstGeom>
          <a:noFill/>
          <a:ln/>
        </p:spPr>
        <p:txBody>
          <a:bodyPr wrap="square" lIns="0" tIns="0" rIns="0" bIns="0" rtlCol="0" anchor="ctr"/>
          <a:lstStyle/>
          <a:p>
            <a:pPr indent="0" marL="0">
              <a:lnSpc>
                <a:spcPts val="1700"/>
              </a:lnSpc>
              <a:buNone/>
            </a:pPr>
            <a:r>
              <a:rPr lang="en-US" sz="1250" dirty="0">
                <a:solidFill>
                  <a:srgbClr val="4E5D62"/>
                </a:solidFill>
                <a:latin typeface="Calibri" pitchFamily="34" charset="0"/>
                <a:ea typeface="Calibri" pitchFamily="34" charset="-122"/>
                <a:cs typeface="Calibri" pitchFamily="34" charset="-120"/>
              </a:rPr>
              <a:t>The contract structure fights the methodology. You cannot welcome changing requirements when scope is the payment term.</a:t>
            </a:r>
            <a:endParaRPr lang="en-US" sz="1250" dirty="0"/>
          </a:p>
        </p:txBody>
      </p:sp>
      <p:sp>
        <p:nvSpPr>
          <p:cNvPr id="15" name="Shape 11"/>
          <p:cNvSpPr/>
          <p:nvPr/>
        </p:nvSpPr>
        <p:spPr>
          <a:xfrm>
            <a:off x="566928" y="4242816"/>
            <a:ext cx="5532120" cy="1773936"/>
          </a:xfrm>
          <a:prstGeom prst="roundRect">
            <a:avLst>
              <a:gd name="adj" fmla="val 5670"/>
            </a:avLst>
          </a:prstGeom>
          <a:solidFill>
            <a:srgbClr val="EDF1F0"/>
          </a:solidFill>
          <a:ln/>
          <a:effectLst>
            <a:outerShdw sx="100000" sy="100000" kx="0" ky="0" algn="bl" rotWithShape="0" blurRad="127000" dist="38100" dir="5400000">
              <a:srgbClr val="0B1418">
                <a:alpha val="13000"/>
              </a:srgbClr>
            </a:outerShdw>
          </a:effectLst>
        </p:spPr>
      </p:sp>
      <p:sp>
        <p:nvSpPr>
          <p:cNvPr id="16" name="Shape 12"/>
          <p:cNvSpPr/>
          <p:nvPr/>
        </p:nvSpPr>
        <p:spPr>
          <a:xfrm>
            <a:off x="859536" y="4535424"/>
            <a:ext cx="566928" cy="566928"/>
          </a:xfrm>
          <a:prstGeom prst="ellipse">
            <a:avLst/>
          </a:prstGeom>
          <a:solidFill>
            <a:srgbClr val="E0512B"/>
          </a:solidFill>
          <a:ln/>
        </p:spPr>
      </p:sp>
      <p:pic>
        <p:nvPicPr>
          <p:cNvPr id="17" name="Image 2" descr="/home/claude/agile/icons/stop.png">    </p:cNvPr>
          <p:cNvPicPr>
            <a:picLocks noChangeAspect="1"/>
          </p:cNvPicPr>
          <p:nvPr/>
        </p:nvPicPr>
        <p:blipFill>
          <a:blip r:embed="rId3"/>
          <a:stretch>
            <a:fillRect/>
          </a:stretch>
        </p:blipFill>
        <p:spPr>
          <a:xfrm>
            <a:off x="1018276" y="4694164"/>
            <a:ext cx="249448" cy="249448"/>
          </a:xfrm>
          <a:prstGeom prst="rect">
            <a:avLst/>
          </a:prstGeom>
        </p:spPr>
      </p:pic>
      <p:sp>
        <p:nvSpPr>
          <p:cNvPr id="18" name="Text 13"/>
          <p:cNvSpPr/>
          <p:nvPr/>
        </p:nvSpPr>
        <p:spPr>
          <a:xfrm>
            <a:off x="1572768" y="4517136"/>
            <a:ext cx="4233672" cy="603504"/>
          </a:xfrm>
          <a:prstGeom prst="rect">
            <a:avLst/>
          </a:prstGeom>
          <a:noFill/>
          <a:ln/>
        </p:spPr>
        <p:txBody>
          <a:bodyPr wrap="square" lIns="0" tIns="0" rIns="0" bIns="0" rtlCol="0" anchor="ctr"/>
          <a:lstStyle/>
          <a:p>
            <a:pPr indent="0" marL="0">
              <a:buNone/>
            </a:pPr>
            <a:r>
              <a:rPr lang="en-US" sz="1650" b="1" dirty="0">
                <a:solidFill>
                  <a:srgbClr val="121D24"/>
                </a:solidFill>
                <a:latin typeface="Calibri" pitchFamily="34" charset="0"/>
                <a:ea typeface="Calibri" pitchFamily="34" charset="-122"/>
                <a:cs typeface="Calibri" pitchFamily="34" charset="-120"/>
              </a:rPr>
              <a:t>Genuinely well-understood work</a:t>
            </a:r>
            <a:endParaRPr lang="en-US" sz="1650" dirty="0"/>
          </a:p>
        </p:txBody>
      </p:sp>
      <p:sp>
        <p:nvSpPr>
          <p:cNvPr id="19" name="Text 14"/>
          <p:cNvSpPr/>
          <p:nvPr/>
        </p:nvSpPr>
        <p:spPr>
          <a:xfrm>
            <a:off x="859536" y="5212080"/>
            <a:ext cx="4946904" cy="694944"/>
          </a:xfrm>
          <a:prstGeom prst="rect">
            <a:avLst/>
          </a:prstGeom>
          <a:noFill/>
          <a:ln/>
        </p:spPr>
        <p:txBody>
          <a:bodyPr wrap="square" lIns="0" tIns="0" rIns="0" bIns="0" rtlCol="0" anchor="ctr"/>
          <a:lstStyle/>
          <a:p>
            <a:pPr indent="0" marL="0">
              <a:lnSpc>
                <a:spcPts val="1700"/>
              </a:lnSpc>
              <a:buNone/>
            </a:pPr>
            <a:r>
              <a:rPr lang="en-US" sz="1250" dirty="0">
                <a:solidFill>
                  <a:srgbClr val="4E5D62"/>
                </a:solidFill>
                <a:latin typeface="Calibri" pitchFamily="34" charset="0"/>
                <a:ea typeface="Calibri" pitchFamily="34" charset="-122"/>
                <a:cs typeface="Calibri" pitchFamily="34" charset="-120"/>
              </a:rPr>
              <a:t>A straightforward migration with a known destination does not need iterative discovery. It needs a plan and execution.</a:t>
            </a:r>
            <a:endParaRPr lang="en-US" sz="1250" dirty="0"/>
          </a:p>
        </p:txBody>
      </p:sp>
      <p:sp>
        <p:nvSpPr>
          <p:cNvPr id="20" name="Shape 15"/>
          <p:cNvSpPr/>
          <p:nvPr/>
        </p:nvSpPr>
        <p:spPr>
          <a:xfrm>
            <a:off x="6419088" y="4242816"/>
            <a:ext cx="5532120" cy="1773936"/>
          </a:xfrm>
          <a:prstGeom prst="roundRect">
            <a:avLst>
              <a:gd name="adj" fmla="val 5670"/>
            </a:avLst>
          </a:prstGeom>
          <a:solidFill>
            <a:srgbClr val="EDF1F0"/>
          </a:solidFill>
          <a:ln/>
          <a:effectLst>
            <a:outerShdw sx="100000" sy="100000" kx="0" ky="0" algn="bl" rotWithShape="0" blurRad="127000" dist="38100" dir="5400000">
              <a:srgbClr val="0B1418">
                <a:alpha val="13000"/>
              </a:srgbClr>
            </a:outerShdw>
          </a:effectLst>
        </p:spPr>
      </p:sp>
      <p:sp>
        <p:nvSpPr>
          <p:cNvPr id="21" name="Shape 16"/>
          <p:cNvSpPr/>
          <p:nvPr/>
        </p:nvSpPr>
        <p:spPr>
          <a:xfrm>
            <a:off x="6711696" y="4535424"/>
            <a:ext cx="566928" cy="566928"/>
          </a:xfrm>
          <a:prstGeom prst="ellipse">
            <a:avLst/>
          </a:prstGeom>
          <a:solidFill>
            <a:srgbClr val="E0512B"/>
          </a:solidFill>
          <a:ln/>
        </p:spPr>
      </p:sp>
      <p:pic>
        <p:nvPicPr>
          <p:cNvPr id="22" name="Image 3" descr="/home/claude/agile/icons/stop.png">    </p:cNvPr>
          <p:cNvPicPr>
            <a:picLocks noChangeAspect="1"/>
          </p:cNvPicPr>
          <p:nvPr/>
        </p:nvPicPr>
        <p:blipFill>
          <a:blip r:embed="rId4"/>
          <a:stretch>
            <a:fillRect/>
          </a:stretch>
        </p:blipFill>
        <p:spPr>
          <a:xfrm>
            <a:off x="6870436" y="4694164"/>
            <a:ext cx="249448" cy="249448"/>
          </a:xfrm>
          <a:prstGeom prst="rect">
            <a:avLst/>
          </a:prstGeom>
        </p:spPr>
      </p:pic>
      <p:sp>
        <p:nvSpPr>
          <p:cNvPr id="23" name="Text 17"/>
          <p:cNvSpPr/>
          <p:nvPr/>
        </p:nvSpPr>
        <p:spPr>
          <a:xfrm>
            <a:off x="7424928" y="4517136"/>
            <a:ext cx="4233672" cy="603504"/>
          </a:xfrm>
          <a:prstGeom prst="rect">
            <a:avLst/>
          </a:prstGeom>
          <a:noFill/>
          <a:ln/>
        </p:spPr>
        <p:txBody>
          <a:bodyPr wrap="square" lIns="0" tIns="0" rIns="0" bIns="0" rtlCol="0" anchor="ctr"/>
          <a:lstStyle/>
          <a:p>
            <a:pPr indent="0" marL="0">
              <a:buNone/>
            </a:pPr>
            <a:r>
              <a:rPr lang="en-US" sz="1650" b="1" dirty="0">
                <a:solidFill>
                  <a:srgbClr val="121D24"/>
                </a:solidFill>
                <a:latin typeface="Calibri" pitchFamily="34" charset="0"/>
                <a:ea typeface="Calibri" pitchFamily="34" charset="-122"/>
                <a:cs typeface="Calibri" pitchFamily="34" charset="-120"/>
              </a:rPr>
              <a:t>Solo or two-person projects</a:t>
            </a:r>
            <a:endParaRPr lang="en-US" sz="1650" dirty="0"/>
          </a:p>
        </p:txBody>
      </p:sp>
      <p:sp>
        <p:nvSpPr>
          <p:cNvPr id="24" name="Text 18"/>
          <p:cNvSpPr/>
          <p:nvPr/>
        </p:nvSpPr>
        <p:spPr>
          <a:xfrm>
            <a:off x="6711696" y="5212080"/>
            <a:ext cx="4946904" cy="694944"/>
          </a:xfrm>
          <a:prstGeom prst="rect">
            <a:avLst/>
          </a:prstGeom>
          <a:noFill/>
          <a:ln/>
        </p:spPr>
        <p:txBody>
          <a:bodyPr wrap="square" lIns="0" tIns="0" rIns="0" bIns="0" rtlCol="0" anchor="ctr"/>
          <a:lstStyle/>
          <a:p>
            <a:pPr indent="0" marL="0">
              <a:lnSpc>
                <a:spcPts val="1700"/>
              </a:lnSpc>
              <a:buNone/>
            </a:pPr>
            <a:r>
              <a:rPr lang="en-US" sz="1250" dirty="0">
                <a:solidFill>
                  <a:srgbClr val="4E5D62"/>
                </a:solidFill>
                <a:latin typeface="Calibri" pitchFamily="34" charset="0"/>
                <a:ea typeface="Calibri" pitchFamily="34" charset="-122"/>
                <a:cs typeface="Calibri" pitchFamily="34" charset="-120"/>
              </a:rPr>
              <a:t>Most of the ceremony is coordination overhead for coordination you do not have.</a:t>
            </a:r>
            <a:endParaRPr lang="en-US" sz="1250" dirty="0"/>
          </a:p>
        </p:txBody>
      </p:sp>
      <p:sp>
        <p:nvSpPr>
          <p:cNvPr id="25" name="Text 19"/>
          <p:cNvSpPr/>
          <p:nvPr/>
        </p:nvSpPr>
        <p:spPr>
          <a:xfrm>
            <a:off x="566928" y="6108192"/>
            <a:ext cx="11057839" cy="438912"/>
          </a:xfrm>
          <a:prstGeom prst="rect">
            <a:avLst/>
          </a:prstGeom>
          <a:noFill/>
          <a:ln/>
        </p:spPr>
        <p:txBody>
          <a:bodyPr wrap="square" lIns="0" tIns="0" rIns="0" bIns="0" rtlCol="0" anchor="ctr"/>
          <a:lstStyle/>
          <a:p>
            <a:pPr indent="0" marL="0">
              <a:lnSpc>
                <a:spcPts val="1500"/>
              </a:lnSpc>
              <a:buNone/>
            </a:pPr>
            <a:r>
              <a:rPr lang="en-US" sz="1050" dirty="0">
                <a:solidFill>
                  <a:srgbClr val="6B7A7F"/>
                </a:solidFill>
                <a:latin typeface="Courier New" pitchFamily="34" charset="0"/>
                <a:ea typeface="Courier New" pitchFamily="34" charset="-122"/>
                <a:cs typeface="Courier New" pitchFamily="34" charset="-120"/>
              </a:rPr>
              <a:t>Scaling frameworks (SAFe, LeSS, Nexus) solve coordination. If the real problem is ownership or architecture, no framework fixes it.</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21D24"/>
        </a:solidFill>
      </p:bgPr>
    </p:bg>
    <p:spTree>
      <p:nvGrpSpPr>
        <p:cNvPr id="1" name=""/>
        <p:cNvGrpSpPr/>
        <p:nvPr/>
      </p:nvGrpSpPr>
      <p:grpSpPr>
        <a:xfrm>
          <a:off x="0" y="0"/>
          <a:ext cx="0" cy="0"/>
          <a:chOff x="0" y="0"/>
          <a:chExt cx="0" cy="0"/>
        </a:xfrm>
      </p:grpSpPr>
      <p:sp>
        <p:nvSpPr>
          <p:cNvPr id="2" name="Shape 0"/>
          <p:cNvSpPr/>
          <p:nvPr/>
        </p:nvSpPr>
        <p:spPr>
          <a:xfrm>
            <a:off x="-2194560" y="3291840"/>
            <a:ext cx="6583680" cy="6583680"/>
          </a:xfrm>
          <a:prstGeom prst="ellipse">
            <a:avLst/>
          </a:prstGeom>
          <a:solidFill>
            <a:srgbClr val="1C2E38"/>
          </a:solidFill>
          <a:ln/>
        </p:spPr>
      </p:sp>
      <p:sp>
        <p:nvSpPr>
          <p:cNvPr id="3" name="Text 1"/>
          <p:cNvSpPr/>
          <p:nvPr/>
        </p:nvSpPr>
        <p:spPr>
          <a:xfrm>
            <a:off x="566928" y="1371600"/>
            <a:ext cx="8229600" cy="256032"/>
          </a:xfrm>
          <a:prstGeom prst="rect">
            <a:avLst/>
          </a:prstGeom>
          <a:noFill/>
          <a:ln/>
        </p:spPr>
        <p:txBody>
          <a:bodyPr wrap="square" lIns="0" tIns="0" rIns="0" bIns="0" rtlCol="0" anchor="ctr"/>
          <a:lstStyle/>
          <a:p>
            <a:pPr indent="0" marL="0">
              <a:buNone/>
            </a:pPr>
            <a:r>
              <a:rPr lang="en-US" sz="1100" b="1" spc="220" kern="0" dirty="0">
                <a:solidFill>
                  <a:srgbClr val="F0B429"/>
                </a:solidFill>
                <a:latin typeface="Courier New" pitchFamily="34" charset="0"/>
                <a:ea typeface="Courier New" pitchFamily="34" charset="-122"/>
                <a:cs typeface="Courier New" pitchFamily="34" charset="-120"/>
              </a:rPr>
              <a:t>IN ONE SENTENCE</a:t>
            </a:r>
            <a:endParaRPr lang="en-US" sz="1100" dirty="0"/>
          </a:p>
        </p:txBody>
      </p:sp>
      <p:sp>
        <p:nvSpPr>
          <p:cNvPr id="4" name="Text 2"/>
          <p:cNvSpPr/>
          <p:nvPr/>
        </p:nvSpPr>
        <p:spPr>
          <a:xfrm>
            <a:off x="566928" y="1792224"/>
            <a:ext cx="10424160" cy="1828800"/>
          </a:xfrm>
          <a:prstGeom prst="rect">
            <a:avLst/>
          </a:prstGeom>
          <a:noFill/>
          <a:ln/>
        </p:spPr>
        <p:txBody>
          <a:bodyPr wrap="square" lIns="0" tIns="0" rIns="0" bIns="0" rtlCol="0" anchor="ctr"/>
          <a:lstStyle/>
          <a:p>
            <a:pPr indent="0" marL="0">
              <a:lnSpc>
                <a:spcPts val="4600"/>
              </a:lnSpc>
              <a:buNone/>
            </a:pPr>
            <a:r>
              <a:rPr lang="en-US" sz="3600" b="1" dirty="0">
                <a:solidFill>
                  <a:srgbClr val="FFFFFF"/>
                </a:solidFill>
                <a:latin typeface="Calibri" pitchFamily="34" charset="0"/>
                <a:ea typeface="Calibri" pitchFamily="34" charset="-122"/>
                <a:cs typeface="Calibri" pitchFamily="34" charset="-120"/>
              </a:rPr>
              <a:t>Ship small slices of working software frequently, show them to real users, and let what you learn reorder what you build next.</a:t>
            </a:r>
            <a:endParaRPr lang="en-US" sz="3600" dirty="0"/>
          </a:p>
        </p:txBody>
      </p:sp>
      <p:sp>
        <p:nvSpPr>
          <p:cNvPr id="5" name="Shape 3"/>
          <p:cNvSpPr/>
          <p:nvPr/>
        </p:nvSpPr>
        <p:spPr>
          <a:xfrm>
            <a:off x="566928" y="4023360"/>
            <a:ext cx="5358384" cy="1737360"/>
          </a:xfrm>
          <a:prstGeom prst="roundRect">
            <a:avLst>
              <a:gd name="adj" fmla="val 6316"/>
            </a:avLst>
          </a:prstGeom>
          <a:solidFill>
            <a:srgbClr val="E0512B"/>
          </a:solidFill>
          <a:ln/>
        </p:spPr>
      </p:sp>
      <p:sp>
        <p:nvSpPr>
          <p:cNvPr id="6" name="Text 4"/>
          <p:cNvSpPr/>
          <p:nvPr/>
        </p:nvSpPr>
        <p:spPr>
          <a:xfrm>
            <a:off x="877824" y="4261104"/>
            <a:ext cx="4754880" cy="310896"/>
          </a:xfrm>
          <a:prstGeom prst="rect">
            <a:avLst/>
          </a:prstGeom>
          <a:noFill/>
          <a:ln/>
        </p:spPr>
        <p:txBody>
          <a:bodyPr wrap="square" lIns="0" tIns="0" rIns="0" bIns="0" rtlCol="0" anchor="ctr"/>
          <a:lstStyle/>
          <a:p>
            <a:pPr indent="0" marL="0">
              <a:buNone/>
            </a:pPr>
            <a:r>
              <a:rPr lang="en-US" sz="1100" b="1" spc="160" kern="0" dirty="0">
                <a:solidFill>
                  <a:srgbClr val="FFD9CD"/>
                </a:solidFill>
                <a:latin typeface="Courier New" pitchFamily="34" charset="0"/>
                <a:ea typeface="Courier New" pitchFamily="34" charset="-122"/>
                <a:cs typeface="Courier New" pitchFamily="34" charset="-120"/>
              </a:rPr>
              <a:t>What most teams get wrong</a:t>
            </a:r>
            <a:endParaRPr lang="en-US" sz="1100" dirty="0"/>
          </a:p>
        </p:txBody>
      </p:sp>
      <p:sp>
        <p:nvSpPr>
          <p:cNvPr id="7" name="Text 5"/>
          <p:cNvSpPr/>
          <p:nvPr/>
        </p:nvSpPr>
        <p:spPr>
          <a:xfrm>
            <a:off x="877824" y="4626864"/>
            <a:ext cx="4754880" cy="91440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They adopt the ceremonies and skip the engineering practices, then wonder why iterating still hurts.</a:t>
            </a:r>
            <a:endParaRPr lang="en-US" sz="1600" dirty="0"/>
          </a:p>
        </p:txBody>
      </p:sp>
      <p:sp>
        <p:nvSpPr>
          <p:cNvPr id="8" name="Shape 6"/>
          <p:cNvSpPr/>
          <p:nvPr/>
        </p:nvSpPr>
        <p:spPr>
          <a:xfrm>
            <a:off x="6281928" y="4023360"/>
            <a:ext cx="5358384" cy="1737360"/>
          </a:xfrm>
          <a:prstGeom prst="roundRect">
            <a:avLst>
              <a:gd name="adj" fmla="val 6316"/>
            </a:avLst>
          </a:prstGeom>
          <a:solidFill>
            <a:srgbClr val="1C2E38"/>
          </a:solidFill>
          <a:ln/>
        </p:spPr>
      </p:sp>
      <p:sp>
        <p:nvSpPr>
          <p:cNvPr id="9" name="Text 7"/>
          <p:cNvSpPr/>
          <p:nvPr/>
        </p:nvSpPr>
        <p:spPr>
          <a:xfrm>
            <a:off x="6592824" y="4261104"/>
            <a:ext cx="4754880" cy="310896"/>
          </a:xfrm>
          <a:prstGeom prst="rect">
            <a:avLst/>
          </a:prstGeom>
          <a:noFill/>
          <a:ln/>
        </p:spPr>
        <p:txBody>
          <a:bodyPr wrap="square" lIns="0" tIns="0" rIns="0" bIns="0" rtlCol="0" anchor="ctr"/>
          <a:lstStyle/>
          <a:p>
            <a:pPr indent="0" marL="0">
              <a:buNone/>
            </a:pPr>
            <a:r>
              <a:rPr lang="en-US" sz="1100" b="1" spc="160" kern="0" dirty="0">
                <a:solidFill>
                  <a:srgbClr val="2A8C7A"/>
                </a:solidFill>
                <a:latin typeface="Courier New" pitchFamily="34" charset="0"/>
                <a:ea typeface="Courier New" pitchFamily="34" charset="-122"/>
                <a:cs typeface="Courier New" pitchFamily="34" charset="-120"/>
              </a:rPr>
              <a:t>What to do on Monday</a:t>
            </a:r>
            <a:endParaRPr lang="en-US" sz="1100" dirty="0"/>
          </a:p>
        </p:txBody>
      </p:sp>
      <p:sp>
        <p:nvSpPr>
          <p:cNvPr id="10" name="Text 8"/>
          <p:cNvSpPr/>
          <p:nvPr/>
        </p:nvSpPr>
        <p:spPr>
          <a:xfrm>
            <a:off x="6592824" y="4626864"/>
            <a:ext cx="4754880" cy="914400"/>
          </a:xfrm>
          <a:prstGeom prst="rect">
            <a:avLst/>
          </a:prstGeom>
          <a:noFill/>
          <a:ln/>
        </p:spPr>
        <p:txBody>
          <a:bodyPr wrap="square" lIns="0" tIns="0" rIns="0" bIns="0" rtlCol="0" anchor="ctr"/>
          <a:lstStyle/>
          <a:p>
            <a:pPr indent="0" marL="0">
              <a:lnSpc>
                <a:spcPts val="2000"/>
              </a:lnSpc>
              <a:buNone/>
            </a:pPr>
            <a:r>
              <a:rPr lang="en-US" sz="1400" dirty="0">
                <a:solidFill>
                  <a:srgbClr val="B9C7CB"/>
                </a:solidFill>
                <a:latin typeface="Calibri" pitchFamily="34" charset="0"/>
                <a:ea typeface="Calibri" pitchFamily="34" charset="-122"/>
                <a:cs typeface="Calibri" pitchFamily="34" charset="-120"/>
              </a:rPr>
              <a:t>Pick one loop and shorten it. Cut WIP, or write acceptance criteria before work starts, or make the retro produce one owned action. One change, measured.</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Agile — Project Management for Software Development</dc:title>
  <dc:subject>PptxGenJS Presentation</dc:subject>
  <dc:creator>Agile Explained</dc:creator>
  <cp:lastModifiedBy>Agile Explained</cp:lastModifiedBy>
  <cp:revision>1</cp:revision>
  <dcterms:created xsi:type="dcterms:W3CDTF">2026-07-27T06:22:59Z</dcterms:created>
  <dcterms:modified xsi:type="dcterms:W3CDTF">2026-07-27T06:22:59Z</dcterms:modified>
</cp:coreProperties>
</file>